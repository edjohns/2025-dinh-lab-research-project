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4"/>
  </p:notesMasterIdLst>
  <p:sldIdLst>
    <p:sldId id="264" r:id="rId2"/>
    <p:sldId id="329" r:id="rId3"/>
    <p:sldId id="325" r:id="rId4"/>
    <p:sldId id="324" r:id="rId5"/>
    <p:sldId id="327" r:id="rId6"/>
    <p:sldId id="335" r:id="rId7"/>
    <p:sldId id="326" r:id="rId8"/>
    <p:sldId id="336" r:id="rId9"/>
    <p:sldId id="337" r:id="rId10"/>
    <p:sldId id="315" r:id="rId11"/>
    <p:sldId id="334" r:id="rId12"/>
    <p:sldId id="331" r:id="rId13"/>
    <p:sldId id="338" r:id="rId14"/>
    <p:sldId id="339" r:id="rId15"/>
    <p:sldId id="340" r:id="rId16"/>
    <p:sldId id="341" r:id="rId17"/>
    <p:sldId id="267" r:id="rId18"/>
    <p:sldId id="305" r:id="rId19"/>
    <p:sldId id="307" r:id="rId20"/>
    <p:sldId id="313" r:id="rId21"/>
    <p:sldId id="319" r:id="rId22"/>
    <p:sldId id="328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0979"/>
    <p:restoredTop sz="96327"/>
  </p:normalViewPr>
  <p:slideViewPr>
    <p:cSldViewPr snapToGrid="0" snapToObjects="1">
      <p:cViewPr varScale="1">
        <p:scale>
          <a:sx n="75" d="100"/>
          <a:sy n="75" d="100"/>
        </p:scale>
        <p:origin x="45" y="23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7/18/2025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0512B-0112-FAF3-E645-F74F598D1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75FACE-5D73-9AC3-C1F2-53B2DF6F97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2AA922-517D-C770-7B63-7CFE73CB08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D97E1-69EB-D14B-167C-0ED4B8799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637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A158E-8E42-58D2-F0FA-0FF2AACB8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BE1AD9-0512-92C8-E845-CAEF7F3332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9C1D5D-52A1-6983-525F-2994C87F2C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356E1A-9B12-5C8D-F5C2-228C5B08C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0439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E0672-B926-67E2-B79F-F7BE0D85E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4A31FC-17D4-0BD8-0F72-48F48A54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01C35-81B3-F28E-DA14-841AC0A57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C51DF-3799-390A-A646-516E786C5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9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99A8E-A636-3D62-D339-6ADDDE365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39610-3E58-2468-D590-DF11DA8054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290208-EF52-2EDA-2C2E-697799A466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D10781-C90E-3E8B-5D15-AE2AFA8470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101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43CD2-E09A-C8FB-514C-9F53FD902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9935F-66AD-1145-3A8E-02F06949B9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5C332-1B91-8AB0-B873-9BC73FBAB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4445B-F050-66EF-BBC5-C168529DEF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38714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FF4AF-4432-26A5-D4A5-6A0E795F1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E1A423-856E-AB20-EBEA-CE82075123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0465A-6A4E-F4B0-8CD5-7C63BCAFD1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AEC52-58F7-A0DA-56FE-8B9514AAF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5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4C776-8729-C07F-EDDD-A3A0B8540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609906-811D-1671-6216-B3B070A39D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0496A-02BF-D8A7-518A-1C2DBFAA2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54BACE-894C-7BD6-AAD8-D0D2317CDD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6480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6227C-5634-F4D8-8D46-73654EEF4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1EB7D-F2C0-215D-FC59-9DBBC0258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002F3E-E740-3B20-C0F5-304DBFDE4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B56816-59B8-A3A3-A92E-E916FCAFB4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3773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7B159-7F20-609B-ED74-E7261CB6F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F6786-CD0D-3D72-6B6F-2853FC184D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8D453-3164-33DC-2509-D1C6C5BA11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78D8E-9FE0-3ED0-0520-A25D1861C6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0768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9411B-3D18-68DB-9B29-893526086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03CE1-E66D-4AF8-2B5A-E667A54B3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93218B-0B3E-CA09-370C-620D81E57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B2E4A9-CB99-6CBB-48FA-915DA3EBB1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6834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EF71C-F1E8-AAC9-D291-383CD90E5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79010-4A45-BA14-C1E6-1568F5FD49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EEF82-1566-8222-A819-A12058EBB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31347-E9D4-9CAE-8E00-8833D9F21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697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1A576-C9AD-5BD7-5B4C-B6CC48B18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2D2D51-08EC-5D30-25EB-EB29C4730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CA6D96-8091-8DC1-CB1D-74C6C20055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8F23CD-E2F2-0F8D-DC8F-873298011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3831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42DED-C487-1A08-529B-6ED30545B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C63F58-B2A6-1F81-643F-FC28872A0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1F4BDA-3E97-F193-961D-B51C7567F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D4DD87-3BB1-BC6D-B683-35E0FB05B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2636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49DD5-663A-F7ED-9792-005A6AB9C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616D43-2DB8-AF85-365F-479659FE0A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D32E30-81B3-DB03-7BA1-DF694DA500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4EE1-6F4E-D006-7807-3D82E8FED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283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2B0D8-1889-7272-401E-B606A59D8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618E5C-6250-B3BD-A6F0-D33D0EB9F8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7DD196-3F35-B8B6-7E77-34C315C24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E0741-40D8-A4B0-C68C-781426F10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426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1686F-E970-0B33-E9F9-71EF40BC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71EDB-769D-B1C6-5F42-7E358D1F1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85FBF-7E59-985C-AD05-2BEE4569D7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9DF43-4C63-FA37-5B70-556A1B857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47657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8934F-8883-D06F-6E94-1065935A3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6FFA1-2FFA-08AE-B58B-64206FD52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F4960-5C5C-8261-B173-07BC64A55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57175A-3042-6A8E-A312-9FA580141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3991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638A19-315C-08DF-7FA2-8FCEAB0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1B3F32-B395-1B82-599A-9D635D03AB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227B11-8D0D-E1A2-0AF6-C00547DD56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609504-8821-037D-19FA-9E2D43568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5998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429FC-0ED6-5861-41D4-78F21D394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3F4957-A095-39D9-4AE0-907354ED5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D3B4E-786D-81F1-BEC5-4E74AD834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0399F-5FFB-CE48-9F3F-F9F372C777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6385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A0EDF-DC4F-F320-E162-C3CC7D9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3483CE-81B6-A9D2-AD8F-73D3E171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DCB627-7CAA-3463-3C33-D8F1BDCE4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A50869-E797-1B6E-B5AD-E89A90B67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8685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7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E17BC-6AAA-D2F4-8481-B51DD3010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C35F0FF-44CC-7B18-9EED-76C1F672B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72F45-84FA-6B01-5FAE-E8B6876BD0A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FBD6E04-3C68-88A1-5B0A-6D13E43F8C06}"/>
              </a:ext>
            </a:extLst>
          </p:cNvPr>
          <p:cNvSpPr/>
          <p:nvPr/>
        </p:nvSpPr>
        <p:spPr>
          <a:xfrm>
            <a:off x="300067" y="1643818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18E405F-0432-4C7A-3514-5886A70614FF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Protein Expression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CD8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Tumor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097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65BE-2EA5-A593-6B0E-36B2681A3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BD32866-0ABF-331A-B3F4-3C3FEFD89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All Cells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11E544-A948-225F-0C7C-AF3AA8858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" y="1769157"/>
            <a:ext cx="4830085" cy="372715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4309CD0-DEA9-26E3-39B9-C2F96D6272B5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33A76-7F22-D75E-A6AB-003DA6B52C7B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4A9E4DF-4E61-DB06-DD38-3B4A77B64F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7638" y="1769157"/>
            <a:ext cx="4830085" cy="369493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35F1C73-A802-1B93-0A70-EB91ABA40759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5.63%, PMN: 4.004%, Tumor: 22.1%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F0C19D-E0C3-E6C5-48C5-C2152DAADE6A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Cell Composition:</a:t>
            </a:r>
          </a:p>
          <a:p>
            <a:pPr algn="ctr"/>
            <a:r>
              <a:rPr lang="en-US" dirty="0"/>
              <a:t>CD8: 6.14%, PMN: 3.19%, Tumor: 18.8%</a:t>
            </a:r>
          </a:p>
        </p:txBody>
      </p:sp>
    </p:spTree>
    <p:extLst>
      <p:ext uri="{BB962C8B-B14F-4D97-AF65-F5344CB8AC3E}">
        <p14:creationId xmlns:p14="http://schemas.microsoft.com/office/powerpoint/2010/main" val="2518597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4B79A-1B1D-4702-6F9F-74E4A874D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F1D16FCC-7399-BA4F-001F-61F8DC446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945B5-0B1C-87CE-2536-5EA373335E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475F2C-3816-2460-0A8B-F48367B519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7550" y="1863779"/>
            <a:ext cx="4563836" cy="3469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38AC1EF-AE4C-1835-873C-7418F371F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759" y="1870199"/>
            <a:ext cx="4460516" cy="346295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34E78AA-B6BE-A5BB-556A-E6BEB450246A}"/>
              </a:ext>
            </a:extLst>
          </p:cNvPr>
          <p:cNvSpPr/>
          <p:nvPr/>
        </p:nvSpPr>
        <p:spPr>
          <a:xfrm>
            <a:off x="1473973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90664-D74A-F923-64B3-C0680B7F37BA}"/>
              </a:ext>
            </a:extLst>
          </p:cNvPr>
          <p:cNvSpPr/>
          <p:nvPr/>
        </p:nvSpPr>
        <p:spPr>
          <a:xfrm>
            <a:off x="6505438" y="139165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C7EA811-B5C6-B11B-8FD5-D3961FE7CE75}"/>
              </a:ext>
            </a:extLst>
          </p:cNvPr>
          <p:cNvSpPr/>
          <p:nvPr/>
        </p:nvSpPr>
        <p:spPr>
          <a:xfrm>
            <a:off x="586736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PMN-CD8: 2.78%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-2.86%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7363E7-9078-2071-D29E-02627D44F1F8}"/>
              </a:ext>
            </a:extLst>
          </p:cNvPr>
          <p:cNvSpPr/>
          <p:nvPr/>
        </p:nvSpPr>
        <p:spPr>
          <a:xfrm>
            <a:off x="5691149" y="5496309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radial: 7.017%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0.87%</a:t>
            </a:r>
          </a:p>
        </p:txBody>
      </p:sp>
    </p:spTree>
    <p:extLst>
      <p:ext uri="{BB962C8B-B14F-4D97-AF65-F5344CB8AC3E}">
        <p14:creationId xmlns:p14="http://schemas.microsoft.com/office/powerpoint/2010/main" val="1866651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4F39F-8B11-D224-201F-BF7D2A344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A724683-EFC6-170B-65C5-71853AC53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002F39E-FEE8-8894-A49B-3EF647DD5068}"/>
              </a:ext>
            </a:extLst>
          </p:cNvPr>
          <p:cNvSpPr/>
          <p:nvPr/>
        </p:nvSpPr>
        <p:spPr>
          <a:xfrm>
            <a:off x="2083128" y="832797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463D11-93D1-0D84-C352-20B59BDE9F51}"/>
              </a:ext>
            </a:extLst>
          </p:cNvPr>
          <p:cNvSpPr/>
          <p:nvPr/>
        </p:nvSpPr>
        <p:spPr>
          <a:xfrm>
            <a:off x="6771693" y="854596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B6026E5-C6CA-A870-6927-428B3FFB7B21}"/>
              </a:ext>
            </a:extLst>
          </p:cNvPr>
          <p:cNvSpPr/>
          <p:nvPr/>
        </p:nvSpPr>
        <p:spPr>
          <a:xfrm rot="16200000">
            <a:off x="-268236" y="2717313"/>
            <a:ext cx="1773532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 Neighbors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9FCF9E3-FBF1-F89D-1F9D-22318B9BC848}"/>
              </a:ext>
            </a:extLst>
          </p:cNvPr>
          <p:cNvSpPr/>
          <p:nvPr/>
        </p:nvSpPr>
        <p:spPr>
          <a:xfrm rot="16200000">
            <a:off x="-240813" y="5181114"/>
            <a:ext cx="177353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Overall Cell Freq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0706160-A9E7-8B31-6428-4197DACC9A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7672" y="1297353"/>
            <a:ext cx="2704327" cy="25581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71CBF37-F026-7190-30DC-B4B5F97A5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7646" y="3877299"/>
            <a:ext cx="2704326" cy="264769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B2A1EC3-3785-5997-BE54-580305C1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0783" y="1340951"/>
            <a:ext cx="2704326" cy="269957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AB58AEA-358C-60EB-F146-43815C582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6318" y="4020078"/>
            <a:ext cx="2568791" cy="2850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611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C7D13-3B1D-B361-F069-19250E159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A61AC0-CEBB-06A7-44AB-3683D2226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DDE80-8BCB-6FC7-C449-D64C13FE730E}"/>
              </a:ext>
            </a:extLst>
          </p:cNvPr>
          <p:cNvSpPr/>
          <p:nvPr/>
        </p:nvSpPr>
        <p:spPr>
          <a:xfrm>
            <a:off x="2190333" y="1387743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C6B53A-1154-EBBF-D2B4-B853FDAA5C22}"/>
              </a:ext>
            </a:extLst>
          </p:cNvPr>
          <p:cNvSpPr/>
          <p:nvPr/>
        </p:nvSpPr>
        <p:spPr>
          <a:xfrm>
            <a:off x="6878898" y="140954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051B7-340D-D628-BFF6-9A35E6162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4742" y="2193224"/>
            <a:ext cx="3684931" cy="313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D9BE73-35A3-06D4-9717-72B84B9FED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171" y="2175642"/>
            <a:ext cx="3684932" cy="3064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8509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4E10B-14D1-909D-40FA-BEB28403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B96748A-BBB9-0982-91FD-6DBC7228B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1300" y="-67214"/>
            <a:ext cx="11169650" cy="987963"/>
          </a:xfrm>
        </p:spPr>
        <p:txBody>
          <a:bodyPr/>
          <a:lstStyle/>
          <a:p>
            <a:r>
              <a:rPr lang="en-US" dirty="0"/>
              <a:t>NR vs R example CD8-PMN Colocalization – PMN/Tumor Only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22719-C35D-A96B-9B11-37A670365E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A9E283-414E-6137-D1A2-17B75A990D18}"/>
              </a:ext>
            </a:extLst>
          </p:cNvPr>
          <p:cNvSpPr/>
          <p:nvPr/>
        </p:nvSpPr>
        <p:spPr>
          <a:xfrm>
            <a:off x="1473972" y="1213097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F66E129-7E06-EF24-D3BD-473C4901B888}"/>
              </a:ext>
            </a:extLst>
          </p:cNvPr>
          <p:cNvSpPr/>
          <p:nvPr/>
        </p:nvSpPr>
        <p:spPr>
          <a:xfrm>
            <a:off x="6205217" y="1141560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6AACE24-DB4E-1A17-3A26-955A7492D74D}"/>
              </a:ext>
            </a:extLst>
          </p:cNvPr>
          <p:cNvSpPr/>
          <p:nvPr/>
        </p:nvSpPr>
        <p:spPr>
          <a:xfrm>
            <a:off x="586736" y="5189435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PMN-Tumor: 25.5% 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3.3%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9B7C879-6BA9-8561-1DE8-9889EB441C9D}"/>
              </a:ext>
            </a:extLst>
          </p:cNvPr>
          <p:cNvSpPr/>
          <p:nvPr/>
        </p:nvSpPr>
        <p:spPr>
          <a:xfrm>
            <a:off x="5701574" y="5252025"/>
            <a:ext cx="4047889" cy="93670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Colocalization:</a:t>
            </a:r>
          </a:p>
          <a:p>
            <a:pPr algn="ctr"/>
            <a:r>
              <a:rPr lang="en-US" dirty="0"/>
              <a:t>15-micron radial PMN-Tumor: 23.3%</a:t>
            </a:r>
          </a:p>
          <a:p>
            <a:pPr algn="ctr"/>
            <a:r>
              <a:rPr lang="en-US" dirty="0"/>
              <a:t>Delta (%</a:t>
            </a:r>
            <a:r>
              <a:rPr lang="en-US" dirty="0" err="1"/>
              <a:t>Neighboors</a:t>
            </a:r>
            <a:r>
              <a:rPr lang="en-US" dirty="0"/>
              <a:t> - %Overall): 4.4%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3C1E9A-3360-51A4-136E-F1926A9E56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30" y="1658644"/>
            <a:ext cx="4460516" cy="345380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2946532-C250-FCA3-816E-A8324D9F1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1574" y="1590602"/>
            <a:ext cx="4566728" cy="352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163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C3FC0-D2C3-7AB2-2BE1-F344F50C6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C6D38CC-DE4D-3956-FCEA-043044C6C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8" y="228681"/>
            <a:ext cx="10896600" cy="517065"/>
          </a:xfrm>
        </p:spPr>
        <p:txBody>
          <a:bodyPr/>
          <a:lstStyle/>
          <a:p>
            <a:r>
              <a:rPr lang="en-US" dirty="0"/>
              <a:t>NR vs R example CD8-PMN Colocalization – CD8/PMN Only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6E50EF-9711-3CE2-C211-00A54DE207CB}"/>
              </a:ext>
            </a:extLst>
          </p:cNvPr>
          <p:cNvSpPr/>
          <p:nvPr/>
        </p:nvSpPr>
        <p:spPr>
          <a:xfrm>
            <a:off x="2190333" y="1387743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Responder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AE8E6B-0A84-DCBB-A1AB-B1046B8B82F5}"/>
              </a:ext>
            </a:extLst>
          </p:cNvPr>
          <p:cNvSpPr/>
          <p:nvPr/>
        </p:nvSpPr>
        <p:spPr>
          <a:xfrm>
            <a:off x="6878898" y="1409542"/>
            <a:ext cx="2273416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Non-Responder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A57AEE2-2F72-699D-3DF6-882C243A2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672" y="2156722"/>
            <a:ext cx="3462121" cy="33655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24F57C-17AF-4DB8-22CD-BF2A88373C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2574" y="2098423"/>
            <a:ext cx="3918257" cy="3350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524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B1948-B4D9-45DA-7E53-3355E72FB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070373-D74F-16B8-1989-EFF63C65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53364-F08B-CFED-2A71-D796E1B5C56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1E099A1-CD52-1819-E944-66128C286CFB}"/>
              </a:ext>
            </a:extLst>
          </p:cNvPr>
          <p:cNvSpPr/>
          <p:nvPr/>
        </p:nvSpPr>
        <p:spPr>
          <a:xfrm>
            <a:off x="242402" y="2838304"/>
            <a:ext cx="6767611" cy="393087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7286E04-E2A7-C7C5-B392-9B5203710B7B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Protein Expression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CD8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Tumor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11893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39934-7DAA-A7BC-A33C-F716860A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FA1-B69F-64C4-BC23-CCDD1DF35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BF37D0-905D-42E7-2BB8-E0F830B13B3C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17E5FED-2A8A-14E2-6742-870503273646}"/>
              </a:ext>
            </a:extLst>
          </p:cNvPr>
          <p:cNvSpPr/>
          <p:nvPr/>
        </p:nvSpPr>
        <p:spPr>
          <a:xfrm>
            <a:off x="4748733" y="2522465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PMN&gt;0.5% n=50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227FFF-A3F1-874D-823E-3ED977C6B2DB}"/>
              </a:ext>
            </a:extLst>
          </p:cNvPr>
          <p:cNvSpPr/>
          <p:nvPr/>
        </p:nvSpPr>
        <p:spPr>
          <a:xfrm>
            <a:off x="839936" y="2522465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PMN&gt;0.1% n=66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FE458B-A89A-2AD4-35D6-5DA7B34B2603}"/>
              </a:ext>
            </a:extLst>
          </p:cNvPr>
          <p:cNvSpPr/>
          <p:nvPr/>
        </p:nvSpPr>
        <p:spPr>
          <a:xfrm>
            <a:off x="8871941" y="2509835"/>
            <a:ext cx="1924285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PMN&gt;1% n=34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1DB45A-6C42-F566-AF2C-A42631E01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72933"/>
            <a:ext cx="3638681" cy="328396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2ACDAE-2DAD-520D-E62E-148975C477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8144" y="2875258"/>
            <a:ext cx="3595073" cy="314084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4250C38-5F7E-9B45-DF35-CB3FA8F4A6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8880" y="2907635"/>
            <a:ext cx="3526143" cy="308401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A0F9EF9-883D-2BDA-FB91-EC99B21A3275}"/>
              </a:ext>
            </a:extLst>
          </p:cNvPr>
          <p:cNvSpPr/>
          <p:nvPr/>
        </p:nvSpPr>
        <p:spPr>
          <a:xfrm>
            <a:off x="8109782" y="3550394"/>
            <a:ext cx="3109041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B6791A0-9FD3-D02C-AB44-9651F3CA388E}"/>
              </a:ext>
            </a:extLst>
          </p:cNvPr>
          <p:cNvSpPr/>
          <p:nvPr/>
        </p:nvSpPr>
        <p:spPr>
          <a:xfrm>
            <a:off x="8185982" y="5511625"/>
            <a:ext cx="3109041" cy="231928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D16694-F912-194F-04DC-32B68722F849}"/>
              </a:ext>
            </a:extLst>
          </p:cNvPr>
          <p:cNvSpPr/>
          <p:nvPr/>
        </p:nvSpPr>
        <p:spPr>
          <a:xfrm>
            <a:off x="8185982" y="5777331"/>
            <a:ext cx="3109041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6283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C9C8A-5410-234E-8594-6B952DA89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6B869-3BFB-04AE-E6F1-689D98A420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32291"/>
            <a:ext cx="10896600" cy="517065"/>
          </a:xfrm>
        </p:spPr>
        <p:txBody>
          <a:bodyPr/>
          <a:lstStyle/>
          <a:p>
            <a:r>
              <a:rPr lang="en-US" dirty="0"/>
              <a:t>Statistical Significance (Two Tailed T Test)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9463645-78A3-41C1-DCF1-D550517DCCF9}"/>
              </a:ext>
            </a:extLst>
          </p:cNvPr>
          <p:cNvSpPr/>
          <p:nvPr/>
        </p:nvSpPr>
        <p:spPr>
          <a:xfrm>
            <a:off x="3228587" y="1911074"/>
            <a:ext cx="4427219" cy="3460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Delta with overall frequency Matrix R vs NR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32B7EB6-561D-687E-07B4-29AE19A13AD3}"/>
              </a:ext>
            </a:extLst>
          </p:cNvPr>
          <p:cNvSpPr/>
          <p:nvPr/>
        </p:nvSpPr>
        <p:spPr>
          <a:xfrm>
            <a:off x="6577533" y="2579220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PMN&gt;3% n=12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68D1DC-240E-CD2C-5327-854B9D32529D}"/>
              </a:ext>
            </a:extLst>
          </p:cNvPr>
          <p:cNvSpPr/>
          <p:nvPr/>
        </p:nvSpPr>
        <p:spPr>
          <a:xfrm>
            <a:off x="2668736" y="2579220"/>
            <a:ext cx="1833896" cy="2919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PMN&gt;2% n=21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FF33DE-4200-B315-4D85-AC982AB45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8528" y="2972353"/>
            <a:ext cx="3659826" cy="325696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0286108-87BD-7D70-80FD-665AE76AF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557" y="2955703"/>
            <a:ext cx="3802703" cy="3289594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3DCC9E8A-0057-F1C0-8387-772BE47638AC}"/>
              </a:ext>
            </a:extLst>
          </p:cNvPr>
          <p:cNvSpPr/>
          <p:nvPr/>
        </p:nvSpPr>
        <p:spPr>
          <a:xfrm>
            <a:off x="1636323" y="5751260"/>
            <a:ext cx="3682031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50D7FF-8FC0-A246-B584-5ACFA20F826A}"/>
              </a:ext>
            </a:extLst>
          </p:cNvPr>
          <p:cNvSpPr/>
          <p:nvPr/>
        </p:nvSpPr>
        <p:spPr>
          <a:xfrm>
            <a:off x="5696038" y="3653395"/>
            <a:ext cx="3596886" cy="224922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F977AD3-6D1B-50FE-DD75-76551B5F62F4}"/>
              </a:ext>
            </a:extLst>
          </p:cNvPr>
          <p:cNvSpPr/>
          <p:nvPr/>
        </p:nvSpPr>
        <p:spPr>
          <a:xfrm>
            <a:off x="5653466" y="5751260"/>
            <a:ext cx="3596886" cy="176574"/>
          </a:xfrm>
          <a:prstGeom prst="rect">
            <a:avLst/>
          </a:prstGeom>
          <a:noFill/>
          <a:ln w="38100"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0471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51B42-DF24-8EE4-5A83-145057871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0917EE8-CF51-6C71-28A5-096FC6071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43545"/>
            <a:ext cx="10896600" cy="517065"/>
          </a:xfrm>
        </p:spPr>
        <p:txBody>
          <a:bodyPr/>
          <a:lstStyle/>
          <a:p>
            <a:r>
              <a:rPr lang="en-US" dirty="0"/>
              <a:t>Normal Distribution Test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64815-6269-5195-A58D-63B80CABD0D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1A4F0E2-C1DD-1794-2D40-6065325B3C1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194768" y="3692402"/>
            <a:ext cx="5606917" cy="2280641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86AC46F-2FDF-4CD7-4341-E22B18251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718" y="1134465"/>
            <a:ext cx="5475967" cy="229453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BD4265-1B6B-FA14-DBD3-29D412A3BF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05500" y="3741719"/>
            <a:ext cx="5606916" cy="223132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A6E22D-9415-4248-5C07-843EFC9641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8894" y="1245016"/>
            <a:ext cx="5606916" cy="222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90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ECEFE-84F7-2BD9-F72B-F93982ADC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124B41A-E351-3DA7-38DE-B54A2A2D2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FCF06-FE86-8B03-6049-85FBB546E5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D83D34C-D9F4-5A68-99EC-5DDA56357454}"/>
              </a:ext>
            </a:extLst>
          </p:cNvPr>
          <p:cNvSpPr/>
          <p:nvPr/>
        </p:nvSpPr>
        <p:spPr>
          <a:xfrm>
            <a:off x="242402" y="3295135"/>
            <a:ext cx="6767611" cy="444843"/>
          </a:xfrm>
          <a:prstGeom prst="roundRect">
            <a:avLst/>
          </a:prstGeom>
          <a:solidFill>
            <a:srgbClr val="EE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69942D7-FD6B-FBA8-7F7C-9ACE013B2080}"/>
              </a:ext>
            </a:extLst>
          </p:cNvPr>
          <p:cNvSpPr txBox="1">
            <a:spLocks/>
          </p:cNvSpPr>
          <p:nvPr/>
        </p:nvSpPr>
        <p:spPr>
          <a:xfrm>
            <a:off x="490045" y="1641716"/>
            <a:ext cx="10830910" cy="4535601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6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90000"/>
                    <a:lumOff val="10000"/>
                  </a:schemeClr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Non-Responder vs Responder Example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 CD8 interaction</a:t>
            </a:r>
          </a:p>
          <a:p>
            <a:pPr marL="971550" lvl="1" indent="-514350">
              <a:buFont typeface="+mj-lt"/>
              <a:buAutoNum type="alphaLcParenR"/>
            </a:pPr>
            <a:r>
              <a:rPr lang="en-US" dirty="0"/>
              <a:t>PMN –tumor interaction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Statistical Significance Review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Protein Expression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CD8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Tumor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dirty="0"/>
              <a:t> </a:t>
            </a:r>
          </a:p>
          <a:p>
            <a:pPr marL="971550" lvl="1" indent="-514350">
              <a:buFont typeface="+mj-lt"/>
              <a:buAutoNum type="alphaLcParenR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1497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9EF0-990C-2949-7A29-E1BE879B2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30A5477-FFD7-C41B-5A02-7234C9EC9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16EA0A-7743-D7F9-34C7-EF0AF6A50B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BB17F7-E90E-17A0-36DD-EF4E094996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45" y="1893819"/>
            <a:ext cx="10830910" cy="321884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A33A5-9BEC-3FAD-9724-10036EB3187B}"/>
              </a:ext>
            </a:extLst>
          </p:cNvPr>
          <p:cNvSpPr/>
          <p:nvPr/>
        </p:nvSpPr>
        <p:spPr>
          <a:xfrm rot="16200000">
            <a:off x="-127523" y="2382929"/>
            <a:ext cx="1238631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8F6C48-3416-9A5D-1A92-0F3A2A341CF6}"/>
              </a:ext>
            </a:extLst>
          </p:cNvPr>
          <p:cNvSpPr/>
          <p:nvPr/>
        </p:nvSpPr>
        <p:spPr>
          <a:xfrm rot="16200000">
            <a:off x="-187851" y="3994131"/>
            <a:ext cx="135928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Non-Responder</a:t>
            </a:r>
          </a:p>
        </p:txBody>
      </p:sp>
    </p:spTree>
    <p:extLst>
      <p:ext uri="{BB962C8B-B14F-4D97-AF65-F5344CB8AC3E}">
        <p14:creationId xmlns:p14="http://schemas.microsoft.com/office/powerpoint/2010/main" val="656559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82F9A-60FB-2F31-E196-B2B69A3440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EB5F9EE-27EF-5712-9A37-37E320CD8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AC66D-257D-D9D4-B328-EDD5F165B98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66BFE8-A806-DB44-D935-CC544FEA82DB}"/>
              </a:ext>
            </a:extLst>
          </p:cNvPr>
          <p:cNvSpPr/>
          <p:nvPr/>
        </p:nvSpPr>
        <p:spPr>
          <a:xfrm rot="16200000">
            <a:off x="-127523" y="2382929"/>
            <a:ext cx="1238631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210955-4F3A-1F0B-601F-62BED67043BB}"/>
              </a:ext>
            </a:extLst>
          </p:cNvPr>
          <p:cNvSpPr/>
          <p:nvPr/>
        </p:nvSpPr>
        <p:spPr>
          <a:xfrm rot="16200000">
            <a:off x="-187851" y="3994131"/>
            <a:ext cx="135928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Non-Responder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2DDCD7-A1BD-19E5-2A75-342D43F60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04" y="1898750"/>
            <a:ext cx="10582555" cy="3208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7246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74ACA-D1E7-477C-BD53-700D1FC49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A3714F6-3778-2425-75FC-816C824A1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Protein Heatmap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705311-D96C-653D-B495-FB05B7E9D91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42B409-1ABD-7FAA-9FA2-5CADAB47A34C}"/>
              </a:ext>
            </a:extLst>
          </p:cNvPr>
          <p:cNvSpPr/>
          <p:nvPr/>
        </p:nvSpPr>
        <p:spPr>
          <a:xfrm rot="16200000">
            <a:off x="-127523" y="2382929"/>
            <a:ext cx="1238631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Responder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263655-77C9-7E13-F3A3-85C512C00CC1}"/>
              </a:ext>
            </a:extLst>
          </p:cNvPr>
          <p:cNvSpPr/>
          <p:nvPr/>
        </p:nvSpPr>
        <p:spPr>
          <a:xfrm rot="16200000">
            <a:off x="-187851" y="3994131"/>
            <a:ext cx="1359284" cy="3775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Non-Responder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146905-7418-9A3D-2E38-FA9DAFC673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40" y="1840476"/>
            <a:ext cx="10231395" cy="371903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6A3D272-F2C2-71A6-181E-3C3B994A1808}"/>
              </a:ext>
            </a:extLst>
          </p:cNvPr>
          <p:cNvSpPr/>
          <p:nvPr/>
        </p:nvSpPr>
        <p:spPr>
          <a:xfrm>
            <a:off x="7302502" y="1952366"/>
            <a:ext cx="146050" cy="1368684"/>
          </a:xfrm>
          <a:prstGeom prst="rect">
            <a:avLst/>
          </a:prstGeom>
          <a:noFill/>
          <a:ln>
            <a:solidFill>
              <a:srgbClr val="EE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3581799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74C1E-7DD1-26CA-C70E-04C2D4008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7C3E36F-F7C6-14B5-5C7B-2B6A63A74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Cellular Neighborhood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28A4331-9CD4-AFE9-735F-4BEB910DB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39" y="702134"/>
            <a:ext cx="10634995" cy="602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08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A4B6E-8BA6-46A3-239C-17B8FDDC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75FF4C5-250B-7C00-62A4-D997A1F3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5069"/>
            <a:ext cx="10896600" cy="517065"/>
          </a:xfrm>
        </p:spPr>
        <p:txBody>
          <a:bodyPr/>
          <a:lstStyle/>
          <a:p>
            <a:r>
              <a:rPr lang="en-US" dirty="0"/>
              <a:t>Box Plot of Delta Cellular Neighborhood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F35213-BF2A-164E-350E-0E0B80402F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02134"/>
            <a:ext cx="10400803" cy="5873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1298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96C07-D417-68FE-784D-A649565F3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20AAC-4A15-7588-5A50-D1C66185C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2F2F9A-3061-59E1-9B96-30DE90CF1D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37240"/>
            <a:ext cx="10598547" cy="429124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7706B1C-EE8F-2D9E-AB60-2EF6A1273806}"/>
              </a:ext>
            </a:extLst>
          </p:cNvPr>
          <p:cNvSpPr txBox="1"/>
          <p:nvPr/>
        </p:nvSpPr>
        <p:spPr>
          <a:xfrm>
            <a:off x="744133" y="4741580"/>
            <a:ext cx="1059854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Non-Responders have fewer CD8 T-cells than responders but are significantly more likely to interact with neutrophils relative to their frequency. (p=0.036)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Non-Responder neutrophils are also significantly more likely to interact with Treg cells than their frequency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notable difference of neutrophil interaction with CD4 and DCs between NR and R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Note: DCs and </a:t>
            </a:r>
            <a:r>
              <a:rPr lang="en-US" dirty="0" err="1"/>
              <a:t>B_cells</a:t>
            </a:r>
            <a:r>
              <a:rPr lang="en-US" dirty="0"/>
              <a:t> are more common in responders but don’t interact with </a:t>
            </a:r>
            <a:r>
              <a:rPr lang="en-US" dirty="0" err="1"/>
              <a:t>pmns</a:t>
            </a:r>
            <a:r>
              <a:rPr lang="en-US" dirty="0"/>
              <a:t> more than responders. </a:t>
            </a:r>
          </a:p>
        </p:txBody>
      </p:sp>
    </p:spTree>
    <p:extLst>
      <p:ext uri="{BB962C8B-B14F-4D97-AF65-F5344CB8AC3E}">
        <p14:creationId xmlns:p14="http://schemas.microsoft.com/office/powerpoint/2010/main" val="21893687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9A1D2-818D-DB90-432B-A8CA5418C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C9ADD-BD3B-2645-51DC-4F1EBC356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263" y="290872"/>
            <a:ext cx="11707474" cy="517065"/>
          </a:xfrm>
        </p:spPr>
        <p:txBody>
          <a:bodyPr/>
          <a:lstStyle/>
          <a:p>
            <a:r>
              <a:rPr lang="en-US" dirty="0"/>
              <a:t>Select Box Plot Neighborhood Delta (Radius = 15 µm)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78701-B4B8-E710-8DAB-F9310FDFABB2}"/>
              </a:ext>
            </a:extLst>
          </p:cNvPr>
          <p:cNvSpPr txBox="1"/>
          <p:nvPr/>
        </p:nvSpPr>
        <p:spPr>
          <a:xfrm>
            <a:off x="668458" y="4880317"/>
            <a:ext cx="945931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Takeaways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Higher variation in neutrophil and tumor cells interactions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Responders have higher neutrophil tumor interactions relative to overall frequency. Data is not significant (p=0.13)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Neutrophils clustering is slightly more common in non-responders, but variation is high (p=0.63) at 15-micron radius.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305212-3F9B-EE73-CB02-EF81EDB77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037" y="984405"/>
            <a:ext cx="8484805" cy="389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6207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4A6-71CA-2707-E9CD-FA4E5114A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BFAB37-A5C5-F0BB-D6D5-F4EF77CBF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67C9C6-A1ED-3421-ABF4-B3D311C0E7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D1F08B-F2CC-863A-8FB2-6DAD9A125ED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43134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19100</TotalTime>
  <Words>525</Words>
  <Application>Microsoft Office PowerPoint</Application>
  <PresentationFormat>Widescreen</PresentationFormat>
  <Paragraphs>122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Arial</vt:lpstr>
      <vt:lpstr>Calibri</vt:lpstr>
      <vt:lpstr>Red Hat Display</vt:lpstr>
      <vt:lpstr>Red Hat Text</vt:lpstr>
      <vt:lpstr>Office Theme</vt:lpstr>
      <vt:lpstr>Week 7 Updates Shapiro</vt:lpstr>
      <vt:lpstr>Agenda</vt:lpstr>
      <vt:lpstr>NR vs R example CD8-PMN Colocalization – All Cells</vt:lpstr>
      <vt:lpstr>NR vs R example CD8-PMN Colocalization – CD8/PMN Only</vt:lpstr>
      <vt:lpstr>NR vs R example CD8-PMN Colocalization – CD8/PMN Only</vt:lpstr>
      <vt:lpstr>NR vs R example CD8-PMN Colocalization – CD8/PMN Only</vt:lpstr>
      <vt:lpstr>NR vs R example CD8-PMN Colocalization – PMN/Tumor Only</vt:lpstr>
      <vt:lpstr>NR vs R example CD8-PMN Colocalization – CD8/PMN Only</vt:lpstr>
      <vt:lpstr>Agenda</vt:lpstr>
      <vt:lpstr>Statistical Significance (Two Tailed T Test)</vt:lpstr>
      <vt:lpstr>Statistical Significance (Two Tailed T Test)</vt:lpstr>
      <vt:lpstr>Normal Distribution Test</vt:lpstr>
      <vt:lpstr>Agenda</vt:lpstr>
      <vt:lpstr>Example 1</vt:lpstr>
      <vt:lpstr>Example 2</vt:lpstr>
      <vt:lpstr>Overall Protein Heatmap</vt:lpstr>
      <vt:lpstr>PowerPoint Presentation</vt:lpstr>
      <vt:lpstr>Box Plot of Cellular Neighborhood</vt:lpstr>
      <vt:lpstr>Box Plot of Delta Cellular Neighborhood</vt:lpstr>
      <vt:lpstr>Select Box Plot Neighborhood Delta (Radius = 15 µm)</vt:lpstr>
      <vt:lpstr>Select Box Plot Neighborhood Delta (Radius = 15 µm)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Johns</cp:lastModifiedBy>
  <cp:revision>18</cp:revision>
  <dcterms:created xsi:type="dcterms:W3CDTF">2025-06-03T19:55:18Z</dcterms:created>
  <dcterms:modified xsi:type="dcterms:W3CDTF">2025-07-21T15:43:06Z</dcterms:modified>
</cp:coreProperties>
</file>