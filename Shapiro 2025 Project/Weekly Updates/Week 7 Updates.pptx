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sldIdLst>
    <p:sldId id="264" r:id="rId2"/>
    <p:sldId id="323" r:id="rId3"/>
    <p:sldId id="329" r:id="rId4"/>
    <p:sldId id="325" r:id="rId5"/>
    <p:sldId id="324" r:id="rId6"/>
    <p:sldId id="327" r:id="rId7"/>
    <p:sldId id="326" r:id="rId8"/>
    <p:sldId id="332" r:id="rId9"/>
    <p:sldId id="330" r:id="rId10"/>
    <p:sldId id="331" r:id="rId11"/>
    <p:sldId id="321" r:id="rId12"/>
    <p:sldId id="308" r:id="rId13"/>
    <p:sldId id="296" r:id="rId14"/>
    <p:sldId id="302" r:id="rId15"/>
    <p:sldId id="306" r:id="rId16"/>
    <p:sldId id="320" r:id="rId17"/>
    <p:sldId id="305" r:id="rId18"/>
    <p:sldId id="307" r:id="rId19"/>
    <p:sldId id="312" r:id="rId20"/>
    <p:sldId id="313" r:id="rId21"/>
    <p:sldId id="319" r:id="rId22"/>
    <p:sldId id="315" r:id="rId23"/>
    <p:sldId id="316" r:id="rId24"/>
    <p:sldId id="314" r:id="rId25"/>
    <p:sldId id="322" r:id="rId26"/>
    <p:sldId id="317" r:id="rId27"/>
    <p:sldId id="318" r:id="rId28"/>
    <p:sldId id="300" r:id="rId29"/>
    <p:sldId id="267" r:id="rId30"/>
    <p:sldId id="32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979"/>
    <p:restoredTop sz="96327"/>
  </p:normalViewPr>
  <p:slideViewPr>
    <p:cSldViewPr snapToGrid="0" snapToObjects="1">
      <p:cViewPr>
        <p:scale>
          <a:sx n="80" d="100"/>
          <a:sy n="80" d="100"/>
        </p:scale>
        <p:origin x="-18" y="8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938ED-5CED-F115-8046-907AF0E50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DF6B97-1389-96B3-35D4-BC8AA89673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644D84-C7DE-6230-36C8-06E880389F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4ADBB-7E84-ED08-F74B-C225A8DCC9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4731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0512B-0112-FAF3-E645-F74F598D1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5FACE-5D73-9AC3-C1F2-53B2DF6F9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2AA922-517D-C770-7B63-7CFE73CB0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D97E1-69EB-D14B-167C-0ED4B8799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6376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158E-8E42-58D2-F0FA-0FF2AACB8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E1AD9-0512-92C8-E845-CAEF7F333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9C1D5D-52A1-6983-525F-2994C87F2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56E1A-9B12-5C8D-F5C2-228C5B08C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043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E0672-B926-67E2-B79F-F7BE0D85E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4A31FC-17D4-0BD8-0F72-48F48A5447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01C35-81B3-F28E-DA14-841AC0A57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C51DF-3799-390A-A646-516E786C5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394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99A8E-A636-3D62-D339-6ADDDE365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39610-3E58-2468-D590-DF11DA805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90208-EF52-2EDA-2C2E-697799A46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10781-C90E-3E8B-5D15-AE2AFA8470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101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FF4AF-4432-26A5-D4A5-6A0E795F1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1A423-856E-AB20-EBEA-CE8207512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0465A-6A4E-F4B0-8CD5-7C63BCAFD1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AEC52-58F7-A0DA-56FE-8B9514AAF5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50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2614C-4BC7-79DB-D2FC-7B0D268A0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ED3E8-D502-3C4C-ADD1-652C51029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7B693-8922-8058-AFCF-0D01797DDA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5A662-DC49-E04D-18B5-3F421B1E6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388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310C5-4EAB-7C59-54D5-739A37C95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FC301-45BA-51BF-F0D6-000D617F4C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3D585-BA8F-932A-7589-C3B5806BEB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B963F-0DCF-D36A-C88A-648E5AFDF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869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EF71C-F1E8-AAC9-D291-383CD90E5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79010-4A45-BA14-C1E6-1568F5FD4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EEF82-1566-8222-A819-A12058EBB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31347-E9D4-9CAE-8E00-8833D9F21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69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D0FCF-565A-B338-45F5-9FA0CF945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3120B-407B-D3EA-876A-DE788010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2C8CB4-6061-109A-0C13-9513C1CDB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478B8-001C-CC5E-76C4-D7B078F86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208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EAEB4-4E3B-FD20-7A71-02897E2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17534-FDA7-60FA-9E57-ACC0B7682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436E2-7043-5F77-00A4-5A6E60D4A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A2913-3881-212C-6E1E-AC069B10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65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08C57-1A5C-8841-96B4-FBA73750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283B5-37A7-9C2A-F1B5-65A62C741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44759-2460-F3F3-A805-8CE142B34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literature there does not appear to be a set standard distance used. Most use values between 10-20 um. In the Cell Reports Medicine paper on HNSCC (https://www.sciencedirect.com/science/article/pii/S2666379125001739?ref=pdf_download&amp;fr=RR-2&amp;rr=955e97c87c6cb267) they defined proximal neighbors as within 15 um. In testing different TMA FOVs showed similar values between radial distances 10-20 um. Notably the PMN cells become https://www.sciencedirect.com/science/article/pii/S2666379125001739?ref=pdf_download&amp;fr=RR-2&amp;rr=955e97c87c6cb267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D0273-57DB-FB8E-6ACB-BE8318346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59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4C7E2-8E4D-6C05-E965-BE990D2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4A89D-AC0C-07E0-6C51-D09BD1328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AF5FC-9F08-B854-6480-D1D8D5E0C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7B86B-8BA7-C596-E959-39334B814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383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6B22-9C95-FB0B-AD79-71A74E51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51CAA-9D9F-029F-1B40-26C1554A6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6395C-BE2B-93B2-5AA2-CF8CF4920C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C1850-D405-D4DB-05DD-595ACFDC04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2897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214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19-315C-08DF-7FA2-8FCEAB0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B3F32-B395-1B82-599A-9D635D03A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27B11-8D0D-E1A2-0AF6-C00547DD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09504-8821-037D-19FA-9E2D43568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98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429FC-0ED6-5861-41D4-78F21D394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F4957-A095-39D9-4AE0-907354ED5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D3B4E-786D-81F1-BEC5-4E74AD834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0399F-5FFB-CE48-9F3F-F9F372C77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385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B159-7F20-609B-ED74-E7261CB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F6786-CD0D-3D72-6B6F-2853FC18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8D453-3164-33DC-2509-D1C6C5BA1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78D8E-9FE0-3ED0-0520-A25D1861C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768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B13B-16E5-7631-2938-0F6C76865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56858-97C3-8FC6-2ED8-72D27B264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ED93C-A76F-4887-E381-A77868D77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08E99-19C1-7B42-1425-62E309CD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7577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D370-371D-7537-BD63-87C6807CB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CD47D-415C-B7FE-629B-E9FB24F6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CECD4-6049-DB3F-C1F8-F116BAEBC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73FD4-86A2-9720-F8A7-303142100A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277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8B6FD-7971-A07C-B775-0592EB717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08224-AEE9-8822-9AB9-FC49283258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BE78BA-F1ED-EE46-B412-21C19134B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DBC11-FBF7-691B-AD9E-D4B414EC7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853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1E74-7162-A78A-780E-B3CA942D9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BD965-5CAA-8682-6756-38293B989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13E6E-7D2D-5048-44E5-BBE23F31D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2536D-3003-1F8B-D46E-F75619646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859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852B8-4262-8D0B-4AEF-EE9C9654E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A9D9AD-CEFA-5D36-108D-77E71FBA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67AC6-F968-D60F-8598-5AED791F8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C4F54-ACC7-F43A-30F5-680D67239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14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49752-A749-4AAF-4E51-72FEE170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6E58C-FD57-6202-6E73-2809D8ECC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E0B22-D1F0-70F8-81D7-2F7FC50D7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BF02C-2A1A-8CFC-6682-C95114BEB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309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A0EDF-DC4F-F320-E162-C3CC7D99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483CE-81B6-A9D2-AD8F-73D3E171E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CB627-7CAA-3463-3C33-D8F1BDCE4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50869-E797-1B6E-B5AD-E89A90B6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868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7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F913A-D62D-F9DB-3CB9-8D4ECCEB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43E08BD-82BC-2F70-DC37-39794029E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similar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0A1D34-7F29-A060-6E23-66240BFD79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2C0AC37-9E5C-D87A-F748-66E8790935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2405787"/>
          </a:xfrm>
        </p:spPr>
        <p:txBody>
          <a:bodyPr/>
          <a:lstStyle/>
          <a:p>
            <a:r>
              <a:rPr lang="en-US" dirty="0"/>
              <a:t>Example with the following conditions</a:t>
            </a:r>
          </a:p>
          <a:p>
            <a:r>
              <a:rPr lang="en-US" dirty="0"/>
              <a:t>(1) Similar and non trivial percentage of CD8 and PMN cells.</a:t>
            </a:r>
          </a:p>
          <a:p>
            <a:r>
              <a:rPr lang="en-US" dirty="0"/>
              <a:t>(2) One responder and one non responder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* NR</a:t>
            </a:r>
          </a:p>
        </p:txBody>
      </p:sp>
    </p:spTree>
    <p:extLst>
      <p:ext uri="{BB962C8B-B14F-4D97-AF65-F5344CB8AC3E}">
        <p14:creationId xmlns:p14="http://schemas.microsoft.com/office/powerpoint/2010/main" val="1367874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E17BC-6AAA-D2F4-8481-B51DD3010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C35F0FF-44CC-7B18-9EED-76C1F672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72F45-84FA-6B01-5FAE-E8B6876BD0A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BD6E04-3C68-88A1-5B0A-6D13E43F8C06}"/>
              </a:ext>
            </a:extLst>
          </p:cNvPr>
          <p:cNvSpPr/>
          <p:nvPr/>
        </p:nvSpPr>
        <p:spPr>
          <a:xfrm>
            <a:off x="300067" y="1643818"/>
            <a:ext cx="6767611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18E405F-0432-4C7A-3514-5886A70614FF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4535601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Non-Responder vs Responder Example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 CD8 interaction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–tumor interaction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Statistical Significance Review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097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F65BE-2EA5-A593-6B0E-36B2681A3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BD32866-0ABF-331A-B3F4-3C3FEFD89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 vs R example CD8-PMN Colocalization – All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11E544-A948-225F-0C7C-AF3AA8858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769157"/>
            <a:ext cx="4830085" cy="372715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309CD0-DEA9-26E3-39B9-C2F96D6272B5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F33A76-7F22-D75E-A6AB-003DA6B52C7B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A9E4DF-4E61-DB06-DD38-3B4A77B64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638" y="1769157"/>
            <a:ext cx="4830085" cy="369493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35F1C73-A802-1B93-0A70-EB91ABA40759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5.63%, PMN: 4.004%, Tumor: 22.1%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0C19D-E0C3-E6C5-48C5-C2152DAADE6A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6.14%, PMN: 3.19%, Tumor: 18.8%</a:t>
            </a:r>
          </a:p>
        </p:txBody>
      </p:sp>
    </p:spTree>
    <p:extLst>
      <p:ext uri="{BB962C8B-B14F-4D97-AF65-F5344CB8AC3E}">
        <p14:creationId xmlns:p14="http://schemas.microsoft.com/office/powerpoint/2010/main" val="2518597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4B79A-1B1D-4702-6F9F-74E4A874D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D16FCC-7399-BA4F-001F-61F8DC446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945B5-0B1C-87CE-2536-5EA373335E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75F2C-3816-2460-0A8B-F48367B51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50" y="1863779"/>
            <a:ext cx="4563836" cy="3469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8AC1EF-AE4C-1835-873C-7418F371F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59" y="1870199"/>
            <a:ext cx="4460516" cy="346295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34E78AA-B6BE-A5BB-556A-E6BEB450246A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90664-D74A-F923-64B3-C0680B7F37BA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7EA811-B5C6-B11B-8FD5-D3961FE7CE75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PMN-CD8: 2.78% 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-2.86%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7363E7-9078-2071-D29E-02627D44F1F8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radial: 7.017%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0.87%</a:t>
            </a:r>
          </a:p>
        </p:txBody>
      </p:sp>
    </p:spTree>
    <p:extLst>
      <p:ext uri="{BB962C8B-B14F-4D97-AF65-F5344CB8AC3E}">
        <p14:creationId xmlns:p14="http://schemas.microsoft.com/office/powerpoint/2010/main" val="1866651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4F39F-8B11-D224-201F-BF7D2A34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A724683-EFC6-170B-65C5-71853AC53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8" y="228681"/>
            <a:ext cx="10896600" cy="517065"/>
          </a:xfrm>
        </p:spPr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2F39E-FEE8-8894-A49B-3EF647DD5068}"/>
              </a:ext>
            </a:extLst>
          </p:cNvPr>
          <p:cNvSpPr/>
          <p:nvPr/>
        </p:nvSpPr>
        <p:spPr>
          <a:xfrm>
            <a:off x="2083128" y="832797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463D11-93D1-0D84-C352-20B59BDE9F51}"/>
              </a:ext>
            </a:extLst>
          </p:cNvPr>
          <p:cNvSpPr/>
          <p:nvPr/>
        </p:nvSpPr>
        <p:spPr>
          <a:xfrm>
            <a:off x="6771693" y="854596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6026E5-C6CA-A870-6927-428B3FFB7B21}"/>
              </a:ext>
            </a:extLst>
          </p:cNvPr>
          <p:cNvSpPr/>
          <p:nvPr/>
        </p:nvSpPr>
        <p:spPr>
          <a:xfrm rot="16200000">
            <a:off x="-268236" y="2717313"/>
            <a:ext cx="1773532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 Neighbors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FCF9E3-FBF1-F89D-1F9D-22318B9BC848}"/>
              </a:ext>
            </a:extLst>
          </p:cNvPr>
          <p:cNvSpPr/>
          <p:nvPr/>
        </p:nvSpPr>
        <p:spPr>
          <a:xfrm rot="16200000">
            <a:off x="-240813" y="5181114"/>
            <a:ext cx="1773534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Cell Freq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706160-A9E7-8B31-6428-4197DACC9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672" y="1297353"/>
            <a:ext cx="2704327" cy="25581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71CBF37-F026-7190-30DC-B4B5F97A5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7646" y="3877299"/>
            <a:ext cx="2704326" cy="264769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B2A1EC3-3785-5997-BE54-580305C1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0783" y="1340951"/>
            <a:ext cx="2704326" cy="269957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AB58AEA-358C-60EB-F146-43815C582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6318" y="4020078"/>
            <a:ext cx="2568791" cy="285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611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E10B-14D1-909D-40FA-BEB28403F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B96748A-BBB9-0982-91FD-6DBC7228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" y="-67214"/>
            <a:ext cx="11169650" cy="987963"/>
          </a:xfrm>
        </p:spPr>
        <p:txBody>
          <a:bodyPr/>
          <a:lstStyle/>
          <a:p>
            <a:r>
              <a:rPr lang="en-US" dirty="0"/>
              <a:t>NR vs R example CD8-PMN Colocalization – PMN/Tumor Only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22719-C35D-A96B-9B11-37A670365E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E240EB-B12C-D022-36A9-C97E98ACF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629" y="1712228"/>
            <a:ext cx="4460516" cy="347720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7A9E283-414E-6137-D1A2-17B75A990D18}"/>
              </a:ext>
            </a:extLst>
          </p:cNvPr>
          <p:cNvSpPr/>
          <p:nvPr/>
        </p:nvSpPr>
        <p:spPr>
          <a:xfrm>
            <a:off x="1786588" y="1141560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66E129-7E06-EF24-D3BD-473C4901B888}"/>
              </a:ext>
            </a:extLst>
          </p:cNvPr>
          <p:cNvSpPr/>
          <p:nvPr/>
        </p:nvSpPr>
        <p:spPr>
          <a:xfrm>
            <a:off x="6205217" y="1141560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9EE1A0B-AF61-6080-E993-D3928935C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446" y="1600635"/>
            <a:ext cx="4713048" cy="356982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6AACE24-DB4E-1A17-3A26-955A7492D74D}"/>
              </a:ext>
            </a:extLst>
          </p:cNvPr>
          <p:cNvSpPr/>
          <p:nvPr/>
        </p:nvSpPr>
        <p:spPr>
          <a:xfrm>
            <a:off x="586736" y="5189435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PMN-Tumor: 25.5% 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3.3%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B7C879-6BA9-8561-1DE8-9889EB441C9D}"/>
              </a:ext>
            </a:extLst>
          </p:cNvPr>
          <p:cNvSpPr/>
          <p:nvPr/>
        </p:nvSpPr>
        <p:spPr>
          <a:xfrm>
            <a:off x="5701574" y="5252025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PMN-Tumor: 23.3%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4.4%</a:t>
            </a:r>
          </a:p>
        </p:txBody>
      </p:sp>
    </p:spTree>
    <p:extLst>
      <p:ext uri="{BB962C8B-B14F-4D97-AF65-F5344CB8AC3E}">
        <p14:creationId xmlns:p14="http://schemas.microsoft.com/office/powerpoint/2010/main" val="629616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98A2-D766-67C6-C241-C3FCB0D46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F436893-F224-3D69-A8AF-690B0D819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E53DE7-B663-71C0-7B52-7225452A2E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A4B081D-3871-2225-8895-8FFF8B8221F0}"/>
              </a:ext>
            </a:extLst>
          </p:cNvPr>
          <p:cNvSpPr/>
          <p:nvPr/>
        </p:nvSpPr>
        <p:spPr>
          <a:xfrm>
            <a:off x="300067" y="2833136"/>
            <a:ext cx="6767611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C72E09-3C7A-3793-9C2F-4D611F11EEBA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4535601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Non-Responder vs Responder Example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 CD8 interaction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–tumor interaction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Statistical Significance Review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6186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901C2-EAA0-9C62-638E-146803ACC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B18F8-D2DE-89C5-9FB7-33360B297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774EBA-0F34-AEFD-3330-A8A720050F4A}"/>
              </a:ext>
            </a:extLst>
          </p:cNvPr>
          <p:cNvSpPr/>
          <p:nvPr/>
        </p:nvSpPr>
        <p:spPr>
          <a:xfrm>
            <a:off x="3069825" y="1236070"/>
            <a:ext cx="5374186" cy="3430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 (PMN&gt;25)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F32C11-B6C0-F6BF-362F-85271549E8AE}"/>
              </a:ext>
            </a:extLst>
          </p:cNvPr>
          <p:cNvSpPr/>
          <p:nvPr/>
        </p:nvSpPr>
        <p:spPr>
          <a:xfrm>
            <a:off x="3644544" y="2057088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15 µm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695401-030A-7CEC-5E77-D2CAE46DDA98}"/>
              </a:ext>
            </a:extLst>
          </p:cNvPr>
          <p:cNvSpPr/>
          <p:nvPr/>
        </p:nvSpPr>
        <p:spPr>
          <a:xfrm>
            <a:off x="800207" y="2050324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10 µm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543528-D774-1E55-F784-45BC76141864}"/>
              </a:ext>
            </a:extLst>
          </p:cNvPr>
          <p:cNvSpPr/>
          <p:nvPr/>
        </p:nvSpPr>
        <p:spPr>
          <a:xfrm>
            <a:off x="6827143" y="2050323"/>
            <a:ext cx="1651454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20 µm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F309F53-F1BF-5712-253F-B1C06492E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7" y="2563907"/>
            <a:ext cx="2975372" cy="26475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4B1BEB7-1CDD-E0AD-EA39-3FF5004B1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2259" y="2563907"/>
            <a:ext cx="3026175" cy="27019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20F6282-10AC-A26B-DCB9-D7AD513C896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584"/>
          <a:stretch>
            <a:fillRect/>
          </a:stretch>
        </p:blipFill>
        <p:spPr>
          <a:xfrm>
            <a:off x="6008434" y="2563907"/>
            <a:ext cx="2880245" cy="264757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B9164DA-DD3A-A7EA-D89D-ACABA427BC1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784"/>
          <a:stretch>
            <a:fillRect/>
          </a:stretch>
        </p:blipFill>
        <p:spPr>
          <a:xfrm>
            <a:off x="8888679" y="2533782"/>
            <a:ext cx="2921170" cy="270782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268944B9-1BBA-7811-2B2F-55882AB10287}"/>
              </a:ext>
            </a:extLst>
          </p:cNvPr>
          <p:cNvSpPr/>
          <p:nvPr/>
        </p:nvSpPr>
        <p:spPr>
          <a:xfrm>
            <a:off x="9776197" y="2050322"/>
            <a:ext cx="1651454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delaunay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457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51B42-DF24-8EE4-5A83-145057871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0917EE8-CF51-6C71-28A5-096FC6071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43545"/>
            <a:ext cx="10896600" cy="517065"/>
          </a:xfrm>
        </p:spPr>
        <p:txBody>
          <a:bodyPr/>
          <a:lstStyle/>
          <a:p>
            <a:r>
              <a:rPr lang="en-US" dirty="0"/>
              <a:t>Normal Distribution Test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64815-6269-5195-A58D-63B80CABD0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1A4F0E2-C1DD-1794-2D40-6065325B3C1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94768" y="3692402"/>
            <a:ext cx="5606917" cy="228064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6AC46F-2FDF-4CD7-4341-E22B18251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718" y="1134465"/>
            <a:ext cx="5475967" cy="22945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BD4265-1B6B-FA14-DBD3-29D412A3BF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500" y="3741719"/>
            <a:ext cx="5606916" cy="22313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A6E22D-9415-4248-5C07-843EFC9641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8894" y="1245016"/>
            <a:ext cx="5606916" cy="222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390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6B03B-F4E6-6BB1-9BB8-395673A5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2032591-2CD9-C506-8B34-17CA65550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8C291C-9AF7-6C0C-EE6B-D51DB6C263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47F83F0-282B-047D-9EFA-2A5B6F7E9638}"/>
              </a:ext>
            </a:extLst>
          </p:cNvPr>
          <p:cNvSpPr/>
          <p:nvPr/>
        </p:nvSpPr>
        <p:spPr>
          <a:xfrm>
            <a:off x="300067" y="1643818"/>
            <a:ext cx="6767611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F0CBFA8-FD82-F1A9-154F-61C124EE6760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5112169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Week 5 Review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Radial distance decisions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matrix calculations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Box Plots of cells Neutrophil neighborhood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Statistical Significance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868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2CA0-7C4B-7266-68A7-AF30FFEA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62B5F0-A2C9-B929-981B-53B5DF9B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8674188" cy="517065"/>
          </a:xfrm>
        </p:spPr>
        <p:txBody>
          <a:bodyPr/>
          <a:lstStyle/>
          <a:p>
            <a:r>
              <a:rPr lang="en-US" dirty="0"/>
              <a:t>Radial Distance – Example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DBCD3-8905-834B-4852-0385E6D940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09881E78-495E-EBD1-8C58-2E5A5BE870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19810" y="2543671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45F3DB-E0A1-88C2-FB80-A987917C9F11}"/>
              </a:ext>
            </a:extLst>
          </p:cNvPr>
          <p:cNvSpPr/>
          <p:nvPr/>
        </p:nvSpPr>
        <p:spPr>
          <a:xfrm>
            <a:off x="1534392" y="1916730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06800C16-6DE4-7655-1CEC-8B974CAB9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230" y="3430147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3F70CFFB-F63B-FC16-2F42-C4D43E0A9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41587" y="4160137"/>
            <a:ext cx="885047" cy="80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E23C19-C638-14E9-F4D6-0D421C0645C9}"/>
              </a:ext>
            </a:extLst>
          </p:cNvPr>
          <p:cNvSpPr/>
          <p:nvPr/>
        </p:nvSpPr>
        <p:spPr>
          <a:xfrm>
            <a:off x="501298" y="4327659"/>
            <a:ext cx="1261920" cy="253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</a:t>
            </a:r>
          </a:p>
        </p:txBody>
      </p:sp>
      <p:pic>
        <p:nvPicPr>
          <p:cNvPr id="14" name="Picture 34" descr="Cancer cell - Free healthcare and medical icons">
            <a:extLst>
              <a:ext uri="{FF2B5EF4-FFF2-40B4-BE49-F238E27FC236}">
                <a16:creationId xmlns:a16="http://schemas.microsoft.com/office/drawing/2014/main" id="{6976E069-AA8F-14A4-E3D3-258EDB427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233381" y="4147170"/>
            <a:ext cx="792042" cy="79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Neutrophil granulocyte - Servier Medical Art">
            <a:extLst>
              <a:ext uri="{FF2B5EF4-FFF2-40B4-BE49-F238E27FC236}">
                <a16:creationId xmlns:a16="http://schemas.microsoft.com/office/drawing/2014/main" id="{2B37EFA6-E25C-25FA-5211-A51D0A771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960" y="5019574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E8610B2-CB07-012B-BE6B-66C571DD783E}"/>
              </a:ext>
            </a:extLst>
          </p:cNvPr>
          <p:cNvSpPr/>
          <p:nvPr/>
        </p:nvSpPr>
        <p:spPr>
          <a:xfrm>
            <a:off x="5239033" y="4454194"/>
            <a:ext cx="1318709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F29F08-C34A-BF23-749A-4AE2B55BE5EB}"/>
              </a:ext>
            </a:extLst>
          </p:cNvPr>
          <p:cNvSpPr/>
          <p:nvPr/>
        </p:nvSpPr>
        <p:spPr>
          <a:xfrm>
            <a:off x="3227230" y="3108740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E6FC2E-BE5F-893F-FE98-43F418836409}"/>
              </a:ext>
            </a:extLst>
          </p:cNvPr>
          <p:cNvSpPr/>
          <p:nvPr/>
        </p:nvSpPr>
        <p:spPr>
          <a:xfrm>
            <a:off x="3227230" y="5771955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1A70A0A-FA15-E93A-1285-077C56A2C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1678" y="3955007"/>
            <a:ext cx="3045093" cy="257904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13CF6-2C05-53A1-FF1B-2B3B32F0AACC}"/>
              </a:ext>
            </a:extLst>
          </p:cNvPr>
          <p:cNvSpPr txBox="1"/>
          <p:nvPr/>
        </p:nvSpPr>
        <p:spPr>
          <a:xfrm>
            <a:off x="6557742" y="1636367"/>
            <a:ext cx="454677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that PMN cells do not count themselves in this relationship to prevent double counting.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Everything in radius is counted equally.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15 µm is the most common value used in literature.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7C9313-CEB5-C520-D57F-59A0759A5E8B}"/>
              </a:ext>
            </a:extLst>
          </p:cNvPr>
          <p:cNvCxnSpPr>
            <a:cxnSpLocks/>
            <a:endCxn id="9" idx="6"/>
          </p:cNvCxnSpPr>
          <p:nvPr/>
        </p:nvCxnSpPr>
        <p:spPr>
          <a:xfrm>
            <a:off x="3600844" y="3833929"/>
            <a:ext cx="204309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FA81F9-F0A5-8B1B-1683-388FD4ECB5D5}"/>
              </a:ext>
            </a:extLst>
          </p:cNvPr>
          <p:cNvSpPr/>
          <p:nvPr/>
        </p:nvSpPr>
        <p:spPr>
          <a:xfrm>
            <a:off x="4288221" y="3556701"/>
            <a:ext cx="950812" cy="1639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µm</a:t>
            </a:r>
          </a:p>
        </p:txBody>
      </p:sp>
    </p:spTree>
    <p:extLst>
      <p:ext uri="{BB962C8B-B14F-4D97-AF65-F5344CB8AC3E}">
        <p14:creationId xmlns:p14="http://schemas.microsoft.com/office/powerpoint/2010/main" val="1310045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BC14-5B7F-B4A6-2480-584307F3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9BEE7C-B1F1-1010-A030-D1EF96AF4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533"/>
            <a:ext cx="10896600" cy="517065"/>
          </a:xfrm>
        </p:spPr>
        <p:txBody>
          <a:bodyPr/>
          <a:lstStyle/>
          <a:p>
            <a:r>
              <a:rPr lang="en-US" dirty="0"/>
              <a:t>Choosing Radial Distances 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DB565C1-5D73-F0EB-0380-29BDDA8522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8954855" y="1311459"/>
            <a:ext cx="2691849" cy="238125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663899-ED39-3A6F-78C2-F5908054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7711" y="1317994"/>
            <a:ext cx="2691849" cy="23750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AFE26-B745-D462-1AEE-7917DB38BF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036" y="1311460"/>
            <a:ext cx="2691849" cy="23699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341CE9-0AAB-EEC0-CA71-92EBF017BC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8237" y="4037318"/>
            <a:ext cx="2850774" cy="25277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201401-EDF0-5D1F-7879-69C8EECDAA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993" y="4037318"/>
            <a:ext cx="2815473" cy="25277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81B5B2D-4FF3-CC12-A04B-63F42CA1B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91660" y="4037318"/>
            <a:ext cx="2833370" cy="25558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CDC036-5868-20D4-5DE8-A1237FE273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30" y="1311460"/>
            <a:ext cx="2710515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2818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6474-1B71-EC40-CE54-BDBD96095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75E11AE-7D23-9AC0-C9E7-DCB4A4F8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- Entire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E5EE72-9724-7B3C-FB5D-E5411C0E1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203" y="1683759"/>
            <a:ext cx="2258805" cy="2061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AC36E3-01C9-3D98-5B77-01F021209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9" y="1683759"/>
            <a:ext cx="2204019" cy="2099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DE9D3E-DB56-A4F7-1EB2-6E47A5DBF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994" y="3968326"/>
            <a:ext cx="2204020" cy="2315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5FD5A46-7840-3C13-22F0-236A1CDD85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608" y="3968326"/>
            <a:ext cx="2404439" cy="22325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B06CB67-3F65-9B88-7661-81677824F1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6642" y="1683759"/>
            <a:ext cx="2426986" cy="22151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357409B-1FEA-7954-FA0F-4E679C4647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6642" y="3968326"/>
            <a:ext cx="2448801" cy="22382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56CC316-7FE6-3C8C-CEC6-7ECCFDC913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7614" y="1683759"/>
            <a:ext cx="2426986" cy="2235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A71935C-9DCB-2179-CBAD-9F90A9837F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2904" y="3979593"/>
            <a:ext cx="2416408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13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294527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D229C0-7859-1515-35AD-E8CBC6A769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6"/>
          <a:stretch>
            <a:fillRect/>
          </a:stretch>
        </p:blipFill>
        <p:spPr>
          <a:xfrm>
            <a:off x="4294527" y="2735966"/>
            <a:ext cx="4377989" cy="4043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DF9AEC9-EA93-02CA-74D1-F58317DFF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8" y="2524788"/>
            <a:ext cx="3663562" cy="3273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A253B1-55D8-EEAE-6BC5-2C2587A8A735}"/>
              </a:ext>
            </a:extLst>
          </p:cNvPr>
          <p:cNvSpPr txBox="1"/>
          <p:nvPr/>
        </p:nvSpPr>
        <p:spPr>
          <a:xfrm>
            <a:off x="9005263" y="2735966"/>
            <a:ext cx="20116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PMN = 24.9 – 0.96 =24.16%</a:t>
            </a:r>
          </a:p>
          <a:p>
            <a:r>
              <a:rPr lang="en-US" dirty="0"/>
              <a:t>Tumor=-19.4%</a:t>
            </a:r>
          </a:p>
          <a:p>
            <a:r>
              <a:rPr lang="en-US" dirty="0"/>
              <a:t>Endo= - 8.1%</a:t>
            </a:r>
          </a:p>
          <a:p>
            <a:r>
              <a:rPr lang="en-US" dirty="0" err="1"/>
              <a:t>Etc</a:t>
            </a:r>
            <a:r>
              <a:rPr lang="en-US" dirty="0"/>
              <a:t>…..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AB72F9D-4869-90B0-9AA1-3E5F25307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974" y="6557602"/>
            <a:ext cx="4207225" cy="2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04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E23CA-85EF-BC04-F529-B7581D9C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9BF92DD-85BE-8C65-D3BA-977B4E237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840B5-29E4-F805-E460-751273282B1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CF5F0DA-F0D0-8D32-36DC-ECBF7C9B1010}"/>
              </a:ext>
            </a:extLst>
          </p:cNvPr>
          <p:cNvSpPr/>
          <p:nvPr/>
        </p:nvSpPr>
        <p:spPr>
          <a:xfrm>
            <a:off x="300068" y="2838607"/>
            <a:ext cx="6835929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8EFB08C-46D5-5D67-34A8-B7295BF490FE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5112169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Week 5 Review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Radial distance decisions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matrix calculations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Box Plots of cells Neutrophil neighborhood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Statistical Significance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40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5AD96-D9E2-39D4-FD5C-4618B4905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1DF298-DCF6-4A14-FE15-75334416B1CA}"/>
              </a:ext>
            </a:extLst>
          </p:cNvPr>
          <p:cNvSpPr/>
          <p:nvPr/>
        </p:nvSpPr>
        <p:spPr>
          <a:xfrm>
            <a:off x="6968359" y="1147773"/>
            <a:ext cx="2844098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7E3CB4-4A6F-AD54-AD37-666CDB652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56" y="1950820"/>
            <a:ext cx="2850252" cy="420504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21B0A48-E204-3EA5-AAB3-B4186851D0CD}"/>
              </a:ext>
            </a:extLst>
          </p:cNvPr>
          <p:cNvSpPr/>
          <p:nvPr/>
        </p:nvSpPr>
        <p:spPr>
          <a:xfrm>
            <a:off x="2096729" y="1350651"/>
            <a:ext cx="2475271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Cellular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D6A659-AC2B-9F9E-13E9-DA64CE7F3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236" y="1867716"/>
            <a:ext cx="2903221" cy="43510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F5AFF74-B782-44C8-148F-B56F37189B80}"/>
              </a:ext>
            </a:extLst>
          </p:cNvPr>
          <p:cNvSpPr/>
          <p:nvPr/>
        </p:nvSpPr>
        <p:spPr>
          <a:xfrm>
            <a:off x="6968359" y="5590409"/>
            <a:ext cx="2844098" cy="239636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5CCA53-20FE-5678-BEB1-DF9559C1A5A5}"/>
              </a:ext>
            </a:extLst>
          </p:cNvPr>
          <p:cNvSpPr/>
          <p:nvPr/>
        </p:nvSpPr>
        <p:spPr>
          <a:xfrm>
            <a:off x="6968359" y="2822027"/>
            <a:ext cx="2844098" cy="239636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452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6C07-D417-68FE-784D-A649565F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0AAC-4A15-7588-5A50-D1C66185C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F2F9A-3061-59E1-9B96-30DE90CF1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37240"/>
            <a:ext cx="10598547" cy="4291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706B1C-EE8F-2D9E-AB60-2EF6A1273806}"/>
              </a:ext>
            </a:extLst>
          </p:cNvPr>
          <p:cNvSpPr txBox="1"/>
          <p:nvPr/>
        </p:nvSpPr>
        <p:spPr>
          <a:xfrm>
            <a:off x="744133" y="4741580"/>
            <a:ext cx="105985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Non-Responders have fewer CD8 T-cells than responders but are significantly more likely to interact with neutrophils relative to their frequency. (p=0.036)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 neutrophils are also significantly more likely to interact with Treg cells than their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notable difference of neutrophil interaction with CD4 and DCs between NR and R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Note: DCs and </a:t>
            </a:r>
            <a:r>
              <a:rPr lang="en-US" dirty="0" err="1"/>
              <a:t>B_cells</a:t>
            </a:r>
            <a:r>
              <a:rPr lang="en-US" dirty="0"/>
              <a:t> are more common in responders but don’t interact with </a:t>
            </a:r>
            <a:r>
              <a:rPr lang="en-US" dirty="0" err="1"/>
              <a:t>pmns</a:t>
            </a:r>
            <a:r>
              <a:rPr lang="en-US" dirty="0"/>
              <a:t> more than responders. </a:t>
            </a:r>
          </a:p>
        </p:txBody>
      </p:sp>
    </p:spTree>
    <p:extLst>
      <p:ext uri="{BB962C8B-B14F-4D97-AF65-F5344CB8AC3E}">
        <p14:creationId xmlns:p14="http://schemas.microsoft.com/office/powerpoint/2010/main" val="21893687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A1D2-818D-DB90-432B-A8CA5418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C9ADD-BD3B-2645-51DC-4F1EBC356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78701-B4B8-E710-8DAB-F9310FDFABB2}"/>
              </a:ext>
            </a:extLst>
          </p:cNvPr>
          <p:cNvSpPr txBox="1"/>
          <p:nvPr/>
        </p:nvSpPr>
        <p:spPr>
          <a:xfrm>
            <a:off x="668458" y="4880317"/>
            <a:ext cx="94593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Higher variation in neutrophil and tumor cells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Responders have higher neutrophil tumor interactions relative to overall frequency. Data is not significant (p=0.13)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Neutrophils clustering is slightly more common in non-responders, but variation is high (p=0.63)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305212-3F9B-EE73-CB02-EF81EDB77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037" y="984405"/>
            <a:ext cx="8484805" cy="389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20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39934-7DAA-A7BC-A33C-F716860A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FA1-B69F-64C4-BC23-CCDD1DF3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F37D0-905D-42E7-2BB8-E0F830B13B3C}"/>
              </a:ext>
            </a:extLst>
          </p:cNvPr>
          <p:cNvSpPr/>
          <p:nvPr/>
        </p:nvSpPr>
        <p:spPr>
          <a:xfrm>
            <a:off x="3228587" y="19110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2705704-54B1-4EC0-E9B6-1E8E2DB5B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587" y="2998954"/>
            <a:ext cx="2461057" cy="368835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17E5FED-2A8A-14E2-6742-870503273646}"/>
              </a:ext>
            </a:extLst>
          </p:cNvPr>
          <p:cNvSpPr/>
          <p:nvPr/>
        </p:nvSpPr>
        <p:spPr>
          <a:xfrm>
            <a:off x="3973070" y="2522464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27FFF-A3F1-874D-823E-3ED977C6B2DB}"/>
              </a:ext>
            </a:extLst>
          </p:cNvPr>
          <p:cNvSpPr/>
          <p:nvPr/>
        </p:nvSpPr>
        <p:spPr>
          <a:xfrm>
            <a:off x="1085878" y="2522465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15A564-B3C6-4EA1-61B4-B2DA6D8A0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83" y="2877424"/>
            <a:ext cx="2615897" cy="384807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DB8AAE5-27F7-D823-5D2C-16A8E03D632F}"/>
              </a:ext>
            </a:extLst>
          </p:cNvPr>
          <p:cNvSpPr/>
          <p:nvPr/>
        </p:nvSpPr>
        <p:spPr>
          <a:xfrm>
            <a:off x="9273398" y="2522461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PMN&gt;75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D65FB57-7CB6-6B79-2F18-9A6F0FF3A5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642" y="2867347"/>
            <a:ext cx="2553063" cy="362836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FFE458B-A89A-2AD4-35D6-5DA7B34B2603}"/>
              </a:ext>
            </a:extLst>
          </p:cNvPr>
          <p:cNvSpPr/>
          <p:nvPr/>
        </p:nvSpPr>
        <p:spPr>
          <a:xfrm>
            <a:off x="6789317" y="2522462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PMN&gt;50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3B81F70-C88F-4105-33E9-26A259E61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2561" y="2837353"/>
            <a:ext cx="2779164" cy="368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6283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D2B-8249-4CCD-91CC-F80329049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C9B82-BA6B-4F15-CA62-F4EA5495E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7B9A5E-10C7-17B0-77D5-819DEB327BF8}"/>
              </a:ext>
            </a:extLst>
          </p:cNvPr>
          <p:cNvSpPr/>
          <p:nvPr/>
        </p:nvSpPr>
        <p:spPr>
          <a:xfrm>
            <a:off x="3408907" y="1933514"/>
            <a:ext cx="5374186" cy="3430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 (PMN&gt;25)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74A15B-D75E-A23B-FD60-875AFE237832}"/>
              </a:ext>
            </a:extLst>
          </p:cNvPr>
          <p:cNvSpPr/>
          <p:nvPr/>
        </p:nvSpPr>
        <p:spPr>
          <a:xfrm>
            <a:off x="3069825" y="2522464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15 µm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BA6DE1-876F-83D6-4EF3-C5E597F15F44}"/>
              </a:ext>
            </a:extLst>
          </p:cNvPr>
          <p:cNvSpPr/>
          <p:nvPr/>
        </p:nvSpPr>
        <p:spPr>
          <a:xfrm>
            <a:off x="459548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10 µm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F84AE-148F-A779-F19C-F53A66574DA9}"/>
              </a:ext>
            </a:extLst>
          </p:cNvPr>
          <p:cNvSpPr/>
          <p:nvPr/>
        </p:nvSpPr>
        <p:spPr>
          <a:xfrm>
            <a:off x="7910890" y="2516139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30 µm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4D14FB-9C90-6E7A-AD8B-743CC0777A93}"/>
              </a:ext>
            </a:extLst>
          </p:cNvPr>
          <p:cNvSpPr/>
          <p:nvPr/>
        </p:nvSpPr>
        <p:spPr>
          <a:xfrm>
            <a:off x="5461177" y="2522463"/>
            <a:ext cx="1651454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20 µm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56FD2C-F1B1-5564-0DD3-7D0EC9BFC8F0}"/>
              </a:ext>
            </a:extLst>
          </p:cNvPr>
          <p:cNvSpPr/>
          <p:nvPr/>
        </p:nvSpPr>
        <p:spPr>
          <a:xfrm>
            <a:off x="10166567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45 µm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24496D-7AD2-0D4A-E63D-0527C2F82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7" y="2907160"/>
            <a:ext cx="2347685" cy="37361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716479-AF3F-4D00-7EF5-8699D280B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235" y="2953005"/>
            <a:ext cx="2441326" cy="373617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46D69F9-83A2-EF61-B72C-D1CF634634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561" y="2915926"/>
            <a:ext cx="2468053" cy="38278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2CC69CC-484E-37AF-6305-E392F0D6EE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2614" y="2915926"/>
            <a:ext cx="2550948" cy="38366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61FFC3F-6D00-5996-C6F4-5800768078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8765" y="2907159"/>
            <a:ext cx="2418280" cy="3682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69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B0256-1D60-C50B-9C87-42C92266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7D6ACE-1CA9-23B8-929D-EC6853228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CD8 and PMN interactions in non responders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94600-9682-4D94-7DA2-27AB4AC2C9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EF7F1B-15D2-5C1B-9402-42EDD2B07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5" y="1828084"/>
            <a:ext cx="4563845" cy="33434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F6DA745-5E96-7007-68D7-589E41146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945" y="1751959"/>
            <a:ext cx="4453336" cy="350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9593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564C-AA16-98A8-F129-50F6DDF8E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579F4D1-7EE4-9072-D6F4-C69C89A61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27684D-15C6-C0FA-346C-E08F59CE9D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9B831-B69B-A8B0-D93C-AA05FFDA6C54}"/>
              </a:ext>
            </a:extLst>
          </p:cNvPr>
          <p:cNvSpPr/>
          <p:nvPr/>
        </p:nvSpPr>
        <p:spPr>
          <a:xfrm>
            <a:off x="300067" y="4366408"/>
            <a:ext cx="6835929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E3476F5-EC2F-4E5F-815E-FEE6A86AA99F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5112169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Week 5 Review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Radial distance decisions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matrix calculations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Box Plots of cells Neutrophil neighborhood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Statistical Significance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9859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92F42-9927-2BB5-DE9B-4E47627D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DD2C53-2833-F24F-18E6-4E498BBEF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D85200-EA3B-FFF5-04D5-94AD04F133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3E8D52-9202-EB2C-8417-02C52C7B735F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66F83D-D384-5EB9-CAE0-81D5C263D196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pic>
        <p:nvPicPr>
          <p:cNvPr id="6" name="Picture 2" descr="Neutrophil granulocyte - Servier Medical Art">
            <a:extLst>
              <a:ext uri="{FF2B5EF4-FFF2-40B4-BE49-F238E27FC236}">
                <a16:creationId xmlns:a16="http://schemas.microsoft.com/office/drawing/2014/main" id="{690000B4-95B3-9ECA-B663-42BD395AA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95" y="2246757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Neutrophil granulocyte - Servier Medical Art">
            <a:extLst>
              <a:ext uri="{FF2B5EF4-FFF2-40B4-BE49-F238E27FC236}">
                <a16:creationId xmlns:a16="http://schemas.microsoft.com/office/drawing/2014/main" id="{D04541F9-9FE5-99F5-E420-53E73640A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3524" y="535426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Neutrophil granulocyte - Servier Medical Art">
            <a:extLst>
              <a:ext uri="{FF2B5EF4-FFF2-40B4-BE49-F238E27FC236}">
                <a16:creationId xmlns:a16="http://schemas.microsoft.com/office/drawing/2014/main" id="{BF0F93A0-8D49-919B-81D3-65D5CA61D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818" y="4408186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415F3ECD-2F28-1DB0-3BC3-41C4823D68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966" y="3598384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4" descr="Cancer cell - Free healthcare and medical icons">
            <a:extLst>
              <a:ext uri="{FF2B5EF4-FFF2-40B4-BE49-F238E27FC236}">
                <a16:creationId xmlns:a16="http://schemas.microsoft.com/office/drawing/2014/main" id="{44C81E7E-93E5-6D64-9990-99AC064374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48094" y="329123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34" descr="Cancer cell - Free healthcare and medical icons">
            <a:extLst>
              <a:ext uri="{FF2B5EF4-FFF2-40B4-BE49-F238E27FC236}">
                <a16:creationId xmlns:a16="http://schemas.microsoft.com/office/drawing/2014/main" id="{64DC1F6D-7EBA-92E3-0AA1-6D801B9A6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041604" y="339002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4" descr="Cancer cell - Free healthcare and medical icons">
            <a:extLst>
              <a:ext uri="{FF2B5EF4-FFF2-40B4-BE49-F238E27FC236}">
                <a16:creationId xmlns:a16="http://schemas.microsoft.com/office/drawing/2014/main" id="{1853EAAA-223B-785A-339E-3BEB94944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15272" y="463240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34" descr="Cancer cell - Free healthcare and medical icons">
            <a:extLst>
              <a:ext uri="{FF2B5EF4-FFF2-40B4-BE49-F238E27FC236}">
                <a16:creationId xmlns:a16="http://schemas.microsoft.com/office/drawing/2014/main" id="{4561A4F2-C26D-AAC8-DD52-17383CF95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03408" y="248978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4" descr="Cancer cell - Free healthcare and medical icons">
            <a:extLst>
              <a:ext uri="{FF2B5EF4-FFF2-40B4-BE49-F238E27FC236}">
                <a16:creationId xmlns:a16="http://schemas.microsoft.com/office/drawing/2014/main" id="{3D7E0C7F-2113-F1A0-ABA1-AD2752258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640694" y="538145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FE8B6A-B996-69BA-105B-AF37F19FF864}"/>
              </a:ext>
            </a:extLst>
          </p:cNvPr>
          <p:cNvCxnSpPr/>
          <p:nvPr/>
        </p:nvCxnSpPr>
        <p:spPr>
          <a:xfrm flipH="1" flipV="1">
            <a:off x="427756" y="2701041"/>
            <a:ext cx="466659" cy="5901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DDBDDF-1044-5FE1-0B9B-34411DE22C88}"/>
              </a:ext>
            </a:extLst>
          </p:cNvPr>
          <p:cNvCxnSpPr>
            <a:cxnSpLocks/>
          </p:cNvCxnSpPr>
          <p:nvPr/>
        </p:nvCxnSpPr>
        <p:spPr>
          <a:xfrm flipH="1" flipV="1">
            <a:off x="1388326" y="3674038"/>
            <a:ext cx="263360" cy="639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F83782-9E92-A214-79EA-232C7639BDE3}"/>
              </a:ext>
            </a:extLst>
          </p:cNvPr>
          <p:cNvCxnSpPr>
            <a:cxnSpLocks/>
          </p:cNvCxnSpPr>
          <p:nvPr/>
        </p:nvCxnSpPr>
        <p:spPr>
          <a:xfrm flipV="1">
            <a:off x="2224048" y="4660802"/>
            <a:ext cx="395188" cy="439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F71F81-3EED-B2CA-9FE2-67BCF53A600D}"/>
              </a:ext>
            </a:extLst>
          </p:cNvPr>
          <p:cNvCxnSpPr>
            <a:cxnSpLocks/>
          </p:cNvCxnSpPr>
          <p:nvPr/>
        </p:nvCxnSpPr>
        <p:spPr>
          <a:xfrm>
            <a:off x="2115678" y="5158314"/>
            <a:ext cx="139826" cy="1959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" descr="Neutrophil granulocyte - Servier Medical Art">
            <a:extLst>
              <a:ext uri="{FF2B5EF4-FFF2-40B4-BE49-F238E27FC236}">
                <a16:creationId xmlns:a16="http://schemas.microsoft.com/office/drawing/2014/main" id="{374446D3-9B11-19BE-4F52-20E5B12B5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823" y="253437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Neutrophil granulocyte - Servier Medical Art">
            <a:extLst>
              <a:ext uri="{FF2B5EF4-FFF2-40B4-BE49-F238E27FC236}">
                <a16:creationId xmlns:a16="http://schemas.microsoft.com/office/drawing/2014/main" id="{98C71C0A-441F-B57E-FF9E-D8B5061E1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216" y="5624379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Neutrophil granulocyte - Servier Medical Art">
            <a:extLst>
              <a:ext uri="{FF2B5EF4-FFF2-40B4-BE49-F238E27FC236}">
                <a16:creationId xmlns:a16="http://schemas.microsoft.com/office/drawing/2014/main" id="{92045AA5-0A4A-3CFF-909F-2D2017183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510" y="4678302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Neutrophil granulocyte - Servier Medical Art">
            <a:extLst>
              <a:ext uri="{FF2B5EF4-FFF2-40B4-BE49-F238E27FC236}">
                <a16:creationId xmlns:a16="http://schemas.microsoft.com/office/drawing/2014/main" id="{07049CFB-DF72-46E9-6D3A-7301E756C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7658" y="3868500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4" descr="Cancer cell - Free healthcare and medical icons">
            <a:extLst>
              <a:ext uri="{FF2B5EF4-FFF2-40B4-BE49-F238E27FC236}">
                <a16:creationId xmlns:a16="http://schemas.microsoft.com/office/drawing/2014/main" id="{40EB981B-5831-1F73-4272-9DCF4C8625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075786" y="356134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4" descr="Cancer cell - Free healthcare and medical icons">
            <a:extLst>
              <a:ext uri="{FF2B5EF4-FFF2-40B4-BE49-F238E27FC236}">
                <a16:creationId xmlns:a16="http://schemas.microsoft.com/office/drawing/2014/main" id="{1C7BADFA-A651-0AC2-EAB0-275D287F4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269296" y="366014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4" descr="Cancer cell - Free healthcare and medical icons">
            <a:extLst>
              <a:ext uri="{FF2B5EF4-FFF2-40B4-BE49-F238E27FC236}">
                <a16:creationId xmlns:a16="http://schemas.microsoft.com/office/drawing/2014/main" id="{CDACBD64-1357-419C-C5F2-9DF0FEEC9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42964" y="490252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34" descr="Cancer cell - Free healthcare and medical icons">
            <a:extLst>
              <a:ext uri="{FF2B5EF4-FFF2-40B4-BE49-F238E27FC236}">
                <a16:creationId xmlns:a16="http://schemas.microsoft.com/office/drawing/2014/main" id="{A8F00A5A-1A09-1815-6110-07CC0204B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1100" y="275990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34" descr="Cancer cell - Free healthcare and medical icons">
            <a:extLst>
              <a:ext uri="{FF2B5EF4-FFF2-40B4-BE49-F238E27FC236}">
                <a16:creationId xmlns:a16="http://schemas.microsoft.com/office/drawing/2014/main" id="{D9E1D67F-58CE-39A9-E1C5-5E777B219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868386" y="565156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3DE979-E7E6-4767-2117-DCC487ADCE4B}"/>
              </a:ext>
            </a:extLst>
          </p:cNvPr>
          <p:cNvCxnSpPr/>
          <p:nvPr/>
        </p:nvCxnSpPr>
        <p:spPr>
          <a:xfrm flipH="1" flipV="1">
            <a:off x="4655448" y="2971157"/>
            <a:ext cx="466659" cy="59018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FA60CFA-1430-5F61-AD04-EFA32B62DEEA}"/>
              </a:ext>
            </a:extLst>
          </p:cNvPr>
          <p:cNvCxnSpPr>
            <a:cxnSpLocks/>
          </p:cNvCxnSpPr>
          <p:nvPr/>
        </p:nvCxnSpPr>
        <p:spPr>
          <a:xfrm flipH="1">
            <a:off x="6211690" y="3358988"/>
            <a:ext cx="99287" cy="47122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802C71D-9A69-13A1-3D39-1328E13BC81E}"/>
              </a:ext>
            </a:extLst>
          </p:cNvPr>
          <p:cNvCxnSpPr>
            <a:cxnSpLocks/>
          </p:cNvCxnSpPr>
          <p:nvPr/>
        </p:nvCxnSpPr>
        <p:spPr>
          <a:xfrm flipV="1">
            <a:off x="7310646" y="4200377"/>
            <a:ext cx="100576" cy="432027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E55959F-37E0-0AF0-CE6F-1650081C4605}"/>
              </a:ext>
            </a:extLst>
          </p:cNvPr>
          <p:cNvCxnSpPr>
            <a:cxnSpLocks/>
          </p:cNvCxnSpPr>
          <p:nvPr/>
        </p:nvCxnSpPr>
        <p:spPr>
          <a:xfrm>
            <a:off x="6343370" y="5428430"/>
            <a:ext cx="139826" cy="19594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293E52D3-A3A8-4B1E-0A4E-0F20D4E22BAE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897763B-7137-370D-3C24-5A424925F905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5E6509-2C2F-B6F3-32EA-87932FC09515}"/>
              </a:ext>
            </a:extLst>
          </p:cNvPr>
          <p:cNvSpPr txBox="1"/>
          <p:nvPr/>
        </p:nvSpPr>
        <p:spPr>
          <a:xfrm>
            <a:off x="8431532" y="1751694"/>
            <a:ext cx="322233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Minimum Distance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Finds shortest distance between each PMN and each target cell</a:t>
            </a:r>
          </a:p>
          <a:p>
            <a:endParaRPr lang="en-US" dirty="0"/>
          </a:p>
          <a:p>
            <a:r>
              <a:rPr lang="en-US" dirty="0"/>
              <a:t>Least Distance Pairwise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Creates one-one pairs between PMN and target.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 to lesser cell counts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ex: ex if there is 4 PMN cells and 5 target cells there will be only 4 pairs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the Hungarian Algorithm to find least sum of distances  </a:t>
            </a:r>
          </a:p>
        </p:txBody>
      </p:sp>
    </p:spTree>
    <p:extLst>
      <p:ext uri="{BB962C8B-B14F-4D97-AF65-F5344CB8AC3E}">
        <p14:creationId xmlns:p14="http://schemas.microsoft.com/office/powerpoint/2010/main" val="25833884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0A16E-200B-5670-8EEE-6BDDCA046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4549228-3313-7489-D862-C410C6FD9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560AD0-A774-870A-F2DC-8D0CC0ADDE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DA5A0E-4404-1EF7-52D3-7177EFC5EB59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5BEAA7-DAEB-417C-C61A-3A9E6E7057C9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2A921FD-D785-CECF-918A-1B12B2039723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7A880CB-9EC0-3957-C7BC-58DC6578D362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8" descr="Generated image">
            <a:extLst>
              <a:ext uri="{FF2B5EF4-FFF2-40B4-BE49-F238E27FC236}">
                <a16:creationId xmlns:a16="http://schemas.microsoft.com/office/drawing/2014/main" id="{AFF6BF84-802D-CF3D-F4B9-9EA940D6F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51158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Neutrophil granulocyte - Servier Medical Art">
            <a:extLst>
              <a:ext uri="{FF2B5EF4-FFF2-40B4-BE49-F238E27FC236}">
                <a16:creationId xmlns:a16="http://schemas.microsoft.com/office/drawing/2014/main" id="{0F014FC7-1C59-6863-6F29-E553AB55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697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Neutrophil granulocyte - Servier Medical Art">
            <a:extLst>
              <a:ext uri="{FF2B5EF4-FFF2-40B4-BE49-F238E27FC236}">
                <a16:creationId xmlns:a16="http://schemas.microsoft.com/office/drawing/2014/main" id="{A81B73D7-C440-FCEB-8539-06A2D7B4D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584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38" descr="Generated image">
            <a:extLst>
              <a:ext uri="{FF2B5EF4-FFF2-40B4-BE49-F238E27FC236}">
                <a16:creationId xmlns:a16="http://schemas.microsoft.com/office/drawing/2014/main" id="{7D9834C0-0B6E-BF0F-46DB-9C743FD8D8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272005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38" descr="Generated image">
            <a:extLst>
              <a:ext uri="{FF2B5EF4-FFF2-40B4-BE49-F238E27FC236}">
                <a16:creationId xmlns:a16="http://schemas.microsoft.com/office/drawing/2014/main" id="{5D62F70E-62E5-4C7C-608E-6E6279DD3D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782339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Neutrophil granulocyte - Servier Medical Art">
            <a:extLst>
              <a:ext uri="{FF2B5EF4-FFF2-40B4-BE49-F238E27FC236}">
                <a16:creationId xmlns:a16="http://schemas.microsoft.com/office/drawing/2014/main" id="{0F124F04-9A32-A1EA-6DC5-1BB6DA384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004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Neutrophil granulocyte - Servier Medical Art">
            <a:extLst>
              <a:ext uri="{FF2B5EF4-FFF2-40B4-BE49-F238E27FC236}">
                <a16:creationId xmlns:a16="http://schemas.microsoft.com/office/drawing/2014/main" id="{5EA74109-A5EE-C214-680B-706383AAE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7594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Neutrophil granulocyte - Servier Medical Art">
            <a:extLst>
              <a:ext uri="{FF2B5EF4-FFF2-40B4-BE49-F238E27FC236}">
                <a16:creationId xmlns:a16="http://schemas.microsoft.com/office/drawing/2014/main" id="{711C18BA-510E-FC2F-6C4E-7B9D1804A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5640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Neutrophil granulocyte - Servier Medical Art">
            <a:extLst>
              <a:ext uri="{FF2B5EF4-FFF2-40B4-BE49-F238E27FC236}">
                <a16:creationId xmlns:a16="http://schemas.microsoft.com/office/drawing/2014/main" id="{F5624245-7D9B-8E3B-4ABB-3A256C2037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487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8D7DF7C-3DD4-C387-98CF-FA16E9DB39AB}"/>
              </a:ext>
            </a:extLst>
          </p:cNvPr>
          <p:cNvCxnSpPr/>
          <p:nvPr/>
        </p:nvCxnSpPr>
        <p:spPr>
          <a:xfrm flipV="1">
            <a:off x="624314" y="3392132"/>
            <a:ext cx="252753" cy="392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44E8DB-848B-83A9-40CA-2E5C117A6FE4}"/>
              </a:ext>
            </a:extLst>
          </p:cNvPr>
          <p:cNvCxnSpPr>
            <a:cxnSpLocks/>
          </p:cNvCxnSpPr>
          <p:nvPr/>
        </p:nvCxnSpPr>
        <p:spPr>
          <a:xfrm flipH="1" flipV="1">
            <a:off x="1107912" y="3280505"/>
            <a:ext cx="309470" cy="1465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3242BFB-56CE-E72E-84B7-74A6DE0B139D}"/>
              </a:ext>
            </a:extLst>
          </p:cNvPr>
          <p:cNvCxnSpPr>
            <a:stCxn id="40" idx="3"/>
          </p:cNvCxnSpPr>
          <p:nvPr/>
        </p:nvCxnSpPr>
        <p:spPr>
          <a:xfrm flipV="1">
            <a:off x="877067" y="4705111"/>
            <a:ext cx="875828" cy="679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2E514A1-4676-DC1F-49E3-4E72715171F8}"/>
              </a:ext>
            </a:extLst>
          </p:cNvPr>
          <p:cNvCxnSpPr/>
          <p:nvPr/>
        </p:nvCxnSpPr>
        <p:spPr>
          <a:xfrm flipV="1">
            <a:off x="1387366" y="4833064"/>
            <a:ext cx="479271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512C49D-48F9-9EEC-8FC5-2DC6103342C8}"/>
              </a:ext>
            </a:extLst>
          </p:cNvPr>
          <p:cNvCxnSpPr/>
          <p:nvPr/>
        </p:nvCxnSpPr>
        <p:spPr>
          <a:xfrm flipH="1" flipV="1">
            <a:off x="2122155" y="4833064"/>
            <a:ext cx="373127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31738E5-EEEE-E373-6368-E5186DEB85F4}"/>
              </a:ext>
            </a:extLst>
          </p:cNvPr>
          <p:cNvCxnSpPr>
            <a:endCxn id="22" idx="3"/>
          </p:cNvCxnSpPr>
          <p:nvPr/>
        </p:nvCxnSpPr>
        <p:spPr>
          <a:xfrm flipH="1" flipV="1">
            <a:off x="2228894" y="4704468"/>
            <a:ext cx="1409787" cy="3936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Picture 38" descr="Generated image">
            <a:extLst>
              <a:ext uri="{FF2B5EF4-FFF2-40B4-BE49-F238E27FC236}">
                <a16:creationId xmlns:a16="http://schemas.microsoft.com/office/drawing/2014/main" id="{C92CF7AC-E13E-17AA-5A42-1357D8C407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5013007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6" name="Picture 2" descr="Neutrophil granulocyte - Servier Medical Art">
            <a:extLst>
              <a:ext uri="{FF2B5EF4-FFF2-40B4-BE49-F238E27FC236}">
                <a16:creationId xmlns:a16="http://schemas.microsoft.com/office/drawing/2014/main" id="{7176D302-DC54-B580-AC47-1F7E8FAAA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0546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2" descr="Neutrophil granulocyte - Servier Medical Art">
            <a:extLst>
              <a:ext uri="{FF2B5EF4-FFF2-40B4-BE49-F238E27FC236}">
                <a16:creationId xmlns:a16="http://schemas.microsoft.com/office/drawing/2014/main" id="{3FD4F1E2-EFEF-534F-9CD7-3FBA290CE1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433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38" descr="Generated image">
            <a:extLst>
              <a:ext uri="{FF2B5EF4-FFF2-40B4-BE49-F238E27FC236}">
                <a16:creationId xmlns:a16="http://schemas.microsoft.com/office/drawing/2014/main" id="{A94D9EF3-FFC6-D559-8EFB-0F5CC0F60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533854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38" descr="Generated image">
            <a:extLst>
              <a:ext uri="{FF2B5EF4-FFF2-40B4-BE49-F238E27FC236}">
                <a16:creationId xmlns:a16="http://schemas.microsoft.com/office/drawing/2014/main" id="{243E4A2F-35F9-F931-4D0A-69300BA2B9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044188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 descr="Neutrophil granulocyte - Servier Medical Art">
            <a:extLst>
              <a:ext uri="{FF2B5EF4-FFF2-40B4-BE49-F238E27FC236}">
                <a16:creationId xmlns:a16="http://schemas.microsoft.com/office/drawing/2014/main" id="{8C50B497-36C3-653E-9738-30187C5A6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853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2" descr="Neutrophil granulocyte - Servier Medical Art">
            <a:extLst>
              <a:ext uri="{FF2B5EF4-FFF2-40B4-BE49-F238E27FC236}">
                <a16:creationId xmlns:a16="http://schemas.microsoft.com/office/drawing/2014/main" id="{BC1AAA14-5527-20CE-4947-50869CE76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9443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Neutrophil granulocyte - Servier Medical Art">
            <a:extLst>
              <a:ext uri="{FF2B5EF4-FFF2-40B4-BE49-F238E27FC236}">
                <a16:creationId xmlns:a16="http://schemas.microsoft.com/office/drawing/2014/main" id="{8F22FC82-7BAF-56AC-B228-876A80E54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7489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" descr="Neutrophil granulocyte - Servier Medical Art">
            <a:extLst>
              <a:ext uri="{FF2B5EF4-FFF2-40B4-BE49-F238E27FC236}">
                <a16:creationId xmlns:a16="http://schemas.microsoft.com/office/drawing/2014/main" id="{D030D32D-3F20-6E8D-946D-42C507409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3336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D11C1F01-788B-E231-1538-0BA596EA5AA1}"/>
              </a:ext>
            </a:extLst>
          </p:cNvPr>
          <p:cNvCxnSpPr/>
          <p:nvPr/>
        </p:nvCxnSpPr>
        <p:spPr>
          <a:xfrm flipV="1">
            <a:off x="4886163" y="3392132"/>
            <a:ext cx="252753" cy="39299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3B09BD6-C7B3-31E9-ADA2-F37F8A5F0813}"/>
              </a:ext>
            </a:extLst>
          </p:cNvPr>
          <p:cNvCxnSpPr>
            <a:cxnSpLocks/>
          </p:cNvCxnSpPr>
          <p:nvPr/>
        </p:nvCxnSpPr>
        <p:spPr>
          <a:xfrm flipH="1">
            <a:off x="6081013" y="2844099"/>
            <a:ext cx="489554" cy="454542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DCA0F4C-74B4-3654-664D-D095F2666A43}"/>
              </a:ext>
            </a:extLst>
          </p:cNvPr>
          <p:cNvCxnSpPr>
            <a:cxnSpLocks/>
          </p:cNvCxnSpPr>
          <p:nvPr/>
        </p:nvCxnSpPr>
        <p:spPr>
          <a:xfrm flipH="1" flipV="1">
            <a:off x="6384004" y="4852179"/>
            <a:ext cx="373127" cy="601403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ight Brace 83">
            <a:extLst>
              <a:ext uri="{FF2B5EF4-FFF2-40B4-BE49-F238E27FC236}">
                <a16:creationId xmlns:a16="http://schemas.microsoft.com/office/drawing/2014/main" id="{1213BD66-1AFE-651A-204D-FA0816E845E4}"/>
              </a:ext>
            </a:extLst>
          </p:cNvPr>
          <p:cNvSpPr/>
          <p:nvPr/>
        </p:nvSpPr>
        <p:spPr>
          <a:xfrm rot="6433529">
            <a:off x="5379447" y="3306900"/>
            <a:ext cx="210261" cy="392996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BC75A34-9221-15FF-C8B5-90F5C2FF3602}"/>
              </a:ext>
            </a:extLst>
          </p:cNvPr>
          <p:cNvCxnSpPr>
            <a:cxnSpLocks/>
            <a:stCxn id="84" idx="1"/>
          </p:cNvCxnSpPr>
          <p:nvPr/>
        </p:nvCxnSpPr>
        <p:spPr>
          <a:xfrm>
            <a:off x="5453445" y="3603813"/>
            <a:ext cx="3230839" cy="926315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30D3FDB2-43CD-DECD-3353-28470E2A1AC1}"/>
              </a:ext>
            </a:extLst>
          </p:cNvPr>
          <p:cNvSpPr txBox="1"/>
          <p:nvPr/>
        </p:nvSpPr>
        <p:spPr>
          <a:xfrm>
            <a:off x="8797159" y="4452182"/>
            <a:ext cx="23468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Minimizing total distance means that the shortest distance isn’t necessarily used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34A78BC-8A6E-7C42-BCEE-0092D01A673C}"/>
              </a:ext>
            </a:extLst>
          </p:cNvPr>
          <p:cNvSpPr txBox="1"/>
          <p:nvPr/>
        </p:nvSpPr>
        <p:spPr>
          <a:xfrm>
            <a:off x="8558375" y="1776859"/>
            <a:ext cx="272965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cases when target cells are much fewer than PMN cells the least distance pairwise method produces shorter distance values</a:t>
            </a:r>
          </a:p>
        </p:txBody>
      </p:sp>
    </p:spTree>
    <p:extLst>
      <p:ext uri="{BB962C8B-B14F-4D97-AF65-F5344CB8AC3E}">
        <p14:creationId xmlns:p14="http://schemas.microsoft.com/office/powerpoint/2010/main" val="534742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78D91-012F-A256-2B3C-B6E7051BE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0065BA-B7C0-D459-FFB0-D191857D8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 Distance to Immune and tumor cells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4E3FE-8D5F-F29F-79D5-714FEF910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440E71-0637-8554-89B5-4DF29A3F6395}"/>
              </a:ext>
            </a:extLst>
          </p:cNvPr>
          <p:cNvSpPr txBox="1"/>
          <p:nvPr/>
        </p:nvSpPr>
        <p:spPr>
          <a:xfrm>
            <a:off x="7699879" y="1765738"/>
            <a:ext cx="393507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No large differences in general. There are a lot of confounding factors.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The neighborhood and delta analysis produce similar analysis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Non responders have closer distances to CD8, Treg cells which aligns with the neighborhood analysis despite </a:t>
            </a:r>
            <a:r>
              <a:rPr lang="en-US" b="1" dirty="0"/>
              <a:t>higher CD8, Treg frequency</a:t>
            </a:r>
            <a:r>
              <a:rPr lang="en-US" dirty="0"/>
              <a:t> in responder groups.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7BF2F4-0A20-4D74-8AE8-AC89C0408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98" y="1853655"/>
            <a:ext cx="7386670" cy="95263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D6F03D-C559-F165-F160-1CB1CB094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98" y="2992194"/>
            <a:ext cx="7386670" cy="9632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730F57-00B9-AD29-0BDD-11CEEBDED7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299" y="4141358"/>
            <a:ext cx="7386670" cy="94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4473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4A6-71CA-2707-E9CD-FA4E5114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BFAB37-A5C5-F0BB-D6D5-F4EF77CBF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7C9C6-A1ED-3421-ABF4-B3D311C0E7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4D1F08B-F2CC-863A-8FB2-6DAD9A125ED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313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14714</TotalTime>
  <Words>1075</Words>
  <Application>Microsoft Office PowerPoint</Application>
  <PresentationFormat>Widescreen</PresentationFormat>
  <Paragraphs>206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Red Hat Display</vt:lpstr>
      <vt:lpstr>Red Hat Text</vt:lpstr>
      <vt:lpstr>Office Theme</vt:lpstr>
      <vt:lpstr>Week 7 Updates Shapiro</vt:lpstr>
      <vt:lpstr>Example of similar </vt:lpstr>
      <vt:lpstr>Agenda</vt:lpstr>
      <vt:lpstr>NR vs R example CD8-PMN Colocalization – All Cells</vt:lpstr>
      <vt:lpstr>NR vs R example CD8-PMN Colocalization – CD8/PMN Only</vt:lpstr>
      <vt:lpstr>NR vs R example CD8-PMN Colocalization – CD8/PMN Only</vt:lpstr>
      <vt:lpstr>NR vs R example CD8-PMN Colocalization – PMN/Tumor Only</vt:lpstr>
      <vt:lpstr>Agenda</vt:lpstr>
      <vt:lpstr>Statistical Significance</vt:lpstr>
      <vt:lpstr>Normal Distribution Test</vt:lpstr>
      <vt:lpstr>Agenda </vt:lpstr>
      <vt:lpstr>Radial Distance – Example Methodology</vt:lpstr>
      <vt:lpstr>Choosing Radial Distances </vt:lpstr>
      <vt:lpstr>Choosing Radial Distances - Entire Dataset</vt:lpstr>
      <vt:lpstr>Delta Cell Interaction Percentages</vt:lpstr>
      <vt:lpstr>Agenda </vt:lpstr>
      <vt:lpstr>Box Plot of Cellular Neighborhood</vt:lpstr>
      <vt:lpstr>Box Plot of Delta Cellular Neighborhood</vt:lpstr>
      <vt:lpstr>Statistical Significance (Two Tailed T Test)</vt:lpstr>
      <vt:lpstr>Select Box Plot Neighborhood Delta (Radius = 15 µm)</vt:lpstr>
      <vt:lpstr>Select Box Plot Neighborhood Delta (Radius = 15 µm)</vt:lpstr>
      <vt:lpstr>Statistical Significance (Two Tailed T Test)</vt:lpstr>
      <vt:lpstr>Statistical Significance (Two Tailed T Test)</vt:lpstr>
      <vt:lpstr>High CD8 and PMN interactions in non responders</vt:lpstr>
      <vt:lpstr>Agenda </vt:lpstr>
      <vt:lpstr>PMN Distance Methodology – Example 1</vt:lpstr>
      <vt:lpstr>PMN Distance Methodology – Example 2</vt:lpstr>
      <vt:lpstr>PMN Distance to Immune and tumor cells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Johns</cp:lastModifiedBy>
  <cp:revision>16</cp:revision>
  <dcterms:created xsi:type="dcterms:W3CDTF">2025-06-03T19:55:18Z</dcterms:created>
  <dcterms:modified xsi:type="dcterms:W3CDTF">2025-07-08T15:12:06Z</dcterms:modified>
</cp:coreProperties>
</file>