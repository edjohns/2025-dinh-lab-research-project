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64" r:id="rId2"/>
    <p:sldId id="288" r:id="rId3"/>
    <p:sldId id="291" r:id="rId4"/>
    <p:sldId id="293" r:id="rId5"/>
    <p:sldId id="295" r:id="rId6"/>
    <p:sldId id="298" r:id="rId7"/>
    <p:sldId id="297" r:id="rId8"/>
    <p:sldId id="299" r:id="rId9"/>
    <p:sldId id="300" r:id="rId10"/>
    <p:sldId id="301" r:id="rId11"/>
    <p:sldId id="289" r:id="rId12"/>
    <p:sldId id="267" r:id="rId13"/>
    <p:sldId id="29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0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979"/>
    <p:restoredTop sz="96327"/>
  </p:normalViewPr>
  <p:slideViewPr>
    <p:cSldViewPr snapToGrid="0" snapToObjects="1">
      <p:cViewPr varScale="1">
        <p:scale>
          <a:sx n="152" d="100"/>
          <a:sy n="152" d="100"/>
        </p:scale>
        <p:origin x="156" y="29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03F8B-A50D-DE44-9304-39C43FB3C5B0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51AFC-CD2E-5241-A5F6-3092FE774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24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87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EE3FD-6E55-F24B-A475-247FC6D7E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AF8693-C447-38FE-E3A0-295EAE10D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F98412-9D44-B26E-9C17-39621703C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0B736-CC86-D589-91B3-030B8B908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096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AD0AB-6FFF-0FE2-542B-7E6DE929C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B95AAB-6C35-A2A4-C081-C346FBF22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9E9687-9AB4-2EE9-75F9-561B22552C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1618E-2F0F-B6F8-537D-79996BC10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94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46B21-67A9-403D-8557-3F44B6C93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B0546-98F7-75C9-8C5C-C87A46D73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0B5D1F-0522-99BF-8591-6FBC39A17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35072-E588-1AA6-9D51-05106FEA4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9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1D86C-3F85-1751-B494-C57CBF672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8471F-7EDE-870C-7534-60E2B2A69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DA0D41-0A9A-CB92-735A-A0C30BC45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5F37B-23C9-2800-C0BB-A48DD43F3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06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4015D-6EC2-73AA-4048-9F86FD8F6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EF3674-77B6-A08F-F55F-D7FD63D40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52F42-CCD8-DC86-C083-60EA1505D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6112A-CCCD-8FAE-6472-2033A58BC1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39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49752-A749-4AAF-4E51-72FEE1708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E6E58C-FD57-6202-6E73-2809D8ECC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FE0B22-D1F0-70F8-81D7-2F7FC50D7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BF02C-2A1A-8CFC-6682-C95114BEBD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309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D972C-1403-7096-0109-DAF7FD952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A600C9-81B4-7C8B-F9B8-9B45B49AE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2DE33-DE05-8D56-E073-AAE2FBAAD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489E3-0035-1D19-D9F6-095DCE53F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8401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B4AA4-55D7-1B97-25C1-7A89A58B7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28EB2-90D2-78D2-817E-F5D06B51ED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8CE49-6A8A-2B22-C9F0-CE454B51B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E2009-C772-D9B0-B832-D44FC6A7E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3942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10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08C57-1A5C-8841-96B4-FBA737509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283B5-37A7-9C2A-F1B5-65A62C741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44759-2460-F3F3-A805-8CE142B34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D0273-57DB-FB8E-6ACB-BE83183464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95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50344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3F103DCA-791F-6E43-9621-0FFA8B544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0464798" cy="6858000"/>
          </a:xfrm>
          <a:custGeom>
            <a:avLst/>
            <a:gdLst>
              <a:gd name="connsiteX0" fmla="*/ 0 w 10464798"/>
              <a:gd name="connsiteY0" fmla="*/ 0 h 6858000"/>
              <a:gd name="connsiteX1" fmla="*/ 406398 w 10464798"/>
              <a:gd name="connsiteY1" fmla="*/ 0 h 6858000"/>
              <a:gd name="connsiteX2" fmla="*/ 5498904 w 10464798"/>
              <a:gd name="connsiteY2" fmla="*/ 0 h 6858000"/>
              <a:gd name="connsiteX3" fmla="*/ 5850595 w 10464798"/>
              <a:gd name="connsiteY3" fmla="*/ 0 h 6858000"/>
              <a:gd name="connsiteX4" fmla="*/ 10464798 w 10464798"/>
              <a:gd name="connsiteY4" fmla="*/ 0 h 6858000"/>
              <a:gd name="connsiteX5" fmla="*/ 8809500 w 10464798"/>
              <a:gd name="connsiteY5" fmla="*/ 6858000 h 6858000"/>
              <a:gd name="connsiteX6" fmla="*/ 5850595 w 10464798"/>
              <a:gd name="connsiteY6" fmla="*/ 6858000 h 6858000"/>
              <a:gd name="connsiteX7" fmla="*/ 3843605 w 10464798"/>
              <a:gd name="connsiteY7" fmla="*/ 6858000 h 6858000"/>
              <a:gd name="connsiteX8" fmla="*/ 406398 w 10464798"/>
              <a:gd name="connsiteY8" fmla="*/ 6858000 h 6858000"/>
              <a:gd name="connsiteX9" fmla="*/ 0 w 10464798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64798" h="6858000">
                <a:moveTo>
                  <a:pt x="0" y="0"/>
                </a:moveTo>
                <a:lnTo>
                  <a:pt x="406398" y="0"/>
                </a:lnTo>
                <a:lnTo>
                  <a:pt x="5498904" y="0"/>
                </a:lnTo>
                <a:lnTo>
                  <a:pt x="5850595" y="0"/>
                </a:lnTo>
                <a:lnTo>
                  <a:pt x="10464798" y="0"/>
                </a:lnTo>
                <a:lnTo>
                  <a:pt x="8809500" y="6858000"/>
                </a:lnTo>
                <a:lnTo>
                  <a:pt x="5850595" y="6858000"/>
                </a:lnTo>
                <a:lnTo>
                  <a:pt x="3843605" y="6858000"/>
                </a:lnTo>
                <a:lnTo>
                  <a:pt x="40639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F70F15D-372D-5B45-92B4-1B626E0FC1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3429374"/>
            <a:ext cx="6159500" cy="410882"/>
          </a:xfrm>
        </p:spPr>
        <p:txBody>
          <a:bodyPr/>
          <a:lstStyle>
            <a:lvl1pPr marL="0" indent="0">
              <a:buNone/>
              <a:defRPr sz="2300">
                <a:ln>
                  <a:noFill/>
                </a:ln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78D8B-ED2A-3D41-92FB-40BA9FA8C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3182248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995C957-CDB9-C342-8243-6F7D03851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31067"/>
            <a:ext cx="7530353" cy="295466"/>
          </a:xfrm>
        </p:spPr>
        <p:txBody>
          <a:bodyPr bIns="0" anchor="b" anchorCtr="0"/>
          <a:lstStyle>
            <a:lvl1pPr marL="0" indent="0">
              <a:buNone/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name, position, unit/faculty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77E77-56F4-4C9C-AB6A-89C89D91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814627"/>
            <a:ext cx="7530353" cy="1213153"/>
          </a:xfrm>
        </p:spPr>
        <p:txBody>
          <a:bodyPr rIns="182880"/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presentation title in title or sentence case</a:t>
            </a:r>
          </a:p>
        </p:txBody>
      </p:sp>
    </p:spTree>
    <p:extLst>
      <p:ext uri="{BB962C8B-B14F-4D97-AF65-F5344CB8AC3E}">
        <p14:creationId xmlns:p14="http://schemas.microsoft.com/office/powerpoint/2010/main" val="412645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886E-E0D4-5815-83F1-889895E62F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98298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362628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CA86-D8D8-70D0-C62A-9DE796C67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47244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2D8BB4A-46A4-1343-BA88-41D2E1C0EA5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38900" y="1524000"/>
            <a:ext cx="49149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578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48866-4F69-FCBB-5935-007FD86EB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7" name="Chart Placeholder 11">
            <a:extLst>
              <a:ext uri="{FF2B5EF4-FFF2-40B4-BE49-F238E27FC236}">
                <a16:creationId xmlns:a16="http://schemas.microsoft.com/office/drawing/2014/main" id="{8C3425D9-7762-3940-B7DA-B13EC3E058B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1524000" y="1523999"/>
            <a:ext cx="9829800" cy="463186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</p:spTree>
    <p:extLst>
      <p:ext uri="{BB962C8B-B14F-4D97-AF65-F5344CB8AC3E}">
        <p14:creationId xmlns:p14="http://schemas.microsoft.com/office/powerpoint/2010/main" val="190273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317D7-4166-2ED9-1881-347107691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C8FC7EDF-D625-4640-AF06-22ADBDC8C8C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57200" y="1530523"/>
            <a:ext cx="542925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Chart Placeholder 11">
            <a:extLst>
              <a:ext uri="{FF2B5EF4-FFF2-40B4-BE49-F238E27FC236}">
                <a16:creationId xmlns:a16="http://schemas.microsoft.com/office/drawing/2014/main" id="{8C45FAA6-1118-A24C-9C61-949F410E7C81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438900" y="1530523"/>
            <a:ext cx="491490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437A76B-A3F1-E24A-9B72-37AC8087EC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68639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200CC43E-DAB5-6045-A3FC-1B1B9D6DFFE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1524000" y="1524000"/>
            <a:ext cx="9829800" cy="34163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table	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0123EED-038F-7B4A-92A4-A606571FF5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72BC0-0141-2D65-4384-82B2C1196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</p:spTree>
    <p:extLst>
      <p:ext uri="{BB962C8B-B14F-4D97-AF65-F5344CB8AC3E}">
        <p14:creationId xmlns:p14="http://schemas.microsoft.com/office/powerpoint/2010/main" val="211924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868577-B206-C94D-AA90-90C71CB8A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479"/>
          <a:stretch/>
        </p:blipFill>
        <p:spPr>
          <a:xfrm>
            <a:off x="0" y="0"/>
            <a:ext cx="116459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5926B1D-2681-6D40-953A-D41E624A2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9900" y="1104900"/>
            <a:ext cx="10210800" cy="464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C3DB9-D22E-37C1-8603-44F3A55AA5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200" y="3125519"/>
            <a:ext cx="9080500" cy="603563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section header slide title</a:t>
            </a:r>
          </a:p>
        </p:txBody>
      </p:sp>
    </p:spTree>
    <p:extLst>
      <p:ext uri="{BB962C8B-B14F-4D97-AF65-F5344CB8AC3E}">
        <p14:creationId xmlns:p14="http://schemas.microsoft.com/office/powerpoint/2010/main" val="289242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19960-C592-024C-8B94-896ABF102E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42036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21CCA-1EB8-EE46-B4BA-5F3D975754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1FB28-7881-67A2-3E03-9832EF556D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13392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Blank Slide</a:t>
            </a:r>
          </a:p>
        </p:txBody>
      </p:sp>
    </p:spTree>
    <p:extLst>
      <p:ext uri="{BB962C8B-B14F-4D97-AF65-F5344CB8AC3E}">
        <p14:creationId xmlns:p14="http://schemas.microsoft.com/office/powerpoint/2010/main" val="649504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43DB41-0E0D-3DA2-7A76-C0187BC8F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Red Closing Slide</a:t>
            </a:r>
          </a:p>
        </p:txBody>
      </p:sp>
    </p:spTree>
    <p:extLst>
      <p:ext uri="{BB962C8B-B14F-4D97-AF65-F5344CB8AC3E}">
        <p14:creationId xmlns:p14="http://schemas.microsoft.com/office/powerpoint/2010/main" val="79783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7DB89E-70AA-E4A2-9190-47A86DFC3F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Black Closing slide</a:t>
            </a:r>
          </a:p>
        </p:txBody>
      </p:sp>
    </p:spTree>
    <p:extLst>
      <p:ext uri="{BB962C8B-B14F-4D97-AF65-F5344CB8AC3E}">
        <p14:creationId xmlns:p14="http://schemas.microsoft.com/office/powerpoint/2010/main" val="1052615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0455"/>
            <a:ext cx="10896600" cy="517065"/>
          </a:xfrm>
          <a:prstGeom prst="rect">
            <a:avLst/>
          </a:prstGeom>
        </p:spPr>
        <p:txBody>
          <a:bodyPr vert="horz" wrap="square" lIns="0" tIns="45720" rIns="91440" bIns="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0896600" cy="1775358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43580"/>
            <a:ext cx="1116106" cy="31442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274320" tIns="45720" rIns="274320" bIns="45720" rtlCol="0" anchor="ctr">
            <a:spAutoFit/>
          </a:bodyPr>
          <a:lstStyle>
            <a:lvl1pPr algn="l">
              <a:defRPr sz="14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0EB5E6-54D5-9945-8BFD-BD46E2794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47553" y="0"/>
            <a:ext cx="5706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W–Madison crest logo in red">
            <a:extLst>
              <a:ext uri="{FF2B5EF4-FFF2-40B4-BE49-F238E27FC236}">
                <a16:creationId xmlns:a16="http://schemas.microsoft.com/office/drawing/2014/main" id="{52794618-AA7B-F040-BD0B-B97556AA7F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704812" y="222225"/>
            <a:ext cx="456122" cy="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47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5" r:id="rId3"/>
    <p:sldLayoutId id="2147483676" r:id="rId4"/>
    <p:sldLayoutId id="2147483672" r:id="rId5"/>
    <p:sldLayoutId id="2147483673" r:id="rId6"/>
    <p:sldLayoutId id="2147483663" r:id="rId7"/>
    <p:sldLayoutId id="2147483666" r:id="rId8"/>
    <p:sldLayoutId id="2147483667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>
          <a:solidFill>
            <a:schemeClr val="tx1">
              <a:lumMod val="90000"/>
              <a:lumOff val="10000"/>
            </a:schemeClr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 userDrawn="1">
          <p15:clr>
            <a:srgbClr val="F26B43"/>
          </p15:clr>
        </p15:guide>
        <p15:guide id="2" pos="72" userDrawn="1">
          <p15:clr>
            <a:srgbClr val="F26B43"/>
          </p15:clr>
        </p15:guide>
        <p15:guide id="3" pos="7608" userDrawn="1">
          <p15:clr>
            <a:srgbClr val="F26B43"/>
          </p15:clr>
        </p15:guide>
        <p15:guide id="4" orient="horz" pos="4248" userDrawn="1">
          <p15:clr>
            <a:srgbClr val="F26B43"/>
          </p15:clr>
        </p15:guide>
        <p15:guide id="5" pos="288" userDrawn="1">
          <p15:clr>
            <a:srgbClr val="F26B43"/>
          </p15:clr>
        </p15:guide>
        <p15:guide id="6" orient="horz" pos="768" userDrawn="1">
          <p15:clr>
            <a:srgbClr val="F26B43"/>
          </p15:clr>
        </p15:guide>
        <p15:guide id="7" orient="horz" pos="960" userDrawn="1">
          <p15:clr>
            <a:srgbClr val="F26B43"/>
          </p15:clr>
        </p15:guide>
        <p15:guide id="8" orient="horz" pos="1152" userDrawn="1">
          <p15:clr>
            <a:srgbClr val="F26B43"/>
          </p15:clr>
        </p15:guide>
        <p15:guide id="9" orient="horz" pos="3888" userDrawn="1">
          <p15:clr>
            <a:srgbClr val="F26B43"/>
          </p15:clr>
        </p15:guide>
        <p15:guide id="10" pos="9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ACD601-E669-A4D5-E968-7C550AE9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399916"/>
            <a:ext cx="7530353" cy="627864"/>
          </a:xfrm>
        </p:spPr>
        <p:txBody>
          <a:bodyPr/>
          <a:lstStyle/>
          <a:p>
            <a:r>
              <a:rPr lang="en-US" dirty="0"/>
              <a:t>Week 5 Updates Shapiro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F5AA5-6B7D-494F-9865-F7AB9EBC7A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By Evan Johns </a:t>
            </a:r>
          </a:p>
        </p:txBody>
      </p:sp>
    </p:spTree>
    <p:extLst>
      <p:ext uri="{BB962C8B-B14F-4D97-AF65-F5344CB8AC3E}">
        <p14:creationId xmlns:p14="http://schemas.microsoft.com/office/powerpoint/2010/main" val="354138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C6385-5A31-7159-5739-3C4DB571C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FC03825-6AD4-BA2A-66DA-FCF759FC3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Radial Colocalization Methodology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86F22-615A-5F08-D6AB-B056866683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2AA8755-B8FC-9A76-4EC7-A68A58FDB635}"/>
              </a:ext>
            </a:extLst>
          </p:cNvPr>
          <p:cNvSpPr/>
          <p:nvPr/>
        </p:nvSpPr>
        <p:spPr>
          <a:xfrm>
            <a:off x="1485933" y="1428405"/>
            <a:ext cx="4109543" cy="383439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Neutrophil granulocyte - Servier Medical Art">
            <a:extLst>
              <a:ext uri="{FF2B5EF4-FFF2-40B4-BE49-F238E27FC236}">
                <a16:creationId xmlns:a16="http://schemas.microsoft.com/office/drawing/2014/main" id="{75F53F84-29CB-9040-AC06-7A33324D5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346" y="3056759"/>
            <a:ext cx="445712" cy="454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38" descr="Generated image">
            <a:extLst>
              <a:ext uri="{FF2B5EF4-FFF2-40B4-BE49-F238E27FC236}">
                <a16:creationId xmlns:a16="http://schemas.microsoft.com/office/drawing/2014/main" id="{42B159A6-BB06-84C2-7075-44A8090E18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2058858" y="4251927"/>
            <a:ext cx="603669" cy="55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8" descr="Generated image">
            <a:extLst>
              <a:ext uri="{FF2B5EF4-FFF2-40B4-BE49-F238E27FC236}">
                <a16:creationId xmlns:a16="http://schemas.microsoft.com/office/drawing/2014/main" id="{6947747E-A97A-CCD2-381E-D9B164BF67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2912488" y="5517665"/>
            <a:ext cx="603669" cy="55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8" descr="Generated image">
            <a:extLst>
              <a:ext uri="{FF2B5EF4-FFF2-40B4-BE49-F238E27FC236}">
                <a16:creationId xmlns:a16="http://schemas.microsoft.com/office/drawing/2014/main" id="{7DECED5C-7A11-61A7-9BDC-8B47B0F6B3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2329886" y="2970122"/>
            <a:ext cx="603669" cy="55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27F6FAA-120B-88F7-99DA-833BE2A2376F}"/>
              </a:ext>
            </a:extLst>
          </p:cNvPr>
          <p:cNvSpPr/>
          <p:nvPr/>
        </p:nvSpPr>
        <p:spPr>
          <a:xfrm>
            <a:off x="1942040" y="2626861"/>
            <a:ext cx="1368447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Weight = 1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F70A4E7-7F3F-F3FB-B2DD-C41547CE5331}"/>
              </a:ext>
            </a:extLst>
          </p:cNvPr>
          <p:cNvCxnSpPr>
            <a:cxnSpLocks/>
          </p:cNvCxnSpPr>
          <p:nvPr/>
        </p:nvCxnSpPr>
        <p:spPr>
          <a:xfrm flipH="1">
            <a:off x="2510094" y="3409854"/>
            <a:ext cx="846923" cy="895890"/>
          </a:xfrm>
          <a:prstGeom prst="straightConnector1">
            <a:avLst/>
          </a:prstGeom>
          <a:ln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C594656-8220-85B0-B7FA-C32C8AFDFA0F}"/>
              </a:ext>
            </a:extLst>
          </p:cNvPr>
          <p:cNvCxnSpPr>
            <a:cxnSpLocks/>
          </p:cNvCxnSpPr>
          <p:nvPr/>
        </p:nvCxnSpPr>
        <p:spPr>
          <a:xfrm flipH="1">
            <a:off x="2912488" y="3183813"/>
            <a:ext cx="339148" cy="49494"/>
          </a:xfrm>
          <a:prstGeom prst="straightConnector1">
            <a:avLst/>
          </a:prstGeom>
          <a:ln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6C140F5-474E-3D19-48ED-1A3B7F4017A8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3214323" y="3562254"/>
            <a:ext cx="295094" cy="1955411"/>
          </a:xfrm>
          <a:prstGeom prst="straightConnector1">
            <a:avLst/>
          </a:prstGeom>
          <a:ln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9F23AE4-C141-2D69-F016-908B396F1E6C}"/>
              </a:ext>
            </a:extLst>
          </p:cNvPr>
          <p:cNvSpPr/>
          <p:nvPr/>
        </p:nvSpPr>
        <p:spPr>
          <a:xfrm>
            <a:off x="1138812" y="3938955"/>
            <a:ext cx="1606455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Weight = 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BD9C1C-FECE-DDC9-81BB-3F1312A6ECB4}"/>
              </a:ext>
            </a:extLst>
          </p:cNvPr>
          <p:cNvSpPr/>
          <p:nvPr/>
        </p:nvSpPr>
        <p:spPr>
          <a:xfrm>
            <a:off x="3622931" y="5526682"/>
            <a:ext cx="2218487" cy="583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Weight (Outside of interaction range) 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8B0CDAA-EA03-67AD-9CB6-692C5B0ABFBA}"/>
              </a:ext>
            </a:extLst>
          </p:cNvPr>
          <p:cNvCxnSpPr>
            <a:cxnSpLocks/>
            <a:endCxn id="6" idx="6"/>
          </p:cNvCxnSpPr>
          <p:nvPr/>
        </p:nvCxnSpPr>
        <p:spPr>
          <a:xfrm>
            <a:off x="3622931" y="3345604"/>
            <a:ext cx="1972545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86DA843-84AE-AF9A-C39D-24447E9B8164}"/>
              </a:ext>
            </a:extLst>
          </p:cNvPr>
          <p:cNvCxnSpPr>
            <a:cxnSpLocks/>
          </p:cNvCxnSpPr>
          <p:nvPr/>
        </p:nvCxnSpPr>
        <p:spPr>
          <a:xfrm flipV="1">
            <a:off x="4460516" y="2188254"/>
            <a:ext cx="1315168" cy="1128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FA8133D-2459-6637-AF4F-323B548C90C0}"/>
              </a:ext>
            </a:extLst>
          </p:cNvPr>
          <p:cNvSpPr/>
          <p:nvPr/>
        </p:nvSpPr>
        <p:spPr>
          <a:xfrm>
            <a:off x="5934141" y="2030599"/>
            <a:ext cx="2081048" cy="233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21-micron diameter</a:t>
            </a:r>
          </a:p>
        </p:txBody>
      </p:sp>
    </p:spTree>
    <p:extLst>
      <p:ext uri="{BB962C8B-B14F-4D97-AF65-F5344CB8AC3E}">
        <p14:creationId xmlns:p14="http://schemas.microsoft.com/office/powerpoint/2010/main" val="1245225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A32CC-E9C5-9403-E64C-9E3064C7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FFBB32-96EA-00C2-713E-C628E2055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21 Micron PMN-Cell Type Notable Findings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25E85-5493-8B8D-08FD-CA8046B282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130216F-E9E6-0AF4-EAB5-771218E86F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04563" y="1479162"/>
            <a:ext cx="3619762" cy="3243452"/>
          </a:xfrm>
        </p:spPr>
        <p:txBody>
          <a:bodyPr/>
          <a:lstStyle/>
          <a:p>
            <a:r>
              <a:rPr lang="en-US" dirty="0"/>
              <a:t>In non-responder groups</a:t>
            </a:r>
          </a:p>
          <a:p>
            <a:pPr lvl="1"/>
            <a:r>
              <a:rPr lang="en-US" dirty="0"/>
              <a:t>More neutrophil clustering</a:t>
            </a:r>
          </a:p>
          <a:p>
            <a:pPr lvl="1"/>
            <a:r>
              <a:rPr lang="en-US" dirty="0"/>
              <a:t>Marginally higher neutrophil-tumor </a:t>
            </a:r>
            <a:r>
              <a:rPr lang="en-US" dirty="0" err="1"/>
              <a:t>iteractions</a:t>
            </a:r>
            <a:endParaRPr lang="en-US" dirty="0"/>
          </a:p>
          <a:p>
            <a:r>
              <a:rPr lang="en-US" dirty="0"/>
              <a:t>Overall variation not huge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889C08-FE37-40A9-BD5C-12B6163647CD}"/>
              </a:ext>
            </a:extLst>
          </p:cNvPr>
          <p:cNvSpPr/>
          <p:nvPr/>
        </p:nvSpPr>
        <p:spPr>
          <a:xfrm>
            <a:off x="1109892" y="1305655"/>
            <a:ext cx="1872944" cy="1996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A8DBA4-0D6F-EB44-EA7A-14A04C02F914}"/>
              </a:ext>
            </a:extLst>
          </p:cNvPr>
          <p:cNvSpPr/>
          <p:nvPr/>
        </p:nvSpPr>
        <p:spPr>
          <a:xfrm>
            <a:off x="4856830" y="1264849"/>
            <a:ext cx="1872944" cy="1996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Non-Responder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2937BE-33C6-F565-54F2-9699794B2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92" y="1591808"/>
            <a:ext cx="3753899" cy="49803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5790C3-6AD2-D5B5-DE26-645F396AC9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4770" y="1518658"/>
            <a:ext cx="3851681" cy="500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072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FFED1-4F3E-F8CC-25A3-3B68E9F8A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017F4AE-3D1C-60FB-4AFA-302391A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Delta Cell Interaction Percentages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7D7EB-A8D6-7ECC-0A44-8F2D19F54B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4294527" cy="3231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2156BEA-CDFB-AFF4-05C2-45CE490DBAAE}"/>
              </a:ext>
            </a:extLst>
          </p:cNvPr>
          <p:cNvSpPr/>
          <p:nvPr/>
        </p:nvSpPr>
        <p:spPr>
          <a:xfrm>
            <a:off x="393285" y="2071719"/>
            <a:ext cx="3049051" cy="3531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Neighboring Cells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74B25B2-4820-F7F5-F320-A93BC56F49A5}"/>
              </a:ext>
            </a:extLst>
          </p:cNvPr>
          <p:cNvSpPr/>
          <p:nvPr/>
        </p:nvSpPr>
        <p:spPr>
          <a:xfrm>
            <a:off x="4682556" y="2071719"/>
            <a:ext cx="3219121" cy="3531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Overall Sample Frequency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C2C404-8ACC-B191-41CA-A27C8FCC1693}"/>
              </a:ext>
            </a:extLst>
          </p:cNvPr>
          <p:cNvSpPr/>
          <p:nvPr/>
        </p:nvSpPr>
        <p:spPr>
          <a:xfrm>
            <a:off x="3840479" y="2117981"/>
            <a:ext cx="384679" cy="2618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BF3D68-B4FB-8285-B420-1EBBFF675BDA}"/>
              </a:ext>
            </a:extLst>
          </p:cNvPr>
          <p:cNvSpPr/>
          <p:nvPr/>
        </p:nvSpPr>
        <p:spPr>
          <a:xfrm>
            <a:off x="8166735" y="2105515"/>
            <a:ext cx="384679" cy="2618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E27B0E-E635-F4C9-1C05-A322595C3FED}"/>
              </a:ext>
            </a:extLst>
          </p:cNvPr>
          <p:cNvSpPr/>
          <p:nvPr/>
        </p:nvSpPr>
        <p:spPr>
          <a:xfrm>
            <a:off x="8949557" y="2071719"/>
            <a:ext cx="2237654" cy="308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Delta Matrix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D229C0-7859-1515-35AD-E8CBC6A769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36"/>
          <a:stretch>
            <a:fillRect/>
          </a:stretch>
        </p:blipFill>
        <p:spPr>
          <a:xfrm>
            <a:off x="4294527" y="2735966"/>
            <a:ext cx="4377989" cy="404320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DF9AEC9-EA93-02CA-74D1-F58317DFF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8" y="2524788"/>
            <a:ext cx="3663562" cy="327373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1A253B1-55D8-EEAE-6BC5-2C2587A8A735}"/>
              </a:ext>
            </a:extLst>
          </p:cNvPr>
          <p:cNvSpPr txBox="1"/>
          <p:nvPr/>
        </p:nvSpPr>
        <p:spPr>
          <a:xfrm>
            <a:off x="9005263" y="2735966"/>
            <a:ext cx="20116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PMN = 24.9 – 0.96 =24.16%</a:t>
            </a:r>
          </a:p>
          <a:p>
            <a:r>
              <a:rPr lang="en-US" dirty="0"/>
              <a:t>Tumor=-19.4%</a:t>
            </a:r>
          </a:p>
          <a:p>
            <a:r>
              <a:rPr lang="en-US" dirty="0"/>
              <a:t>Endo= - 8.1%</a:t>
            </a:r>
          </a:p>
          <a:p>
            <a:r>
              <a:rPr lang="en-US" dirty="0" err="1"/>
              <a:t>Etc</a:t>
            </a:r>
            <a:r>
              <a:rPr lang="en-US" dirty="0"/>
              <a:t>…..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AB72F9D-4869-90B0-9AA1-3E5F25307E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9974" y="6557602"/>
            <a:ext cx="4207225" cy="22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00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F0C9C-0BF3-3343-5513-17DBD31C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6B021D8-D6B1-350E-AC12-8BFE09038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Delta Matrix compared to overall frequency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917C21-51B0-C037-0253-BA3E6EED79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7DBD000-9BDD-0201-5C69-E296DE672F0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00778" y="1643818"/>
            <a:ext cx="3487332" cy="4901855"/>
          </a:xfrm>
        </p:spPr>
        <p:txBody>
          <a:bodyPr/>
          <a:lstStyle/>
          <a:p>
            <a:r>
              <a:rPr lang="en-US" dirty="0"/>
              <a:t>Compared to overall cellular frequency responders were </a:t>
            </a:r>
            <a:r>
              <a:rPr lang="en-US" b="1" dirty="0"/>
              <a:t>more likely to be near tumor cells than non-responders.</a:t>
            </a:r>
            <a:r>
              <a:rPr lang="en-US" dirty="0"/>
              <a:t> </a:t>
            </a:r>
          </a:p>
          <a:p>
            <a:r>
              <a:rPr lang="en-US" b="1" dirty="0"/>
              <a:t>CD8 and CD4 numbers are similar. </a:t>
            </a:r>
            <a:r>
              <a:rPr lang="en-US" dirty="0"/>
              <a:t>Correcting for overall cell numbers removes the closer association found in the neighborhood analysis in week 4.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62E548-A333-39CD-77C6-56E17607A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41" y="1597388"/>
            <a:ext cx="3609639" cy="45120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89B26E-23F5-493F-5BC1-CF60CE1C6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0580" y="1595244"/>
            <a:ext cx="3663619" cy="456062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F3DC2B8-58F8-3D5C-8B94-11DBF705B8A5}"/>
              </a:ext>
            </a:extLst>
          </p:cNvPr>
          <p:cNvSpPr/>
          <p:nvPr/>
        </p:nvSpPr>
        <p:spPr>
          <a:xfrm>
            <a:off x="1109892" y="1372466"/>
            <a:ext cx="1872944" cy="1996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Responder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D53968-F369-1B57-ACAD-8B13F6520320}"/>
              </a:ext>
            </a:extLst>
          </p:cNvPr>
          <p:cNvSpPr/>
          <p:nvPr/>
        </p:nvSpPr>
        <p:spPr>
          <a:xfrm>
            <a:off x="4856830" y="1331660"/>
            <a:ext cx="1872944" cy="1996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Non-Responder</a:t>
            </a:r>
          </a:p>
        </p:txBody>
      </p:sp>
    </p:spTree>
    <p:extLst>
      <p:ext uri="{BB962C8B-B14F-4D97-AF65-F5344CB8AC3E}">
        <p14:creationId xmlns:p14="http://schemas.microsoft.com/office/powerpoint/2010/main" val="3673209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7087D-A57A-35EA-2500-1FCB466BB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F1681-651F-452B-F02D-A09B5BEFE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Means Clustering – Delta Neighborhood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15474-5734-90C4-C0A0-D13EC55D8A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AF73362-A564-B3A6-F9BF-01A6904A66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65660" y="1524000"/>
            <a:ext cx="4688139" cy="3387081"/>
          </a:xfrm>
        </p:spPr>
        <p:txBody>
          <a:bodyPr/>
          <a:lstStyle/>
          <a:p>
            <a:r>
              <a:rPr lang="en-US" dirty="0"/>
              <a:t>In the delta neighborhood k means clustering PC1 appear linked to tumor co-localization.</a:t>
            </a:r>
          </a:p>
          <a:p>
            <a:r>
              <a:rPr lang="en-US" dirty="0"/>
              <a:t>Cluster 1 patients with higher PMN colocalization had better response rates than those who did not. (64% vs 46%). </a:t>
            </a:r>
          </a:p>
          <a:p>
            <a:pPr lvl="1"/>
            <a:r>
              <a:rPr lang="en-US" dirty="0"/>
              <a:t>They were located closer to tumor cells and farther from immune cells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172D82-0F90-D1E7-1ADA-BE9905028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32268"/>
            <a:ext cx="5733160" cy="35372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FE04DA-DEED-12C3-2D68-7B5B8DDC7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26" y="5289856"/>
            <a:ext cx="8992062" cy="105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1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B43DB-3C36-C4E6-A3E7-FC26C35A3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Means Clustering – Delta Neighborhood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62354-4178-E8F5-CCC8-1D39DF7659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9915AEF-1F46-AB2C-B4D5-E5C622E058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65660" y="1524000"/>
            <a:ext cx="4688139" cy="3229602"/>
          </a:xfrm>
        </p:spPr>
        <p:txBody>
          <a:bodyPr/>
          <a:lstStyle/>
          <a:p>
            <a:r>
              <a:rPr lang="en-US" dirty="0"/>
              <a:t>In the delta neighborhood k means clustering PC1 appear linked to tumor co-localization.</a:t>
            </a:r>
          </a:p>
          <a:p>
            <a:r>
              <a:rPr lang="en-US" dirty="0"/>
              <a:t>Cluster 0 patients with higher PMN colocalization had better response rates than those who did not.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D3C57A9-7417-F9A6-87C1-8DA80D638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67" y="1317999"/>
            <a:ext cx="6004531" cy="375849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06AD7D1-8B26-A8FB-F5FD-FBB460CC4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921" y="5175297"/>
            <a:ext cx="6178275" cy="90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27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E3ADF-9921-1571-27E0-BC2DD4A37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30DE326-E014-E963-0AAA-F4E62BC07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4314"/>
            <a:ext cx="8674188" cy="594885"/>
          </a:xfrm>
        </p:spPr>
        <p:txBody>
          <a:bodyPr/>
          <a:lstStyle/>
          <a:p>
            <a:r>
              <a:rPr lang="en-US" dirty="0"/>
              <a:t>Distance Calculations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BE3AD-7021-9829-9569-2CE01DC660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Neutrophil granulocyte - Servier Medical Art">
            <a:extLst>
              <a:ext uri="{FF2B5EF4-FFF2-40B4-BE49-F238E27FC236}">
                <a16:creationId xmlns:a16="http://schemas.microsoft.com/office/drawing/2014/main" id="{ABDCA048-DE87-93AE-2860-116A4BE18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2943" y="3422343"/>
            <a:ext cx="445712" cy="454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6" descr="Cd8 T Cell Clip Art at Clker.com - vector clip art online, royalty free &amp;  public domain">
            <a:extLst>
              <a:ext uri="{FF2B5EF4-FFF2-40B4-BE49-F238E27FC236}">
                <a16:creationId xmlns:a16="http://schemas.microsoft.com/office/drawing/2014/main" id="{326C4F9C-069B-54D3-7637-D433F1E946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AutoShape 16" descr="T Cell PNG Images - CleanPNG">
            <a:extLst>
              <a:ext uri="{FF2B5EF4-FFF2-40B4-BE49-F238E27FC236}">
                <a16:creationId xmlns:a16="http://schemas.microsoft.com/office/drawing/2014/main" id="{910C446B-1230-1799-F836-B9F9155A93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6003" y="2609193"/>
            <a:ext cx="2738996" cy="273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AutoShape 18" descr="T Cell Illustration">
            <a:extLst>
              <a:ext uri="{FF2B5EF4-FFF2-40B4-BE49-F238E27FC236}">
                <a16:creationId xmlns:a16="http://schemas.microsoft.com/office/drawing/2014/main" id="{6846E232-CA40-42C6-FB94-A8E54CA9D2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2913468"/>
            <a:ext cx="304800" cy="820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AutoShape 30" descr="T Cell Clip Art at Clker.com - vector clip art online, royalty free &amp;  public domain">
            <a:extLst>
              <a:ext uri="{FF2B5EF4-FFF2-40B4-BE49-F238E27FC236}">
                <a16:creationId xmlns:a16="http://schemas.microsoft.com/office/drawing/2014/main" id="{04FB5719-4677-DFFC-9389-694B6F8377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58" name="Picture 34" descr="Cancer cell - Free healthcare and medical icons">
            <a:extLst>
              <a:ext uri="{FF2B5EF4-FFF2-40B4-BE49-F238E27FC236}">
                <a16:creationId xmlns:a16="http://schemas.microsoft.com/office/drawing/2014/main" id="{2807CC16-47B4-429E-AC06-BE55261EF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337155" y="2913468"/>
            <a:ext cx="540232" cy="54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34" descr="Cancer cell - Free healthcare and medical icons">
            <a:extLst>
              <a:ext uri="{FF2B5EF4-FFF2-40B4-BE49-F238E27FC236}">
                <a16:creationId xmlns:a16="http://schemas.microsoft.com/office/drawing/2014/main" id="{78269A20-5B0E-A7F5-F376-88F80283A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975598" y="3257683"/>
            <a:ext cx="540232" cy="54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34" descr="Cancer cell - Free healthcare and medical icons">
            <a:extLst>
              <a:ext uri="{FF2B5EF4-FFF2-40B4-BE49-F238E27FC236}">
                <a16:creationId xmlns:a16="http://schemas.microsoft.com/office/drawing/2014/main" id="{3FBE0F8B-5AFD-1911-6F19-BB0A91DF1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347664" y="3553285"/>
            <a:ext cx="540232" cy="54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34" descr="Cancer cell - Free healthcare and medical icons">
            <a:extLst>
              <a:ext uri="{FF2B5EF4-FFF2-40B4-BE49-F238E27FC236}">
                <a16:creationId xmlns:a16="http://schemas.microsoft.com/office/drawing/2014/main" id="{7389A13E-C194-CFE7-E091-74C8B6F05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688199" y="3206969"/>
            <a:ext cx="540232" cy="54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34" descr="Cancer cell - Free healthcare and medical icons">
            <a:extLst>
              <a:ext uri="{FF2B5EF4-FFF2-40B4-BE49-F238E27FC236}">
                <a16:creationId xmlns:a16="http://schemas.microsoft.com/office/drawing/2014/main" id="{86327B38-E83C-F64F-DC5F-63CC69E85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790149" y="3718824"/>
            <a:ext cx="540232" cy="54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4" descr="Cancer cell - Free healthcare and medical icons">
            <a:extLst>
              <a:ext uri="{FF2B5EF4-FFF2-40B4-BE49-F238E27FC236}">
                <a16:creationId xmlns:a16="http://schemas.microsoft.com/office/drawing/2014/main" id="{C547A884-45AF-9159-D6EA-2A11F6A3B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777537" y="2631002"/>
            <a:ext cx="540232" cy="54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4" descr="Cancer cell - Free healthcare and medical icons">
            <a:extLst>
              <a:ext uri="{FF2B5EF4-FFF2-40B4-BE49-F238E27FC236}">
                <a16:creationId xmlns:a16="http://schemas.microsoft.com/office/drawing/2014/main" id="{B2EB8E17-6DC2-D0B2-FB9C-096052697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130684" y="2944210"/>
            <a:ext cx="540232" cy="54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4" descr="Cancer cell - Free healthcare and medical icons">
            <a:extLst>
              <a:ext uri="{FF2B5EF4-FFF2-40B4-BE49-F238E27FC236}">
                <a16:creationId xmlns:a16="http://schemas.microsoft.com/office/drawing/2014/main" id="{9A5618EB-4A1E-03A0-1568-C5B61037B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130684" y="3429000"/>
            <a:ext cx="540232" cy="54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AutoShape 6" descr="Cd8 T Cell Clip Art at Clker.com - vector clip art online, royalty free &amp;  public domain">
            <a:extLst>
              <a:ext uri="{FF2B5EF4-FFF2-40B4-BE49-F238E27FC236}">
                <a16:creationId xmlns:a16="http://schemas.microsoft.com/office/drawing/2014/main" id="{3AE661E4-ABCF-BBB5-87B0-6A4A659691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32105" y="201811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AutoShape 18" descr="T Cell Illustration">
            <a:extLst>
              <a:ext uri="{FF2B5EF4-FFF2-40B4-BE49-F238E27FC236}">
                <a16:creationId xmlns:a16="http://schemas.microsoft.com/office/drawing/2014/main" id="{C153176E-63D9-AF7D-7595-677270FC68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84505" y="1654984"/>
            <a:ext cx="304800" cy="820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AutoShape 30" descr="T Cell Clip Art at Clker.com - vector clip art online, royalty free &amp;  public domain">
            <a:extLst>
              <a:ext uri="{FF2B5EF4-FFF2-40B4-BE49-F238E27FC236}">
                <a16:creationId xmlns:a16="http://schemas.microsoft.com/office/drawing/2014/main" id="{830F8888-BB51-B960-A2D0-FBD22E79CC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84505" y="217051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9" name="Picture 34" descr="Cancer cell - Free healthcare and medical icons">
            <a:extLst>
              <a:ext uri="{FF2B5EF4-FFF2-40B4-BE49-F238E27FC236}">
                <a16:creationId xmlns:a16="http://schemas.microsoft.com/office/drawing/2014/main" id="{D37F332D-A41E-806E-0081-140A1E689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5660" y="1654984"/>
            <a:ext cx="540232" cy="54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4" descr="Cancer cell - Free healthcare and medical icons">
            <a:extLst>
              <a:ext uri="{FF2B5EF4-FFF2-40B4-BE49-F238E27FC236}">
                <a16:creationId xmlns:a16="http://schemas.microsoft.com/office/drawing/2014/main" id="{6DF86A4D-31C3-6A3F-1F9D-AB72AB141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4103" y="1999199"/>
            <a:ext cx="540232" cy="54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34" descr="Cancer cell - Free healthcare and medical icons">
            <a:extLst>
              <a:ext uri="{FF2B5EF4-FFF2-40B4-BE49-F238E27FC236}">
                <a16:creationId xmlns:a16="http://schemas.microsoft.com/office/drawing/2014/main" id="{91F9C3F1-F4B1-BFA1-DAC5-56F8272B5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476704" y="1948485"/>
            <a:ext cx="540232" cy="54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34" descr="Cancer cell - Free healthcare and medical icons">
            <a:extLst>
              <a:ext uri="{FF2B5EF4-FFF2-40B4-BE49-F238E27FC236}">
                <a16:creationId xmlns:a16="http://schemas.microsoft.com/office/drawing/2014/main" id="{63C2B980-9BCA-1AFD-3FC2-7E43A34EA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19189" y="1685726"/>
            <a:ext cx="540232" cy="54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34" descr="Cancer cell - Free healthcare and medical icons">
            <a:extLst>
              <a:ext uri="{FF2B5EF4-FFF2-40B4-BE49-F238E27FC236}">
                <a16:creationId xmlns:a16="http://schemas.microsoft.com/office/drawing/2014/main" id="{B688C3CC-0289-840A-6030-B861C1694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19189" y="2170516"/>
            <a:ext cx="540232" cy="54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03B723C-F44F-5C08-17B0-02E28AF35383}"/>
              </a:ext>
            </a:extLst>
          </p:cNvPr>
          <p:cNvCxnSpPr>
            <a:cxnSpLocks/>
          </p:cNvCxnSpPr>
          <p:nvPr/>
        </p:nvCxnSpPr>
        <p:spPr>
          <a:xfrm flipH="1" flipV="1">
            <a:off x="2382841" y="2559663"/>
            <a:ext cx="1486470" cy="9174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6251B74-0A2D-6709-6125-4650A3A1356E}"/>
              </a:ext>
            </a:extLst>
          </p:cNvPr>
          <p:cNvCxnSpPr/>
          <p:nvPr/>
        </p:nvCxnSpPr>
        <p:spPr>
          <a:xfrm>
            <a:off x="4460516" y="3581400"/>
            <a:ext cx="43310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41ECD6EF-8D44-E8F4-D04C-EBB0E5B5B8F7}"/>
              </a:ext>
            </a:extLst>
          </p:cNvPr>
          <p:cNvSpPr/>
          <p:nvPr/>
        </p:nvSpPr>
        <p:spPr>
          <a:xfrm>
            <a:off x="5304571" y="2340261"/>
            <a:ext cx="1368447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Tumor Cells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E1473D7-E7D0-703A-6B2D-7AC7B73B43FB}"/>
              </a:ext>
            </a:extLst>
          </p:cNvPr>
          <p:cNvCxnSpPr>
            <a:cxnSpLocks/>
          </p:cNvCxnSpPr>
          <p:nvPr/>
        </p:nvCxnSpPr>
        <p:spPr>
          <a:xfrm flipH="1" flipV="1">
            <a:off x="2535241" y="2125717"/>
            <a:ext cx="1384069" cy="13279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06F8CDC-E93A-BDEF-4860-6FFDEEE0D6EC}"/>
              </a:ext>
            </a:extLst>
          </p:cNvPr>
          <p:cNvCxnSpPr>
            <a:cxnSpLocks/>
          </p:cNvCxnSpPr>
          <p:nvPr/>
        </p:nvCxnSpPr>
        <p:spPr>
          <a:xfrm flipH="1" flipV="1">
            <a:off x="1919189" y="2322916"/>
            <a:ext cx="1917541" cy="12303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59280F9-B390-8C61-F0C4-AD00BA3FCE9F}"/>
              </a:ext>
            </a:extLst>
          </p:cNvPr>
          <p:cNvCxnSpPr>
            <a:cxnSpLocks/>
          </p:cNvCxnSpPr>
          <p:nvPr/>
        </p:nvCxnSpPr>
        <p:spPr>
          <a:xfrm flipH="1" flipV="1">
            <a:off x="1202613" y="2452327"/>
            <a:ext cx="2621803" cy="11837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2" name="Picture 38" descr="Generated image">
            <a:extLst>
              <a:ext uri="{FF2B5EF4-FFF2-40B4-BE49-F238E27FC236}">
                <a16:creationId xmlns:a16="http://schemas.microsoft.com/office/drawing/2014/main" id="{09452A9D-5E27-80BB-ECAF-90C15AEF26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1476704" y="3969232"/>
            <a:ext cx="603669" cy="55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38" descr="Generated image">
            <a:extLst>
              <a:ext uri="{FF2B5EF4-FFF2-40B4-BE49-F238E27FC236}">
                <a16:creationId xmlns:a16="http://schemas.microsoft.com/office/drawing/2014/main" id="{D452D3C2-2E81-7376-4980-DC8AA5CAF3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3501484" y="4336672"/>
            <a:ext cx="603669" cy="55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38" descr="Generated image">
            <a:extLst>
              <a:ext uri="{FF2B5EF4-FFF2-40B4-BE49-F238E27FC236}">
                <a16:creationId xmlns:a16="http://schemas.microsoft.com/office/drawing/2014/main" id="{5BBDE199-A472-2F18-166E-9ECACDB894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700666" y="5007274"/>
            <a:ext cx="603669" cy="55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8697B875-461A-2846-95DA-820579EDEC2E}"/>
              </a:ext>
            </a:extLst>
          </p:cNvPr>
          <p:cNvSpPr/>
          <p:nvPr/>
        </p:nvSpPr>
        <p:spPr>
          <a:xfrm>
            <a:off x="1884505" y="5003251"/>
            <a:ext cx="1368447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CD8+ T-Cells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84E5B38-4506-666E-BB45-1772C6C849AA}"/>
              </a:ext>
            </a:extLst>
          </p:cNvPr>
          <p:cNvCxnSpPr>
            <a:endCxn id="1062" idx="3"/>
          </p:cNvCxnSpPr>
          <p:nvPr/>
        </p:nvCxnSpPr>
        <p:spPr>
          <a:xfrm flipH="1">
            <a:off x="2080373" y="3747201"/>
            <a:ext cx="1756357" cy="497425"/>
          </a:xfrm>
          <a:prstGeom prst="straightConnector1">
            <a:avLst/>
          </a:prstGeom>
          <a:ln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0198353-FD7A-59D1-9E33-AB54597AA726}"/>
              </a:ext>
            </a:extLst>
          </p:cNvPr>
          <p:cNvCxnSpPr/>
          <p:nvPr/>
        </p:nvCxnSpPr>
        <p:spPr>
          <a:xfrm flipH="1">
            <a:off x="1254935" y="3823401"/>
            <a:ext cx="2614376" cy="1316158"/>
          </a:xfrm>
          <a:prstGeom prst="straightConnector1">
            <a:avLst/>
          </a:prstGeom>
          <a:ln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Straight Arrow Connector 1024">
            <a:extLst>
              <a:ext uri="{FF2B5EF4-FFF2-40B4-BE49-F238E27FC236}">
                <a16:creationId xmlns:a16="http://schemas.microsoft.com/office/drawing/2014/main" id="{16EF8200-5541-5E30-F9D1-C1E5B011A555}"/>
              </a:ext>
            </a:extLst>
          </p:cNvPr>
          <p:cNvCxnSpPr>
            <a:endCxn id="57" idx="0"/>
          </p:cNvCxnSpPr>
          <p:nvPr/>
        </p:nvCxnSpPr>
        <p:spPr>
          <a:xfrm flipH="1">
            <a:off x="3803319" y="3876627"/>
            <a:ext cx="188510" cy="460045"/>
          </a:xfrm>
          <a:prstGeom prst="straightConnector1">
            <a:avLst/>
          </a:prstGeom>
          <a:ln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24F4643A-92EB-1090-C2D2-E409ED97989F}"/>
              </a:ext>
            </a:extLst>
          </p:cNvPr>
          <p:cNvCxnSpPr/>
          <p:nvPr/>
        </p:nvCxnSpPr>
        <p:spPr>
          <a:xfrm>
            <a:off x="4677066" y="3581400"/>
            <a:ext cx="838764" cy="1135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249801A4-FFBC-3784-6D43-6282E4525FBF}"/>
              </a:ext>
            </a:extLst>
          </p:cNvPr>
          <p:cNvSpPr/>
          <p:nvPr/>
        </p:nvSpPr>
        <p:spPr>
          <a:xfrm>
            <a:off x="5512675" y="4764400"/>
            <a:ext cx="1998017" cy="236363"/>
          </a:xfrm>
          <a:prstGeom prst="rect">
            <a:avLst/>
          </a:prstGeom>
          <a:solidFill>
            <a:srgbClr val="0070C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Closest Tumor Cell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1D9D48D2-E21C-4F15-5A8A-95390DB9C1D6}"/>
              </a:ext>
            </a:extLst>
          </p:cNvPr>
          <p:cNvSpPr/>
          <p:nvPr/>
        </p:nvSpPr>
        <p:spPr>
          <a:xfrm>
            <a:off x="4250383" y="5415253"/>
            <a:ext cx="1998017" cy="236363"/>
          </a:xfrm>
          <a:prstGeom prst="rect">
            <a:avLst/>
          </a:prstGeom>
          <a:solidFill>
            <a:srgbClr val="0070C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Closest CD8 T-Cell</a:t>
            </a:r>
          </a:p>
        </p:txBody>
      </p:sp>
      <p:cxnSp>
        <p:nvCxnSpPr>
          <p:cNvPr id="1033" name="Straight Arrow Connector 1032">
            <a:extLst>
              <a:ext uri="{FF2B5EF4-FFF2-40B4-BE49-F238E27FC236}">
                <a16:creationId xmlns:a16="http://schemas.microsoft.com/office/drawing/2014/main" id="{8A08D3B1-9BDB-BA25-FF8F-122F97664A89}"/>
              </a:ext>
            </a:extLst>
          </p:cNvPr>
          <p:cNvCxnSpPr>
            <a:endCxn id="1031" idx="0"/>
          </p:cNvCxnSpPr>
          <p:nvPr/>
        </p:nvCxnSpPr>
        <p:spPr>
          <a:xfrm>
            <a:off x="3902943" y="4093517"/>
            <a:ext cx="1346449" cy="1321736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4" name="TextBox 1033">
            <a:extLst>
              <a:ext uri="{FF2B5EF4-FFF2-40B4-BE49-F238E27FC236}">
                <a16:creationId xmlns:a16="http://schemas.microsoft.com/office/drawing/2014/main" id="{72AD9E97-6735-326A-A567-BF6B1ACF803F}"/>
              </a:ext>
            </a:extLst>
          </p:cNvPr>
          <p:cNvSpPr txBox="1"/>
          <p:nvPr/>
        </p:nvSpPr>
        <p:spPr>
          <a:xfrm>
            <a:off x="7876452" y="1765738"/>
            <a:ext cx="35062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Finds the distance between all PMNs and specified other cell types (CD4, CD8, Treg, Tumor)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Calculates closest cell of that type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Calculates the average distance to all cells of that type</a:t>
            </a:r>
          </a:p>
        </p:txBody>
      </p:sp>
    </p:spTree>
    <p:extLst>
      <p:ext uri="{BB962C8B-B14F-4D97-AF65-F5344CB8AC3E}">
        <p14:creationId xmlns:p14="http://schemas.microsoft.com/office/powerpoint/2010/main" val="1773620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78D91-012F-A256-2B3C-B6E7051BE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00065BA-B7C0-D459-FFB0-D191857D8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PMN Distance to Immune and tumor cells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4E3FE-8D5F-F29F-79D5-714FEF910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4AD8596-0D16-A9BB-209A-086C04EEA92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650056" y="3320973"/>
            <a:ext cx="6788499" cy="111130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C6E84D-FA18-4A6E-C568-F7936A7E0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56" y="1957165"/>
            <a:ext cx="6788499" cy="11113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440E71-0637-8554-89B5-4DF29A3F6395}"/>
              </a:ext>
            </a:extLst>
          </p:cNvPr>
          <p:cNvSpPr txBox="1"/>
          <p:nvPr/>
        </p:nvSpPr>
        <p:spPr>
          <a:xfrm>
            <a:off x="7876452" y="1765738"/>
            <a:ext cx="35062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No large differences in general. There are a lot of confounding factors.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Confounding factors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Quantity of cell types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Distribution of cells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Future Directions</a:t>
            </a:r>
            <a:r>
              <a:rPr lang="en-US" dirty="0"/>
              <a:t>: weighted average interaction matrix</a:t>
            </a:r>
          </a:p>
        </p:txBody>
      </p:sp>
    </p:spTree>
    <p:extLst>
      <p:ext uri="{BB962C8B-B14F-4D97-AF65-F5344CB8AC3E}">
        <p14:creationId xmlns:p14="http://schemas.microsoft.com/office/powerpoint/2010/main" val="4018447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56402-EBDA-ACBF-7479-E26388846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C16FD20-1B58-3636-C5B1-D5EA9E0F7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391" y="411958"/>
            <a:ext cx="10896600" cy="517065"/>
          </a:xfrm>
        </p:spPr>
        <p:txBody>
          <a:bodyPr/>
          <a:lstStyle/>
          <a:p>
            <a:r>
              <a:rPr lang="en-US" dirty="0"/>
              <a:t>Weighted Average Interaction Matrix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9DD324-A741-7337-5144-BA6B2CAF5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EEA3032-73D4-CCB3-B85C-21EAE51A5357}"/>
              </a:ext>
            </a:extLst>
          </p:cNvPr>
          <p:cNvSpPr/>
          <p:nvPr/>
        </p:nvSpPr>
        <p:spPr>
          <a:xfrm>
            <a:off x="6545938" y="1511801"/>
            <a:ext cx="4109543" cy="383439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Picture 56" descr="Neutrophil granulocyte - Servier Medical Art">
            <a:extLst>
              <a:ext uri="{FF2B5EF4-FFF2-40B4-BE49-F238E27FC236}">
                <a16:creationId xmlns:a16="http://schemas.microsoft.com/office/drawing/2014/main" id="{2CECCBC3-4B83-4675-0253-5519FAC52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4351" y="3140155"/>
            <a:ext cx="445712" cy="454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38" descr="Generated image">
            <a:extLst>
              <a:ext uri="{FF2B5EF4-FFF2-40B4-BE49-F238E27FC236}">
                <a16:creationId xmlns:a16="http://schemas.microsoft.com/office/drawing/2014/main" id="{9210E258-A65B-8C6D-FC43-F9E1140C5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7118863" y="4335323"/>
            <a:ext cx="603669" cy="55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38" descr="Generated image">
            <a:extLst>
              <a:ext uri="{FF2B5EF4-FFF2-40B4-BE49-F238E27FC236}">
                <a16:creationId xmlns:a16="http://schemas.microsoft.com/office/drawing/2014/main" id="{B0932C09-F493-98AA-4FDC-BB1D3DD6F6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7972493" y="5601061"/>
            <a:ext cx="603669" cy="55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38" descr="Generated image">
            <a:extLst>
              <a:ext uri="{FF2B5EF4-FFF2-40B4-BE49-F238E27FC236}">
                <a16:creationId xmlns:a16="http://schemas.microsoft.com/office/drawing/2014/main" id="{1FE37BBD-A850-8A26-0E0B-A7A5B838A2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7389891" y="3053518"/>
            <a:ext cx="603669" cy="55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877098CF-8541-F5CE-7DC4-7FF87615F463}"/>
              </a:ext>
            </a:extLst>
          </p:cNvPr>
          <p:cNvSpPr/>
          <p:nvPr/>
        </p:nvSpPr>
        <p:spPr>
          <a:xfrm>
            <a:off x="7002045" y="2710257"/>
            <a:ext cx="1889707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 Weight (2.5)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BBA41B7-625D-3F96-B6BB-8E062E3D2E81}"/>
              </a:ext>
            </a:extLst>
          </p:cNvPr>
          <p:cNvCxnSpPr>
            <a:cxnSpLocks/>
          </p:cNvCxnSpPr>
          <p:nvPr/>
        </p:nvCxnSpPr>
        <p:spPr>
          <a:xfrm flipH="1">
            <a:off x="7570099" y="3493250"/>
            <a:ext cx="846923" cy="895890"/>
          </a:xfrm>
          <a:prstGeom prst="straightConnector1">
            <a:avLst/>
          </a:prstGeom>
          <a:ln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86B0117-F040-4AEB-C921-0424AA9644A7}"/>
              </a:ext>
            </a:extLst>
          </p:cNvPr>
          <p:cNvCxnSpPr>
            <a:cxnSpLocks/>
          </p:cNvCxnSpPr>
          <p:nvPr/>
        </p:nvCxnSpPr>
        <p:spPr>
          <a:xfrm flipH="1">
            <a:off x="7972493" y="3267209"/>
            <a:ext cx="339148" cy="49494"/>
          </a:xfrm>
          <a:prstGeom prst="straightConnector1">
            <a:avLst/>
          </a:prstGeom>
          <a:ln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4F5CD7F-3ED5-B761-4773-CBF418F031FE}"/>
              </a:ext>
            </a:extLst>
          </p:cNvPr>
          <p:cNvCxnSpPr>
            <a:cxnSpLocks/>
            <a:endCxn id="59" idx="0"/>
          </p:cNvCxnSpPr>
          <p:nvPr/>
        </p:nvCxnSpPr>
        <p:spPr>
          <a:xfrm flipH="1">
            <a:off x="8274328" y="3645650"/>
            <a:ext cx="295094" cy="1955411"/>
          </a:xfrm>
          <a:prstGeom prst="straightConnector1">
            <a:avLst/>
          </a:prstGeom>
          <a:ln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A5C10E5E-4435-E54F-0FD9-2EB7081EAC2E}"/>
              </a:ext>
            </a:extLst>
          </p:cNvPr>
          <p:cNvSpPr/>
          <p:nvPr/>
        </p:nvSpPr>
        <p:spPr>
          <a:xfrm>
            <a:off x="5543156" y="4030478"/>
            <a:ext cx="2075063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Lower Weight (0.6)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FFE403B-B0D3-23A9-48F2-97BAAD6376F6}"/>
              </a:ext>
            </a:extLst>
          </p:cNvPr>
          <p:cNvSpPr/>
          <p:nvPr/>
        </p:nvSpPr>
        <p:spPr>
          <a:xfrm>
            <a:off x="8682936" y="5610078"/>
            <a:ext cx="2218487" cy="583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Weight (Outside of interaction range) 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70D7F84-69FF-679F-33A2-931C8663E526}"/>
              </a:ext>
            </a:extLst>
          </p:cNvPr>
          <p:cNvSpPr/>
          <p:nvPr/>
        </p:nvSpPr>
        <p:spPr>
          <a:xfrm>
            <a:off x="682705" y="1423651"/>
            <a:ext cx="4109543" cy="383439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9" name="Picture 78" descr="Neutrophil granulocyte - Servier Medical Art">
            <a:extLst>
              <a:ext uri="{FF2B5EF4-FFF2-40B4-BE49-F238E27FC236}">
                <a16:creationId xmlns:a16="http://schemas.microsoft.com/office/drawing/2014/main" id="{D400354B-0840-8321-D8E5-C71718052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118" y="3052005"/>
            <a:ext cx="445712" cy="454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38" descr="Generated image">
            <a:extLst>
              <a:ext uri="{FF2B5EF4-FFF2-40B4-BE49-F238E27FC236}">
                <a16:creationId xmlns:a16="http://schemas.microsoft.com/office/drawing/2014/main" id="{1B43D1B9-FE3A-E657-46D8-D42DED4186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1255630" y="4247173"/>
            <a:ext cx="603669" cy="55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38" descr="Generated image">
            <a:extLst>
              <a:ext uri="{FF2B5EF4-FFF2-40B4-BE49-F238E27FC236}">
                <a16:creationId xmlns:a16="http://schemas.microsoft.com/office/drawing/2014/main" id="{9F194E9D-228D-60E1-6E27-110FA59D98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2109260" y="5512911"/>
            <a:ext cx="603669" cy="55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38" descr="Generated image">
            <a:extLst>
              <a:ext uri="{FF2B5EF4-FFF2-40B4-BE49-F238E27FC236}">
                <a16:creationId xmlns:a16="http://schemas.microsoft.com/office/drawing/2014/main" id="{EC554060-2563-DB37-D169-B0D0CD56E1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1526658" y="2965368"/>
            <a:ext cx="603669" cy="55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D3BCE50A-0EF1-0884-D4C7-8CF9436A5085}"/>
              </a:ext>
            </a:extLst>
          </p:cNvPr>
          <p:cNvSpPr/>
          <p:nvPr/>
        </p:nvSpPr>
        <p:spPr>
          <a:xfrm>
            <a:off x="1138812" y="2622107"/>
            <a:ext cx="1368447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Weight = 1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CE6D3EF-5B87-2C21-8E5C-8D556ABE76A6}"/>
              </a:ext>
            </a:extLst>
          </p:cNvPr>
          <p:cNvCxnSpPr>
            <a:cxnSpLocks/>
          </p:cNvCxnSpPr>
          <p:nvPr/>
        </p:nvCxnSpPr>
        <p:spPr>
          <a:xfrm flipH="1">
            <a:off x="1706866" y="3405100"/>
            <a:ext cx="846923" cy="895890"/>
          </a:xfrm>
          <a:prstGeom prst="straightConnector1">
            <a:avLst/>
          </a:prstGeom>
          <a:ln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B8AF816-6D51-33C8-3A6F-1EC5A9796F6A}"/>
              </a:ext>
            </a:extLst>
          </p:cNvPr>
          <p:cNvCxnSpPr>
            <a:cxnSpLocks/>
          </p:cNvCxnSpPr>
          <p:nvPr/>
        </p:nvCxnSpPr>
        <p:spPr>
          <a:xfrm flipH="1">
            <a:off x="2109260" y="3179059"/>
            <a:ext cx="339148" cy="49494"/>
          </a:xfrm>
          <a:prstGeom prst="straightConnector1">
            <a:avLst/>
          </a:prstGeom>
          <a:ln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3485AA3F-2EA0-18CD-20B2-F53A84D71AF5}"/>
              </a:ext>
            </a:extLst>
          </p:cNvPr>
          <p:cNvCxnSpPr>
            <a:cxnSpLocks/>
            <a:endCxn id="81" idx="0"/>
          </p:cNvCxnSpPr>
          <p:nvPr/>
        </p:nvCxnSpPr>
        <p:spPr>
          <a:xfrm flipH="1">
            <a:off x="2411095" y="3557500"/>
            <a:ext cx="295094" cy="1955411"/>
          </a:xfrm>
          <a:prstGeom prst="straightConnector1">
            <a:avLst/>
          </a:prstGeom>
          <a:ln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70A9A877-6268-DF56-55B5-70BD5645157A}"/>
              </a:ext>
            </a:extLst>
          </p:cNvPr>
          <p:cNvSpPr/>
          <p:nvPr/>
        </p:nvSpPr>
        <p:spPr>
          <a:xfrm>
            <a:off x="335584" y="3934201"/>
            <a:ext cx="1606455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Weight = 1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55974A6-DE24-2CB4-A582-58F3580F2FA6}"/>
              </a:ext>
            </a:extLst>
          </p:cNvPr>
          <p:cNvSpPr/>
          <p:nvPr/>
        </p:nvSpPr>
        <p:spPr>
          <a:xfrm>
            <a:off x="2819703" y="5521928"/>
            <a:ext cx="2218487" cy="583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Weight (Outside of interaction range) 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698A45D-E9F6-BF5E-009B-6A40AF4A097E}"/>
              </a:ext>
            </a:extLst>
          </p:cNvPr>
          <p:cNvSpPr/>
          <p:nvPr/>
        </p:nvSpPr>
        <p:spPr>
          <a:xfrm>
            <a:off x="1658532" y="1046830"/>
            <a:ext cx="2282847" cy="2832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Current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BC120A1-7D06-6FFA-D1E4-2B1EAF4D8995}"/>
              </a:ext>
            </a:extLst>
          </p:cNvPr>
          <p:cNvSpPr/>
          <p:nvPr/>
        </p:nvSpPr>
        <p:spPr>
          <a:xfrm>
            <a:off x="7509332" y="1085628"/>
            <a:ext cx="2282847" cy="2832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Proposed</a:t>
            </a:r>
          </a:p>
        </p:txBody>
      </p:sp>
    </p:spTree>
    <p:extLst>
      <p:ext uri="{BB962C8B-B14F-4D97-AF65-F5344CB8AC3E}">
        <p14:creationId xmlns:p14="http://schemas.microsoft.com/office/powerpoint/2010/main" val="164057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B6638-CFC9-29AA-B2D8-B7730B69D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6865DF7-25F9-5ED2-0A7D-979FEDE05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Directions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932924-7525-7575-5546-5CC8AE6469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555C5F6-97F6-5DAE-CC1A-A88C557B93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47148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Look for tumor-PMN interactions on genes found in Lit review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mRNA: STAT3, IL10, </a:t>
            </a:r>
            <a:r>
              <a:rPr lang="en-US" b="1" dirty="0"/>
              <a:t>PDCD1, CD274, PDCD1LG2</a:t>
            </a:r>
            <a:r>
              <a:rPr lang="en-US" dirty="0"/>
              <a:t>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Protein: PD1, PDL1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Question: Could expression of these genes along the border predict response status?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Distance weighted function for colocalization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Cells within ~30 um get some weight. So, a cell 5 um away gets more weight than a cell ~30 um away instead. Currently all cells within radius/top 6 have equal weight.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Subdivide and compare within samples (grids mentioned last week)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Mapping protein to mRNA.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Will only be feasible for some samples. 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302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831C99-7466-5707-AAF8-25B3E4A5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72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3BC14-5B7F-B4A6-2480-584307F35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D9BEE7C-B1F1-1010-A030-D1EF96AF4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695C4-7237-6FB8-921C-8DBBB0D0E7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005DC4F-1D97-0834-4934-8190F803FA0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51204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281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W-Madison 2">
      <a:dk1>
        <a:srgbClr val="202020"/>
      </a:dk1>
      <a:lt1>
        <a:srgbClr val="FFFFFF"/>
      </a:lt1>
      <a:dk2>
        <a:srgbClr val="101010"/>
      </a:dk2>
      <a:lt2>
        <a:srgbClr val="DADFE1"/>
      </a:lt2>
      <a:accent1>
        <a:srgbClr val="C5050C"/>
      </a:accent1>
      <a:accent2>
        <a:srgbClr val="8DD3CE"/>
      </a:accent2>
      <a:accent3>
        <a:srgbClr val="FCCB51"/>
      </a:accent3>
      <a:accent4>
        <a:srgbClr val="ADADAD"/>
      </a:accent4>
      <a:accent5>
        <a:srgbClr val="006992"/>
      </a:accent5>
      <a:accent6>
        <a:srgbClr val="432E4F"/>
      </a:accent6>
      <a:hlink>
        <a:srgbClr val="0479A8"/>
      </a:hlink>
      <a:folHlink>
        <a:srgbClr val="0479A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W-Madison-data-RedHat-16_9" id="{39149448-8F7A-FF49-B9B1-924C8F85E517}" vid="{49B34611-19B4-3D48-B648-24C73EA204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UW-Madison-data-RedHat-16_9</Template>
  <TotalTime>7919</TotalTime>
  <Words>469</Words>
  <Application>Microsoft Office PowerPoint</Application>
  <PresentationFormat>Widescreen</PresentationFormat>
  <Paragraphs>80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Red Hat Display</vt:lpstr>
      <vt:lpstr>Red Hat Text</vt:lpstr>
      <vt:lpstr>Office Theme</vt:lpstr>
      <vt:lpstr>Week 5 Updates Shapiro</vt:lpstr>
      <vt:lpstr>Radial Colocalization Methodology </vt:lpstr>
      <vt:lpstr>21 Micron PMN-Cell Type Notable Findings</vt:lpstr>
      <vt:lpstr>Delta Cell Interaction Percentages</vt:lpstr>
      <vt:lpstr>Delta Matrix compared to overall frequency</vt:lpstr>
      <vt:lpstr>K Means Clustering – Delta Neighborhood</vt:lpstr>
      <vt:lpstr>K Means Clustering – Delta Neighborhood</vt:lpstr>
      <vt:lpstr>Distance Calculations Methodology</vt:lpstr>
      <vt:lpstr>PMN Distance to Immune and tumor cells</vt:lpstr>
      <vt:lpstr>Weighted Average Interaction Matrix</vt:lpstr>
      <vt:lpstr>Further Directions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Johns</dc:creator>
  <cp:lastModifiedBy>Evan Daniel Johns</cp:lastModifiedBy>
  <cp:revision>9</cp:revision>
  <dcterms:created xsi:type="dcterms:W3CDTF">2025-06-03T19:55:18Z</dcterms:created>
  <dcterms:modified xsi:type="dcterms:W3CDTF">2025-06-27T22:32:53Z</dcterms:modified>
</cp:coreProperties>
</file>