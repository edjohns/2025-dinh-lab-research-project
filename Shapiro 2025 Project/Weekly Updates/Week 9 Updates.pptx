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8"/>
  </p:notesMasterIdLst>
  <p:sldIdLst>
    <p:sldId id="264" r:id="rId2"/>
    <p:sldId id="362" r:id="rId3"/>
    <p:sldId id="371" r:id="rId4"/>
    <p:sldId id="372" r:id="rId5"/>
    <p:sldId id="375" r:id="rId6"/>
    <p:sldId id="380" r:id="rId7"/>
    <p:sldId id="376" r:id="rId8"/>
    <p:sldId id="381" r:id="rId9"/>
    <p:sldId id="377" r:id="rId10"/>
    <p:sldId id="378" r:id="rId11"/>
    <p:sldId id="379" r:id="rId12"/>
    <p:sldId id="382" r:id="rId13"/>
    <p:sldId id="384" r:id="rId14"/>
    <p:sldId id="383" r:id="rId15"/>
    <p:sldId id="386" r:id="rId16"/>
    <p:sldId id="267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05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6327"/>
  </p:normalViewPr>
  <p:slideViewPr>
    <p:cSldViewPr snapToGrid="0" snapToObjects="1">
      <p:cViewPr varScale="1">
        <p:scale>
          <a:sx n="140" d="100"/>
          <a:sy n="140" d="100"/>
        </p:scale>
        <p:origin x="126" y="4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E03F8B-A50D-DE44-9304-39C43FB3C5B0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151AFC-CD2E-5241-A5F6-3092FE7745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124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4874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2B0D8-1889-7272-401E-B606A59D8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618E5C-6250-B3BD-A6F0-D33D0EB9F8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7DD196-3F35-B8B6-7E77-34C315C243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Between two samples there may be significant variation but on aggregate these changes mostly cancel each other out.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FE0741-40D8-A4B0-C68C-781426F100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4268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A0EDF-DC4F-F320-E162-C3CC7D99C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3483CE-81B6-A9D2-AD8F-73D3E171EE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DCB627-7CAA-3463-3C33-D8F1BDCE40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A50869-E797-1B6E-B5AD-E89A90B676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8685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BCF51-FA27-8A6D-C542-11EC04292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74C140-4F35-E372-214B-A14979A3B0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52BC54-A675-9EF8-937A-2E9CDC175B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99CA18-78FD-6C3C-5BC3-E48A65348F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9504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8CC6F-FA6F-1571-F031-7CDE15438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34063E-859E-1AA4-53DB-099D4F892A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915C50-2D2F-E58A-CE37-AAA848A81F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1A663E-495A-55F0-7F61-C5ED01A3DB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5673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AA30A-A67B-C607-D3BE-5DFA9FE10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32A3BD-9925-9AD0-EA73-7D7CDB5655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6D099D-319A-7F53-022F-0E2447E547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8C00F8-1A26-35BC-18FE-0C9A50AE56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3323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1FAEB-B2AA-E516-633C-3D26EE91F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38DC2A-D963-0EC7-A540-E199DF4189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D558EF-24AD-BA8D-58B6-E65D8B2411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E8F0F-5B91-C1A2-CFD2-7CE0B84706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9749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A5A26-E67A-F14E-EFAB-08C2EAE79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3DF99B-CAC0-5389-7E67-013E477FCF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665DBB-5D4C-D8F3-15F1-3A06480BA9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AA9FB5-FAAA-4875-A0A4-9D5DEEB438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7110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879DC-8425-C270-3227-42AD531D8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1A9F11-1A2A-489B-810F-17E3E0A17A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95F503-FA24-40C4-76F9-3E31D24096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EDB683-77C8-AD7C-5F38-6FD71DBA3B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8689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42C8A-26A4-7483-62E8-904951EA9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73EE9D-6E90-6F07-1899-90C345C70F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CF999A-DD2F-2E20-912A-159B97E77A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350B96-A550-2069-FA53-BA6B4CCAED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4792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54D69-708C-6594-2725-BB574C98B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1043E1-16C4-7805-A48A-624929F4AA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31916D-D54D-75AA-9F22-0DA95D8A8C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041186-13B2-7626-A00C-959A7C07D8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4061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5DC34-4EC0-6145-DB23-16E81BDC0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C9AA1F-5469-9966-4AF7-B97285B50E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9E400D-17AF-349B-48A4-37887EA637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9A74BB-9C2D-0643-3CB5-F0B789AD5A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4979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08142-29DC-22DA-6245-3755C62D9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D68169-B6C2-0728-5C0F-E1ACA1E50F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F74D67-A343-2832-4CFB-507BBB7F1F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17E136-128E-7772-744B-086880D33B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4072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37600-8674-83BF-9E78-1E0034D5D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E150BB-661F-E536-52A8-7689749471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268334-573D-F2C3-D031-EA36B89510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FF84CF-B98A-149E-C01C-BE4F89986F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548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845E8-CC21-64C4-286E-CE5E0507F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03B829-0F30-8A15-D418-BE6939DE7A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D4F91D-22DD-B388-71F9-E7E2F14AE6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C2106D-81CC-F4C6-B0F0-2AC71B06C0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1881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41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alphaModFix amt="50344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8">
            <a:extLst>
              <a:ext uri="{FF2B5EF4-FFF2-40B4-BE49-F238E27FC236}">
                <a16:creationId xmlns:a16="http://schemas.microsoft.com/office/drawing/2014/main" id="{3F103DCA-791F-6E43-9621-0FFA8B5440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0464798" cy="6858000"/>
          </a:xfrm>
          <a:custGeom>
            <a:avLst/>
            <a:gdLst>
              <a:gd name="connsiteX0" fmla="*/ 0 w 10464798"/>
              <a:gd name="connsiteY0" fmla="*/ 0 h 6858000"/>
              <a:gd name="connsiteX1" fmla="*/ 406398 w 10464798"/>
              <a:gd name="connsiteY1" fmla="*/ 0 h 6858000"/>
              <a:gd name="connsiteX2" fmla="*/ 5498904 w 10464798"/>
              <a:gd name="connsiteY2" fmla="*/ 0 h 6858000"/>
              <a:gd name="connsiteX3" fmla="*/ 5850595 w 10464798"/>
              <a:gd name="connsiteY3" fmla="*/ 0 h 6858000"/>
              <a:gd name="connsiteX4" fmla="*/ 10464798 w 10464798"/>
              <a:gd name="connsiteY4" fmla="*/ 0 h 6858000"/>
              <a:gd name="connsiteX5" fmla="*/ 8809500 w 10464798"/>
              <a:gd name="connsiteY5" fmla="*/ 6858000 h 6858000"/>
              <a:gd name="connsiteX6" fmla="*/ 5850595 w 10464798"/>
              <a:gd name="connsiteY6" fmla="*/ 6858000 h 6858000"/>
              <a:gd name="connsiteX7" fmla="*/ 3843605 w 10464798"/>
              <a:gd name="connsiteY7" fmla="*/ 6858000 h 6858000"/>
              <a:gd name="connsiteX8" fmla="*/ 406398 w 10464798"/>
              <a:gd name="connsiteY8" fmla="*/ 6858000 h 6858000"/>
              <a:gd name="connsiteX9" fmla="*/ 0 w 10464798"/>
              <a:gd name="connsiteY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64798" h="6858000">
                <a:moveTo>
                  <a:pt x="0" y="0"/>
                </a:moveTo>
                <a:lnTo>
                  <a:pt x="406398" y="0"/>
                </a:lnTo>
                <a:lnTo>
                  <a:pt x="5498904" y="0"/>
                </a:lnTo>
                <a:lnTo>
                  <a:pt x="5850595" y="0"/>
                </a:lnTo>
                <a:lnTo>
                  <a:pt x="10464798" y="0"/>
                </a:lnTo>
                <a:lnTo>
                  <a:pt x="8809500" y="6858000"/>
                </a:lnTo>
                <a:lnTo>
                  <a:pt x="5850595" y="6858000"/>
                </a:lnTo>
                <a:lnTo>
                  <a:pt x="3843605" y="6858000"/>
                </a:lnTo>
                <a:lnTo>
                  <a:pt x="40639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F70F15D-372D-5B45-92B4-1B626E0FC12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3429374"/>
            <a:ext cx="6159500" cy="410882"/>
          </a:xfrm>
        </p:spPr>
        <p:txBody>
          <a:bodyPr/>
          <a:lstStyle>
            <a:lvl1pPr marL="0" indent="0">
              <a:buNone/>
              <a:defRPr sz="2300">
                <a:ln>
                  <a:noFill/>
                </a:ln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subtitle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378D8B-ED2A-3D41-92FB-40BA9FA8CC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" y="3182248"/>
            <a:ext cx="471523" cy="94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995C957-CDB9-C342-8243-6F7D03851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9" y="6231067"/>
            <a:ext cx="7530353" cy="295466"/>
          </a:xfrm>
        </p:spPr>
        <p:txBody>
          <a:bodyPr bIns="0" anchor="b" anchorCtr="0"/>
          <a:lstStyle>
            <a:lvl1pPr marL="0" indent="0">
              <a:buNone/>
              <a:defRPr sz="18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name, position, unit/faculty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C77E77-56F4-4C9C-AB6A-89C89D91C7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1814627"/>
            <a:ext cx="7530353" cy="1213153"/>
          </a:xfrm>
        </p:spPr>
        <p:txBody>
          <a:bodyPr rIns="182880"/>
          <a:lstStyle>
            <a:lvl1pPr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presentation title in title or sentence case</a:t>
            </a:r>
          </a:p>
        </p:txBody>
      </p:sp>
    </p:spTree>
    <p:extLst>
      <p:ext uri="{BB962C8B-B14F-4D97-AF65-F5344CB8AC3E}">
        <p14:creationId xmlns:p14="http://schemas.microsoft.com/office/powerpoint/2010/main" val="4126455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886E-E0D4-5815-83F1-889895E62F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02134"/>
            <a:ext cx="10896600" cy="517065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969AA8-F260-814E-8CAE-0885CD16F6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" y="1331912"/>
            <a:ext cx="471523" cy="94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FBF89922-C537-DD47-8C8F-19B8B33E65F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24000" y="1524000"/>
            <a:ext cx="9829800" cy="4648200"/>
          </a:xfrm>
        </p:spPr>
        <p:txBody>
          <a:bodyPr/>
          <a:lstStyle/>
          <a:p>
            <a:pPr lvl="0"/>
            <a:r>
              <a:rPr lang="en-US" dirty="0"/>
              <a:t>Bulleted list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7E8CB17-529B-9C4F-B120-C1236DEE81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53405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Insert presentation topic or department/unit name</a:t>
            </a:r>
          </a:p>
        </p:txBody>
      </p:sp>
    </p:spTree>
    <p:extLst>
      <p:ext uri="{BB962C8B-B14F-4D97-AF65-F5344CB8AC3E}">
        <p14:creationId xmlns:p14="http://schemas.microsoft.com/office/powerpoint/2010/main" val="3626283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BCA86-D8D8-70D0-C62A-9DE796C67A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02134"/>
            <a:ext cx="10896600" cy="517065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969AA8-F260-814E-8CAE-0885CD16F6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" y="1331912"/>
            <a:ext cx="471523" cy="94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FBF89922-C537-DD47-8C8F-19B8B33E65F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24000" y="1524000"/>
            <a:ext cx="4724400" cy="4648200"/>
          </a:xfrm>
        </p:spPr>
        <p:txBody>
          <a:bodyPr/>
          <a:lstStyle/>
          <a:p>
            <a:pPr lvl="0"/>
            <a:r>
              <a:rPr lang="en-US" dirty="0"/>
              <a:t>Bulleted list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7E8CB17-529B-9C4F-B120-C1236DEE81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53405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presentation topic or department/unit name</a:t>
            </a:r>
          </a:p>
        </p:txBody>
      </p:sp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E2D8BB4A-46A4-1343-BA88-41D2E1C0EA5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438900" y="1524000"/>
            <a:ext cx="4914900" cy="4648200"/>
          </a:xfrm>
        </p:spPr>
        <p:txBody>
          <a:bodyPr/>
          <a:lstStyle/>
          <a:p>
            <a:pPr lvl="0"/>
            <a:r>
              <a:rPr lang="en-US" dirty="0"/>
              <a:t>Bulleted list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35788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48866-4F69-FCBB-5935-007FD86EB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02134"/>
            <a:ext cx="10896600" cy="517065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7E8CB17-529B-9C4F-B120-C1236DEE81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53405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presentation topic or department/unit name</a:t>
            </a:r>
          </a:p>
        </p:txBody>
      </p:sp>
      <p:sp>
        <p:nvSpPr>
          <p:cNvPr id="7" name="Chart Placeholder 11">
            <a:extLst>
              <a:ext uri="{FF2B5EF4-FFF2-40B4-BE49-F238E27FC236}">
                <a16:creationId xmlns:a16="http://schemas.microsoft.com/office/drawing/2014/main" id="{8C3425D9-7762-3940-B7DA-B13EC3E058BA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1524000" y="1523999"/>
            <a:ext cx="9829800" cy="4631865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chart</a:t>
            </a:r>
          </a:p>
        </p:txBody>
      </p:sp>
    </p:spTree>
    <p:extLst>
      <p:ext uri="{BB962C8B-B14F-4D97-AF65-F5344CB8AC3E}">
        <p14:creationId xmlns:p14="http://schemas.microsoft.com/office/powerpoint/2010/main" val="1902739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317D7-4166-2ED9-1881-347107691C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02134"/>
            <a:ext cx="10896600" cy="517065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12" name="Chart Placeholder 11">
            <a:extLst>
              <a:ext uri="{FF2B5EF4-FFF2-40B4-BE49-F238E27FC236}">
                <a16:creationId xmlns:a16="http://schemas.microsoft.com/office/drawing/2014/main" id="{C8FC7EDF-D625-4640-AF06-22ADBDC8C8CE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457200" y="1530523"/>
            <a:ext cx="5429250" cy="4641677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Chart Placeholder 11">
            <a:extLst>
              <a:ext uri="{FF2B5EF4-FFF2-40B4-BE49-F238E27FC236}">
                <a16:creationId xmlns:a16="http://schemas.microsoft.com/office/drawing/2014/main" id="{8C45FAA6-1118-A24C-9C61-949F410E7C81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6438900" y="1530523"/>
            <a:ext cx="4914900" cy="4641677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2437A76B-A3F1-E24A-9B72-37AC8087EC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653483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presentation topic or department/unit name</a:t>
            </a:r>
          </a:p>
        </p:txBody>
      </p:sp>
    </p:spTree>
    <p:extLst>
      <p:ext uri="{BB962C8B-B14F-4D97-AF65-F5344CB8AC3E}">
        <p14:creationId xmlns:p14="http://schemas.microsoft.com/office/powerpoint/2010/main" val="1686395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200CC43E-DAB5-6045-A3FC-1B1B9D6DFFEB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1524000" y="1524000"/>
            <a:ext cx="9829800" cy="34163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table	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A0123EED-038F-7B4A-92A4-A606571FF59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653483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presentation topic or department/unit name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972BC0-0141-2D65-4384-82B2C1196A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02134"/>
            <a:ext cx="10896600" cy="517065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</p:spTree>
    <p:extLst>
      <p:ext uri="{BB962C8B-B14F-4D97-AF65-F5344CB8AC3E}">
        <p14:creationId xmlns:p14="http://schemas.microsoft.com/office/powerpoint/2010/main" val="2119245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D868577-B206-C94D-AA90-90C71CB8AC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4479"/>
          <a:stretch/>
        </p:blipFill>
        <p:spPr>
          <a:xfrm>
            <a:off x="0" y="0"/>
            <a:ext cx="116459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5926B1D-2681-6D40-953A-D41E624A2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9900" y="1104900"/>
            <a:ext cx="10210800" cy="464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FC3DB9-D22E-37C1-8603-44F3A55AA5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5200" y="3125519"/>
            <a:ext cx="9080500" cy="603563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section header slide title</a:t>
            </a:r>
          </a:p>
        </p:txBody>
      </p:sp>
    </p:spTree>
    <p:extLst>
      <p:ext uri="{BB962C8B-B14F-4D97-AF65-F5344CB8AC3E}">
        <p14:creationId xmlns:p14="http://schemas.microsoft.com/office/powerpoint/2010/main" val="2892427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B19960-C592-024C-8B94-896ABF102E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528435"/>
            <a:ext cx="4460516" cy="344710"/>
          </a:xfrm>
        </p:spPr>
        <p:txBody>
          <a:bodyPr wrap="none" tIns="64008" bIns="64008"/>
          <a:lstStyle/>
          <a:p>
            <a:r>
              <a:rPr lang="en-US" dirty="0"/>
              <a:t>Insert presentation topic or department/unit name</a:t>
            </a:r>
          </a:p>
        </p:txBody>
      </p:sp>
    </p:spTree>
    <p:extLst>
      <p:ext uri="{BB962C8B-B14F-4D97-AF65-F5344CB8AC3E}">
        <p14:creationId xmlns:p14="http://schemas.microsoft.com/office/powerpoint/2010/main" val="1420361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621CCA-1EB8-EE46-B4BA-5F3D975754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528435"/>
            <a:ext cx="4460516" cy="344710"/>
          </a:xfrm>
        </p:spPr>
        <p:txBody>
          <a:bodyPr wrap="none" tIns="64008" bIns="64008"/>
          <a:lstStyle/>
          <a:p>
            <a:r>
              <a:rPr lang="en-US" dirty="0"/>
              <a:t>Insert presentation topic or department/unit name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41FB28-7881-67A2-3E03-9832EF556D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213392"/>
            <a:ext cx="10896600" cy="213392"/>
          </a:xfrm>
        </p:spPr>
        <p:txBody>
          <a:bodyPr/>
          <a:lstStyle>
            <a:lvl1pPr>
              <a:defRPr sz="1200" b="0" i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defRPr>
            </a:lvl1pPr>
          </a:lstStyle>
          <a:p>
            <a:r>
              <a:rPr lang="en-US" dirty="0"/>
              <a:t>Blank Slide</a:t>
            </a:r>
          </a:p>
        </p:txBody>
      </p:sp>
    </p:spTree>
    <p:extLst>
      <p:ext uri="{BB962C8B-B14F-4D97-AF65-F5344CB8AC3E}">
        <p14:creationId xmlns:p14="http://schemas.microsoft.com/office/powerpoint/2010/main" val="649504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05A38DE-B4F5-9E44-95BA-B520170514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9939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UW–Madison logo with white text on a red background">
            <a:extLst>
              <a:ext uri="{FF2B5EF4-FFF2-40B4-BE49-F238E27FC236}">
                <a16:creationId xmlns:a16="http://schemas.microsoft.com/office/drawing/2014/main" id="{FD11A7E0-5739-204C-9014-DB43944F2D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57092" y="2911281"/>
            <a:ext cx="3077817" cy="10354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343DB41-0E0D-3DA2-7A76-C0187BC8F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223331"/>
            <a:ext cx="10896600" cy="213392"/>
          </a:xfrm>
        </p:spPr>
        <p:txBody>
          <a:bodyPr/>
          <a:lstStyle>
            <a:lvl1pPr>
              <a:defRPr sz="1200" b="0" i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defRPr>
            </a:lvl1pPr>
          </a:lstStyle>
          <a:p>
            <a:r>
              <a:rPr lang="en-US" dirty="0"/>
              <a:t>Red Closing Slide</a:t>
            </a:r>
          </a:p>
        </p:txBody>
      </p:sp>
    </p:spTree>
    <p:extLst>
      <p:ext uri="{BB962C8B-B14F-4D97-AF65-F5344CB8AC3E}">
        <p14:creationId xmlns:p14="http://schemas.microsoft.com/office/powerpoint/2010/main" val="797835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05A38DE-B4F5-9E44-95BA-B520170514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9939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UW–Madison logo with white text on a red background">
            <a:extLst>
              <a:ext uri="{FF2B5EF4-FFF2-40B4-BE49-F238E27FC236}">
                <a16:creationId xmlns:a16="http://schemas.microsoft.com/office/drawing/2014/main" id="{FD11A7E0-5739-204C-9014-DB43944F2D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57092" y="2911281"/>
            <a:ext cx="3077817" cy="10354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27DB89E-70AA-E4A2-9190-47A86DFC3F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223331"/>
            <a:ext cx="10896600" cy="213392"/>
          </a:xfrm>
        </p:spPr>
        <p:txBody>
          <a:bodyPr/>
          <a:lstStyle>
            <a:lvl1pPr>
              <a:defRPr sz="1200" b="0" i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defRPr>
            </a:lvl1pPr>
          </a:lstStyle>
          <a:p>
            <a:r>
              <a:rPr lang="en-US" dirty="0"/>
              <a:t>Black Closing slide</a:t>
            </a:r>
          </a:p>
        </p:txBody>
      </p:sp>
    </p:spTree>
    <p:extLst>
      <p:ext uri="{BB962C8B-B14F-4D97-AF65-F5344CB8AC3E}">
        <p14:creationId xmlns:p14="http://schemas.microsoft.com/office/powerpoint/2010/main" val="1052615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80455"/>
            <a:ext cx="10896600" cy="517065"/>
          </a:xfrm>
          <a:prstGeom prst="rect">
            <a:avLst/>
          </a:prstGeom>
        </p:spPr>
        <p:txBody>
          <a:bodyPr vert="horz" wrap="square" lIns="0" tIns="45720" rIns="91440" bIns="0" rtlCol="0" anchor="b" anchorCtr="0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24000"/>
            <a:ext cx="10896600" cy="1775358"/>
          </a:xfrm>
          <a:prstGeom prst="rect">
            <a:avLst/>
          </a:prstGeom>
        </p:spPr>
        <p:txBody>
          <a:bodyPr vert="horz" wrap="square" lIns="0" tIns="45720" rIns="91440" bIns="4572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543580"/>
            <a:ext cx="1116106" cy="314420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274320" tIns="45720" rIns="274320" bIns="45720" rtlCol="0" anchor="ctr">
            <a:spAutoFit/>
          </a:bodyPr>
          <a:lstStyle>
            <a:lvl1pPr algn="l">
              <a:defRPr sz="14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0EB5E6-54D5-9945-8BFD-BD46E27944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647553" y="0"/>
            <a:ext cx="57064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UW–Madison crest logo in red">
            <a:extLst>
              <a:ext uri="{FF2B5EF4-FFF2-40B4-BE49-F238E27FC236}">
                <a16:creationId xmlns:a16="http://schemas.microsoft.com/office/drawing/2014/main" id="{52794618-AA7B-F040-BD0B-B97556AA7FE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704812" y="222225"/>
            <a:ext cx="456122" cy="716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479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5" r:id="rId3"/>
    <p:sldLayoutId id="2147483676" r:id="rId4"/>
    <p:sldLayoutId id="2147483672" r:id="rId5"/>
    <p:sldLayoutId id="2147483673" r:id="rId6"/>
    <p:sldLayoutId id="2147483663" r:id="rId7"/>
    <p:sldLayoutId id="2147483666" r:id="rId8"/>
    <p:sldLayoutId id="2147483667" r:id="rId9"/>
    <p:sldLayoutId id="2147483677" r:id="rId10"/>
    <p:sldLayoutId id="214748367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>
          <a:solidFill>
            <a:schemeClr val="tx1">
              <a:lumMod val="90000"/>
              <a:lumOff val="10000"/>
            </a:schemeClr>
          </a:solidFill>
          <a:latin typeface="Red Hat Display" panose="02010303040201060303" pitchFamily="2" charset="0"/>
          <a:ea typeface="Red Hat Display" panose="02010303040201060303" pitchFamily="2" charset="0"/>
          <a:cs typeface="Red Hat Display" panose="02010303040201060303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600" kern="1200">
          <a:solidFill>
            <a:schemeClr val="tx1">
              <a:lumMod val="90000"/>
              <a:lumOff val="10000"/>
            </a:schemeClr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100" kern="1200">
          <a:solidFill>
            <a:schemeClr val="tx1">
              <a:lumMod val="90000"/>
              <a:lumOff val="10000"/>
            </a:schemeClr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90000"/>
              <a:lumOff val="10000"/>
            </a:schemeClr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90000"/>
              <a:lumOff val="10000"/>
            </a:schemeClr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90000"/>
              <a:lumOff val="10000"/>
            </a:schemeClr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2" userDrawn="1">
          <p15:clr>
            <a:srgbClr val="F26B43"/>
          </p15:clr>
        </p15:guide>
        <p15:guide id="2" pos="72" userDrawn="1">
          <p15:clr>
            <a:srgbClr val="F26B43"/>
          </p15:clr>
        </p15:guide>
        <p15:guide id="3" pos="7608" userDrawn="1">
          <p15:clr>
            <a:srgbClr val="F26B43"/>
          </p15:clr>
        </p15:guide>
        <p15:guide id="4" orient="horz" pos="4248" userDrawn="1">
          <p15:clr>
            <a:srgbClr val="F26B43"/>
          </p15:clr>
        </p15:guide>
        <p15:guide id="5" pos="288" userDrawn="1">
          <p15:clr>
            <a:srgbClr val="F26B43"/>
          </p15:clr>
        </p15:guide>
        <p15:guide id="6" orient="horz" pos="768" userDrawn="1">
          <p15:clr>
            <a:srgbClr val="F26B43"/>
          </p15:clr>
        </p15:guide>
        <p15:guide id="7" orient="horz" pos="960" userDrawn="1">
          <p15:clr>
            <a:srgbClr val="F26B43"/>
          </p15:clr>
        </p15:guide>
        <p15:guide id="8" orient="horz" pos="1152" userDrawn="1">
          <p15:clr>
            <a:srgbClr val="F26B43"/>
          </p15:clr>
        </p15:guide>
        <p15:guide id="9" orient="horz" pos="3888" userDrawn="1">
          <p15:clr>
            <a:srgbClr val="F26B43"/>
          </p15:clr>
        </p15:guide>
        <p15:guide id="10" pos="9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EACD601-E669-A4D5-E968-7C550AE9F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399916"/>
            <a:ext cx="7530353" cy="627864"/>
          </a:xfrm>
        </p:spPr>
        <p:txBody>
          <a:bodyPr/>
          <a:lstStyle/>
          <a:p>
            <a:r>
              <a:rPr lang="en-US" dirty="0"/>
              <a:t>Week 9 Updates Shapiro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AF5AA5-6B7D-494F-9865-F7AB9EBC7A3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By Evan Johns </a:t>
            </a:r>
          </a:p>
        </p:txBody>
      </p:sp>
    </p:spTree>
    <p:extLst>
      <p:ext uri="{BB962C8B-B14F-4D97-AF65-F5344CB8AC3E}">
        <p14:creationId xmlns:p14="http://schemas.microsoft.com/office/powerpoint/2010/main" val="3541389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74ACA-D1E7-477C-BD53-700D1FC49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A3714F6-3778-2425-75FC-816C824A1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Protein Heatmap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705311-D96C-653D-B495-FB05B7E9D91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42B409-1ABD-7FAA-9FA2-5CADAB47A34C}"/>
              </a:ext>
            </a:extLst>
          </p:cNvPr>
          <p:cNvSpPr/>
          <p:nvPr/>
        </p:nvSpPr>
        <p:spPr>
          <a:xfrm rot="16200000">
            <a:off x="206520" y="2432746"/>
            <a:ext cx="1165464" cy="3775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Responder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263655-77C9-7E13-F3A3-85C512C00CC1}"/>
              </a:ext>
            </a:extLst>
          </p:cNvPr>
          <p:cNvSpPr/>
          <p:nvPr/>
        </p:nvSpPr>
        <p:spPr>
          <a:xfrm rot="16200000">
            <a:off x="116809" y="4171902"/>
            <a:ext cx="1359284" cy="3775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Non-Responder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5D5DC38-014A-370C-F818-E75C2F434D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1929905"/>
            <a:ext cx="10134600" cy="3447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975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B14A6-71CA-2707-E9CD-FA4E5114A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ABFAB37-A5C5-F0BB-D6D5-F4EF77CBF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PMN-CD8 Sample Avg – PMN expression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67C9C6-A1ED-3421-ABF4-B3D311C0E7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4D1F08B-F2CC-863A-8FB2-6DAD9A125ED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2890" y="4438134"/>
            <a:ext cx="10830910" cy="940770"/>
          </a:xfrm>
        </p:spPr>
        <p:txBody>
          <a:bodyPr/>
          <a:lstStyle/>
          <a:p>
            <a:r>
              <a:rPr lang="en-US" dirty="0"/>
              <a:t>Parameters: PMN protein expression, PMN&gt;1% of cells, all genes</a:t>
            </a:r>
          </a:p>
          <a:p>
            <a:r>
              <a:rPr lang="en-US" dirty="0"/>
              <a:t>In general, there were not many notable findings. Genes largely in ling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3846D4-7DD7-8FD2-4004-67DABD34AC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109" y="1486492"/>
            <a:ext cx="9689706" cy="2752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724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1B49F-0D02-9CEA-D021-AE1EC9A52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B0F05A8-492A-8D79-32B5-72F56A615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PMN-CD8 Sample Avg – CD8 expression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A75AFE-78A9-8B7C-83F4-C5493D04BAD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E1E2D2E-19CA-4118-9426-9E7947F46CC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2890" y="4438134"/>
            <a:ext cx="10830910" cy="940770"/>
          </a:xfrm>
        </p:spPr>
        <p:txBody>
          <a:bodyPr/>
          <a:lstStyle/>
          <a:p>
            <a:r>
              <a:rPr lang="en-US" dirty="0"/>
              <a:t>Parameters: CD8 protein expression, CD8&gt;0.5% of cells, all genes</a:t>
            </a:r>
          </a:p>
          <a:p>
            <a:r>
              <a:rPr lang="en-US" dirty="0"/>
              <a:t>Most of the differences in expression average out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6F21DF-0F4A-55C7-BAD7-2CDCB0DC95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663" y="1490752"/>
            <a:ext cx="9596676" cy="2947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704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58A92-A395-47B9-201B-EF2F9BBAE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4B3B7E5-D2E1-0E29-3086-0CDA95B1A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02134"/>
            <a:ext cx="10896600" cy="517065"/>
          </a:xfrm>
        </p:spPr>
        <p:txBody>
          <a:bodyPr wrap="square" anchor="b">
            <a:normAutofit/>
          </a:bodyPr>
          <a:lstStyle/>
          <a:p>
            <a:r>
              <a:rPr lang="en-US" dirty="0"/>
              <a:t>Statistical Significance PMN Gene Expression – R vs NR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C5F4C4-C307-A687-0167-A1028EFD85A4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>
            <a:off x="1401113" y="1363054"/>
            <a:ext cx="3893131" cy="3143703"/>
          </a:xfrm>
          <a:noFill/>
        </p:spPr>
      </p:pic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A945321-404C-43DF-421B-E4EEFBA6C1F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6534055"/>
            <a:ext cx="4460516" cy="323165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F7201E53-B0FF-F01D-DF7D-C3EF1671043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621035" y="1805612"/>
            <a:ext cx="4431287" cy="2869503"/>
          </a:xfrm>
        </p:spPr>
        <p:txBody>
          <a:bodyPr/>
          <a:lstStyle/>
          <a:p>
            <a:r>
              <a:rPr lang="en-US" dirty="0"/>
              <a:t>Param: 0.5% </a:t>
            </a:r>
            <a:r>
              <a:rPr lang="en-US" dirty="0" err="1"/>
              <a:t>pmn</a:t>
            </a:r>
            <a:r>
              <a:rPr lang="en-US" dirty="0"/>
              <a:t> threshold</a:t>
            </a:r>
          </a:p>
          <a:p>
            <a:r>
              <a:rPr lang="en-US" dirty="0"/>
              <a:t>Each sample </a:t>
            </a:r>
            <a:r>
              <a:rPr lang="en-US" dirty="0" err="1"/>
              <a:t>pmn</a:t>
            </a:r>
            <a:r>
              <a:rPr lang="en-US" dirty="0"/>
              <a:t> expression averaged</a:t>
            </a:r>
          </a:p>
          <a:p>
            <a:r>
              <a:rPr lang="en-US" dirty="0"/>
              <a:t>Responder samples so no significant gene expression difference than non responders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3A0BD89-AACA-C71A-6984-917A8C51EF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1504" y="4429959"/>
            <a:ext cx="3612347" cy="2265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080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3017F-6E63-5A80-8EFF-D09322F84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A93CB51-8991-82A6-9EC4-2E5C46FE6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Volcano plot PMN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69E066-39B9-F294-2670-9115B21179D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A6E653-D311-2174-8818-DED2E159C1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896" y="1438257"/>
            <a:ext cx="7010451" cy="4819685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F78C75C-A876-2167-A792-50108905B6F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262756" y="1524000"/>
            <a:ext cx="3091044" cy="1172629"/>
          </a:xfrm>
        </p:spPr>
        <p:txBody>
          <a:bodyPr/>
          <a:lstStyle/>
          <a:p>
            <a:r>
              <a:rPr lang="en-US" dirty="0"/>
              <a:t>No significant findings in PMN expression</a:t>
            </a:r>
          </a:p>
        </p:txBody>
      </p:sp>
    </p:spTree>
    <p:extLst>
      <p:ext uri="{BB962C8B-B14F-4D97-AF65-F5344CB8AC3E}">
        <p14:creationId xmlns:p14="http://schemas.microsoft.com/office/powerpoint/2010/main" val="2700230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59A70-DD8D-610F-29E9-F51FBFA4A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6FFC617-11FC-DE46-2D85-A7BBD658D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1236"/>
            <a:ext cx="11264348" cy="987963"/>
          </a:xfrm>
        </p:spPr>
        <p:txBody>
          <a:bodyPr/>
          <a:lstStyle/>
          <a:p>
            <a:r>
              <a:rPr lang="en-US" dirty="0"/>
              <a:t>Statistical Significance PMN Gene Expression – Int vs Non Int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CA0AE7-954A-EA5C-593F-9D0C90C1E69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AFA01A6-B90F-5DEF-1B6B-495311169F0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07861" y="1704525"/>
            <a:ext cx="5772033" cy="2509405"/>
          </a:xfrm>
        </p:spPr>
        <p:txBody>
          <a:bodyPr/>
          <a:lstStyle/>
          <a:p>
            <a:r>
              <a:rPr lang="en-US" dirty="0"/>
              <a:t>Param: 0.5% PMN threshold</a:t>
            </a:r>
          </a:p>
          <a:p>
            <a:r>
              <a:rPr lang="en-US" dirty="0"/>
              <a:t>Data includes both responder and non responder dataset</a:t>
            </a:r>
          </a:p>
          <a:p>
            <a:r>
              <a:rPr lang="en-US" dirty="0"/>
              <a:t>Interacting cells had potentially significant differences in CD8 (higher), </a:t>
            </a:r>
            <a:r>
              <a:rPr lang="en-US" dirty="0" err="1"/>
              <a:t>panRAS</a:t>
            </a:r>
            <a:r>
              <a:rPr lang="en-US" dirty="0"/>
              <a:t> (lower), SMA (higher)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F2FB41-64F1-EE3E-1270-8CC5B45D64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930" y="1400221"/>
            <a:ext cx="4249662" cy="27917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296396E-22DF-FC30-AD99-59C5CEB6FC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764" y="4129069"/>
            <a:ext cx="4249661" cy="265265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EED3178-0529-443C-0E54-5EBE8CEFB4E3}"/>
              </a:ext>
            </a:extLst>
          </p:cNvPr>
          <p:cNvSpPr/>
          <p:nvPr/>
        </p:nvSpPr>
        <p:spPr>
          <a:xfrm>
            <a:off x="878930" y="1622120"/>
            <a:ext cx="4249662" cy="751561"/>
          </a:xfrm>
          <a:prstGeom prst="rect">
            <a:avLst/>
          </a:prstGeom>
          <a:noFill/>
          <a:ln w="19050"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3680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AE890-C052-2AB4-88EF-FF3097621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AC3D762-7AF1-EF19-F565-455DF9D2F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Volcano plot PMN-CD8 interacting vs. non interacting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3D6A82-B2DB-DE7A-32C6-963FADA4250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4238A79-EA77-3564-E47F-070779D2421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871817" y="1646780"/>
            <a:ext cx="2252844" cy="3150507"/>
          </a:xfrm>
        </p:spPr>
        <p:txBody>
          <a:bodyPr/>
          <a:lstStyle/>
          <a:p>
            <a:r>
              <a:rPr lang="en-US" dirty="0"/>
              <a:t>No significant findings in PMN expression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515822-D6D6-1E47-2F62-6084205C1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819" y="1507632"/>
            <a:ext cx="7162852" cy="4648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430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A566E-B890-145F-455C-075A62B51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37E54B7-1F53-B187-F422-00D19EF8B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1236"/>
            <a:ext cx="11264348" cy="987963"/>
          </a:xfrm>
        </p:spPr>
        <p:txBody>
          <a:bodyPr/>
          <a:lstStyle/>
          <a:p>
            <a:r>
              <a:rPr lang="en-US" dirty="0"/>
              <a:t>Statistical Significance PMN Gene Expression – Int vs Non Int plus NR and 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F0E915-37AA-DBA4-5ABB-05E1A99EA0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175B6F-0C1C-74A5-63AA-365C22EF341F}"/>
              </a:ext>
            </a:extLst>
          </p:cNvPr>
          <p:cNvSpPr/>
          <p:nvPr/>
        </p:nvSpPr>
        <p:spPr>
          <a:xfrm>
            <a:off x="2630557" y="1404730"/>
            <a:ext cx="1762539" cy="3231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Responder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2DB63C-799C-2237-F0C5-88619A9F0EF6}"/>
              </a:ext>
            </a:extLst>
          </p:cNvPr>
          <p:cNvSpPr/>
          <p:nvPr/>
        </p:nvSpPr>
        <p:spPr>
          <a:xfrm>
            <a:off x="6983896" y="1395547"/>
            <a:ext cx="1762539" cy="3231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Non-Responder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F1817E3-60CE-2DE5-899A-86E43DEFB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13426"/>
            <a:ext cx="4972086" cy="33623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24A10D-50B1-4CD8-6C60-18FECE6645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85" y="1995476"/>
            <a:ext cx="6059453" cy="3060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5362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EB970-AB51-855E-AEB1-DA57EAA32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C235DAD-95F8-F669-C197-C08575AFC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02134"/>
            <a:ext cx="10896600" cy="517065"/>
          </a:xfrm>
        </p:spPr>
        <p:txBody>
          <a:bodyPr wrap="square" anchor="b">
            <a:normAutofit/>
          </a:bodyPr>
          <a:lstStyle/>
          <a:p>
            <a:r>
              <a:rPr lang="en-US" dirty="0"/>
              <a:t>Statistical Significance CD8 Gene Expression – R vs NR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B5443D08-AC6B-9E2D-ED3C-2CE83A0E00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6534055"/>
            <a:ext cx="4460516" cy="323165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FFF3E895-CB6B-4EFA-C0F7-6ECF75B131C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621035" y="1805612"/>
            <a:ext cx="4431287" cy="1789208"/>
          </a:xfrm>
        </p:spPr>
        <p:txBody>
          <a:bodyPr/>
          <a:lstStyle/>
          <a:p>
            <a:r>
              <a:rPr lang="en-US" dirty="0"/>
              <a:t>Param: 0.5% CD8 threshold</a:t>
            </a:r>
          </a:p>
          <a:p>
            <a:r>
              <a:rPr lang="en-US" dirty="0"/>
              <a:t>Each sample CD8 expression averaged</a:t>
            </a:r>
          </a:p>
          <a:p>
            <a:r>
              <a:rPr lang="en-US" dirty="0"/>
              <a:t>No notable differences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F86524-9CA5-AA3E-BDBB-729F456CED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174" y="1621721"/>
            <a:ext cx="4460516" cy="4349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7611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80D93-0201-CE87-4C03-C98D7B8C6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DFAADFC-DA72-155B-D5BE-967B0FFD3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1236"/>
            <a:ext cx="11264348" cy="987963"/>
          </a:xfrm>
        </p:spPr>
        <p:txBody>
          <a:bodyPr/>
          <a:lstStyle/>
          <a:p>
            <a:r>
              <a:rPr lang="en-US" dirty="0"/>
              <a:t>Statistical Significance PMN Gene Expression – Int vs Non Int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0A2DCF-1028-2D27-745F-85CA344D420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7A30818-0F74-69D0-443A-25D9F7F4E5C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07861" y="1704525"/>
            <a:ext cx="5772033" cy="1789208"/>
          </a:xfrm>
        </p:spPr>
        <p:txBody>
          <a:bodyPr/>
          <a:lstStyle/>
          <a:p>
            <a:r>
              <a:rPr lang="en-US" dirty="0"/>
              <a:t>Param: 0.5% CD8 threshold</a:t>
            </a:r>
          </a:p>
          <a:p>
            <a:r>
              <a:rPr lang="en-US" dirty="0"/>
              <a:t>Data includes both responder and non responder dataset</a:t>
            </a:r>
          </a:p>
          <a:p>
            <a:r>
              <a:rPr lang="en-US" dirty="0"/>
              <a:t>No notable differences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14E9146-B79E-7988-3DEC-ABC1330A3B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98" y="1822370"/>
            <a:ext cx="4857786" cy="2828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7557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92103-A5A2-59F8-9CCB-B25CE1726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8CEB0A6-1720-78A2-DF5C-097D19728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Treg Gene Expression – Interactions with neutrophils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16C17F-7FBE-4764-E116-9BE4031A9BC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A0ECC8C-B93B-D3A0-9BB3-239759B5994F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>
            <a:off x="139148" y="1700404"/>
            <a:ext cx="10896600" cy="3337303"/>
          </a:xfrm>
        </p:spPr>
      </p:pic>
    </p:spTree>
    <p:extLst>
      <p:ext uri="{BB962C8B-B14F-4D97-AF65-F5344CB8AC3E}">
        <p14:creationId xmlns:p14="http://schemas.microsoft.com/office/powerpoint/2010/main" val="7144895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D07E1-3A2A-5F4B-C8C3-CF116476E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55D6C27-CA31-6FEA-1483-9A07E9B02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02134"/>
            <a:ext cx="10896600" cy="517065"/>
          </a:xfrm>
        </p:spPr>
        <p:txBody>
          <a:bodyPr wrap="square" anchor="b">
            <a:normAutofit/>
          </a:bodyPr>
          <a:lstStyle/>
          <a:p>
            <a:r>
              <a:rPr lang="en-US" dirty="0"/>
              <a:t>Statistical Significance Treg Gene Expression – R vs NR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0F6BF775-3ABF-A755-DF55-EBB0DB4A89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6534055"/>
            <a:ext cx="4460516" cy="3231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84C6CB22-A8F0-17D4-848E-798A9144D7C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773435" y="1541769"/>
            <a:ext cx="4431287" cy="2869503"/>
          </a:xfrm>
        </p:spPr>
        <p:txBody>
          <a:bodyPr/>
          <a:lstStyle/>
          <a:p>
            <a:r>
              <a:rPr lang="en-US" dirty="0"/>
              <a:t>Param: 0.25% </a:t>
            </a:r>
            <a:r>
              <a:rPr lang="en-US" dirty="0" err="1"/>
              <a:t>pmn</a:t>
            </a:r>
            <a:r>
              <a:rPr lang="en-US" dirty="0"/>
              <a:t> threshold</a:t>
            </a:r>
          </a:p>
          <a:p>
            <a:r>
              <a:rPr lang="en-US" dirty="0"/>
              <a:t>Each sample </a:t>
            </a:r>
            <a:r>
              <a:rPr lang="en-US" dirty="0" err="1"/>
              <a:t>pmn</a:t>
            </a:r>
            <a:r>
              <a:rPr lang="en-US" dirty="0"/>
              <a:t> expression averaged</a:t>
            </a:r>
          </a:p>
          <a:p>
            <a:r>
              <a:rPr lang="en-US" dirty="0"/>
              <a:t>Responder samples so no significant gene expression difference than non responders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98A8E0-8238-83E1-D6A6-89DFFD5FAA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8266" y="1219199"/>
            <a:ext cx="4431287" cy="32491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73C1AD6-A122-1BEB-B706-7343A71E74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6686" y="4208298"/>
            <a:ext cx="3669921" cy="2325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0599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32F81-DDB6-B34C-AC3C-303C8C29B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7DF7936-8F3E-5396-D148-297585514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Lieden Clustering Protein Verification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FE4BA1-BDA8-DCCA-19D9-AFDE12589D4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89029C7-1C6F-A869-7B5E-F2F80CBDD04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594034"/>
            <a:ext cx="10896600" cy="1172629"/>
          </a:xfrm>
        </p:spPr>
        <p:txBody>
          <a:bodyPr/>
          <a:lstStyle/>
          <a:p>
            <a:r>
              <a:rPr lang="en-US" dirty="0"/>
              <a:t>One way to find neutrophils in the mRNA datasets would be use some sort of clustering software to find something that I am missing. Doesn’t align with current mappings. Reviewing Athena’s code to use specific markers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DE3AB9-E508-B7FF-9138-09BA70D920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660" y="2718725"/>
            <a:ext cx="4987350" cy="31620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4BA8BBB-C8D2-485D-7A2B-E49705C0FF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8777" y="2911053"/>
            <a:ext cx="5251403" cy="3413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4779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CDBB6-EAA5-A067-04EE-C2C1B7AAF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93B497D-C508-B52C-FD8A-466B6FA55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Directions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44C35B-4D2B-9F39-6CF0-9C18EE1237F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046B57D-DDE1-1E13-F447-372D9AE96DC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594034"/>
            <a:ext cx="10896600" cy="2765885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Comparing T-cell mRNA expression between samples with high colocalization and samples with low colocalization.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Requesting H&amp;E images of the </a:t>
            </a:r>
            <a:r>
              <a:rPr lang="en-US" dirty="0" err="1"/>
              <a:t>CosMX</a:t>
            </a:r>
            <a:r>
              <a:rPr lang="en-US" dirty="0"/>
              <a:t> data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Lieden Clustering of the mRNA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Looking for cells with low overall mRNA expression as potential neutrophils.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15481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831C99-7466-5707-AAF8-25B3E4A5A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772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W-Madison 2">
      <a:dk1>
        <a:srgbClr val="202020"/>
      </a:dk1>
      <a:lt1>
        <a:srgbClr val="FFFFFF"/>
      </a:lt1>
      <a:dk2>
        <a:srgbClr val="101010"/>
      </a:dk2>
      <a:lt2>
        <a:srgbClr val="DADFE1"/>
      </a:lt2>
      <a:accent1>
        <a:srgbClr val="C5050C"/>
      </a:accent1>
      <a:accent2>
        <a:srgbClr val="8DD3CE"/>
      </a:accent2>
      <a:accent3>
        <a:srgbClr val="FCCB51"/>
      </a:accent3>
      <a:accent4>
        <a:srgbClr val="ADADAD"/>
      </a:accent4>
      <a:accent5>
        <a:srgbClr val="006992"/>
      </a:accent5>
      <a:accent6>
        <a:srgbClr val="432E4F"/>
      </a:accent6>
      <a:hlink>
        <a:srgbClr val="0479A8"/>
      </a:hlink>
      <a:folHlink>
        <a:srgbClr val="0479A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W-Madison-data-RedHat-16_9" id="{39149448-8F7A-FF49-B9B1-924C8F85E517}" vid="{49B34611-19B4-3D48-B648-24C73EA204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UW-Madison-data-RedHat-16_9</Template>
  <TotalTime>23462</TotalTime>
  <Words>395</Words>
  <Application>Microsoft Office PowerPoint</Application>
  <PresentationFormat>Widescreen</PresentationFormat>
  <Paragraphs>63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Red Hat Display</vt:lpstr>
      <vt:lpstr>Red Hat Text</vt:lpstr>
      <vt:lpstr>Office Theme</vt:lpstr>
      <vt:lpstr>Week 9 Updates Shapiro</vt:lpstr>
      <vt:lpstr>Overall Protein Heatmap</vt:lpstr>
      <vt:lpstr>PMN-CD8 Sample Avg – PMN expression</vt:lpstr>
      <vt:lpstr>PMN-CD8 Sample Avg – CD8 expression</vt:lpstr>
      <vt:lpstr>Statistical Significance PMN Gene Expression – R vs NR</vt:lpstr>
      <vt:lpstr>Volcano plot PMN </vt:lpstr>
      <vt:lpstr>Statistical Significance PMN Gene Expression – Int vs Non Int</vt:lpstr>
      <vt:lpstr>Volcano plot PMN-CD8 interacting vs. non interacting</vt:lpstr>
      <vt:lpstr>Statistical Significance PMN Gene Expression – Int vs Non Int plus NR and R</vt:lpstr>
      <vt:lpstr>Statistical Significance CD8 Gene Expression – R vs NR</vt:lpstr>
      <vt:lpstr>Statistical Significance PMN Gene Expression – Int vs Non Int</vt:lpstr>
      <vt:lpstr>Treg Gene Expression – Interactions with neutrophils</vt:lpstr>
      <vt:lpstr>Statistical Significance Treg Gene Expression – R vs NR</vt:lpstr>
      <vt:lpstr>Lieden Clustering Protein Verification</vt:lpstr>
      <vt:lpstr>Future Directions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Evan Johns</dc:creator>
  <cp:lastModifiedBy>Evan Daniel Johns</cp:lastModifiedBy>
  <cp:revision>25</cp:revision>
  <dcterms:created xsi:type="dcterms:W3CDTF">2025-06-03T19:55:18Z</dcterms:created>
  <dcterms:modified xsi:type="dcterms:W3CDTF">2025-07-23T18:00:16Z</dcterms:modified>
</cp:coreProperties>
</file>