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sldIdLst>
    <p:sldId id="264" r:id="rId2"/>
    <p:sldId id="371" r:id="rId3"/>
    <p:sldId id="372" r:id="rId4"/>
    <p:sldId id="375" r:id="rId5"/>
    <p:sldId id="380" r:id="rId6"/>
    <p:sldId id="376" r:id="rId7"/>
    <p:sldId id="381" r:id="rId8"/>
    <p:sldId id="377" r:id="rId9"/>
    <p:sldId id="378" r:id="rId10"/>
    <p:sldId id="379" r:id="rId11"/>
    <p:sldId id="382" r:id="rId12"/>
    <p:sldId id="384" r:id="rId13"/>
    <p:sldId id="383" r:id="rId14"/>
    <p:sldId id="267" r:id="rId15"/>
    <p:sldId id="374" r:id="rId16"/>
    <p:sldId id="38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6327"/>
  </p:normalViewPr>
  <p:slideViewPr>
    <p:cSldViewPr snapToGrid="0" snapToObjects="1">
      <p:cViewPr varScale="1">
        <p:scale>
          <a:sx n="84" d="100"/>
          <a:sy n="84" d="100"/>
        </p:scale>
        <p:origin x="351" y="3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BCF51-FA27-8A6D-C542-11EC04292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4C140-4F35-E372-214B-A14979A3B0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2BC54-A675-9EF8-937A-2E9CDC175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9CA18-78FD-6C3C-5BC3-E48A65348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5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8CC6F-FA6F-1571-F031-7CDE15438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4063E-859E-1AA4-53DB-099D4F892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15C50-2D2F-E58A-CE37-AAA848A8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A663E-495A-55F0-7F61-C5ED01A3D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67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AA30A-A67B-C607-D3BE-5DFA9FE10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2A3BD-9925-9AD0-EA73-7D7CDB565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099D-319A-7F53-022F-0E2447E54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C00F8-1A26-35BC-18FE-0C9A50AE5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332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1FAEB-B2AA-E516-633C-3D26EE91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8DC2A-D963-0EC7-A540-E199DF418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558EF-24AD-BA8D-58B6-E65D8B241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E8F0F-5B91-C1A2-CFD2-7CE0B8470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97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A5A26-E67A-F14E-EFAB-08C2EAE79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3DF99B-CAC0-5389-7E67-013E477FCF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665DBB-5D4C-D8F3-15F1-3A06480BA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A9FB5-FAAA-4875-A0A4-9D5DEEB43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711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879DC-8425-C270-3227-42AD531D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A9F11-1A2A-489B-810F-17E3E0A17A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95F503-FA24-40C4-76F9-3E31D2409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DB683-77C8-AD7C-5F38-6FD71DBA3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868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42C8A-26A4-7483-62E8-904951EA9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73EE9D-6E90-6F07-1899-90C345C70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999A-DD2F-2E20-912A-159B97E77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50B96-A550-2069-FA53-BA6B4CCAED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792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54D69-708C-6594-2725-BB574C98B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043E1-16C4-7805-A48A-624929F4A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1916D-D54D-75AA-9F22-0DA95D8A8C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41186-13B2-7626-A00C-959A7C0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4061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5DC34-4EC0-6145-DB23-16E81BDC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9AA1F-5469-9966-4AF7-B97285B50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E400D-17AF-349B-48A4-37887EA63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A74BB-9C2D-0643-3CB5-F0B789AD5A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79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08142-29DC-22DA-6245-3755C62D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68169-B6C2-0728-5C0F-E1ACA1E50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F74D67-A343-2832-4CFB-507BBB7F1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7E136-128E-7772-744B-086880D33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072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37600-8674-83BF-9E78-1E0034D5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150BB-661F-E536-52A8-7689749471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68334-573D-F2C3-D031-EA36B89510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FF84CF-B98A-149E-C01C-BE4F89986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548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B1EC-59DA-15FF-E479-BB14D2DEF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7918DC-E7C4-918D-86E6-E08A1B15A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4CB03-8AA7-210D-B5E1-6E1F67014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C4180-7DF3-899A-A3A4-0065F2DC48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264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896C3-4E5C-8DF8-F5D2-7F995F1F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B72AE-E8E2-972D-0DB2-DBB98DFEA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BA422-A643-5A7C-BFFE-A7E7AAFAC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CB17E-A705-E38F-ECC2-0FD66CDF6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660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9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PMN-CD8 Sample Avg – PMN expression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2890" y="4438134"/>
            <a:ext cx="10830910" cy="940770"/>
          </a:xfrm>
        </p:spPr>
        <p:txBody>
          <a:bodyPr/>
          <a:lstStyle/>
          <a:p>
            <a:r>
              <a:rPr lang="en-US" dirty="0"/>
              <a:t>Parameters: PMN protein expression, PMN&gt;1% of cells, all genes</a:t>
            </a:r>
          </a:p>
          <a:p>
            <a:r>
              <a:rPr lang="en-US" dirty="0"/>
              <a:t>In general, there were not many notable findings. Genes largely in 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3846D4-7DD7-8FD2-4004-67DABD34A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09" y="1486492"/>
            <a:ext cx="9689706" cy="27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24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1B49F-0D02-9CEA-D021-AE1EC9A5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0F05A8-492A-8D79-32B5-72F56A615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PMN-CD8 Sample Avg – CD8 expression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A75AFE-78A9-8B7C-83F4-C5493D04B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E1E2D2E-19CA-4118-9426-9E7947F46C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2890" y="4438134"/>
            <a:ext cx="10830910" cy="940770"/>
          </a:xfrm>
        </p:spPr>
        <p:txBody>
          <a:bodyPr/>
          <a:lstStyle/>
          <a:p>
            <a:r>
              <a:rPr lang="en-US" dirty="0"/>
              <a:t>Parameters: CD8 protein expression, CD8&gt;0.5% of cells, all genes</a:t>
            </a:r>
          </a:p>
          <a:p>
            <a:r>
              <a:rPr lang="en-US" dirty="0"/>
              <a:t>Most of the differences in expression average out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F21DF-0F4A-55C7-BAD7-2CDCB0DC9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663" y="1490752"/>
            <a:ext cx="9596676" cy="294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704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58A92-A395-47B9-201B-EF2F9BBA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B3B7E5-D2E1-0E29-3086-0CDA95B1A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Statistical Significance PMN Gene Expression – R vs NR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FC5F4C4-C307-A687-0167-A1028EFD85A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401113" y="1363054"/>
            <a:ext cx="3893131" cy="3143703"/>
          </a:xfrm>
          <a:noFill/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A945321-404C-43DF-421B-E4EEFBA6C1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F7201E53-B0FF-F01D-DF7D-C3EF167104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1035" y="1805612"/>
            <a:ext cx="4431287" cy="2869503"/>
          </a:xfrm>
        </p:spPr>
        <p:txBody>
          <a:bodyPr/>
          <a:lstStyle/>
          <a:p>
            <a:r>
              <a:rPr lang="en-US" dirty="0"/>
              <a:t>Param: 0.5% </a:t>
            </a:r>
            <a:r>
              <a:rPr lang="en-US" dirty="0" err="1"/>
              <a:t>pmn</a:t>
            </a:r>
            <a:r>
              <a:rPr lang="en-US" dirty="0"/>
              <a:t> threshold</a:t>
            </a:r>
          </a:p>
          <a:p>
            <a:r>
              <a:rPr lang="en-US" dirty="0"/>
              <a:t>Each sample </a:t>
            </a:r>
            <a:r>
              <a:rPr lang="en-US" dirty="0" err="1"/>
              <a:t>pmn</a:t>
            </a:r>
            <a:r>
              <a:rPr lang="en-US" dirty="0"/>
              <a:t> expression averaged</a:t>
            </a:r>
          </a:p>
          <a:p>
            <a:r>
              <a:rPr lang="en-US" dirty="0"/>
              <a:t>Responder samples so no significant gene expression difference than non responders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3A0BD89-AACA-C71A-6984-917A8C51E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1504" y="4429959"/>
            <a:ext cx="3612347" cy="2265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08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017F-6E63-5A80-8EFF-D09322F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93CB51-8991-82A6-9EC4-2E5C46FE6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Volcano plot PMN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9E066-39B9-F294-2670-9115B2117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6E653-D311-2174-8818-DED2E159C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896" y="1438257"/>
            <a:ext cx="7010451" cy="4819685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F78C75C-A876-2167-A792-50108905B6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62756" y="1524000"/>
            <a:ext cx="3091044" cy="1172629"/>
          </a:xfrm>
        </p:spPr>
        <p:txBody>
          <a:bodyPr/>
          <a:lstStyle/>
          <a:p>
            <a:r>
              <a:rPr lang="en-US" dirty="0"/>
              <a:t>No significant findings in PMN expression</a:t>
            </a:r>
          </a:p>
        </p:txBody>
      </p:sp>
    </p:spTree>
    <p:extLst>
      <p:ext uri="{BB962C8B-B14F-4D97-AF65-F5344CB8AC3E}">
        <p14:creationId xmlns:p14="http://schemas.microsoft.com/office/powerpoint/2010/main" val="2700230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9A70-DD8D-610F-29E9-F51FBFA4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FFC617-11FC-DE46-2D85-A7BBD658D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1264348" cy="987963"/>
          </a:xfrm>
        </p:spPr>
        <p:txBody>
          <a:bodyPr/>
          <a:lstStyle/>
          <a:p>
            <a:r>
              <a:rPr lang="en-US" dirty="0"/>
              <a:t>Statistical Significance PMN Gene Expression – Int vs Non Int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CA0AE7-954A-EA5C-593F-9D0C90C1E6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AFA01A6-B90F-5DEF-1B6B-495311169F0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7861" y="1704525"/>
            <a:ext cx="5772033" cy="2509405"/>
          </a:xfrm>
        </p:spPr>
        <p:txBody>
          <a:bodyPr/>
          <a:lstStyle/>
          <a:p>
            <a:r>
              <a:rPr lang="en-US" dirty="0"/>
              <a:t>Param: 0.5% PMN threshold</a:t>
            </a:r>
          </a:p>
          <a:p>
            <a:r>
              <a:rPr lang="en-US" dirty="0"/>
              <a:t>Data includes both responder and non responder dataset</a:t>
            </a:r>
          </a:p>
          <a:p>
            <a:r>
              <a:rPr lang="en-US" dirty="0"/>
              <a:t>Interacting cells had potentially significant differences in CD8 (higher), </a:t>
            </a:r>
            <a:r>
              <a:rPr lang="en-US" dirty="0" err="1"/>
              <a:t>panRAS</a:t>
            </a:r>
            <a:r>
              <a:rPr lang="en-US" dirty="0"/>
              <a:t> (lower), SMA (higher)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F2FB41-64F1-EE3E-1270-8CC5B45D6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30" y="1400221"/>
            <a:ext cx="4249662" cy="27917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6396E-22DF-FC30-AD99-59C5CEB6FC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64" y="4129069"/>
            <a:ext cx="4249661" cy="265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368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AE890-C052-2AB4-88EF-FF3097621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AC3D762-7AF1-EF19-F565-455DF9D2F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Volcano plot PMN-CD8 interacting vs. non interacting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3D6A82-B2DB-DE7A-32C6-963FADA425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238A79-EA77-3564-E47F-070779D2421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871817" y="1646780"/>
            <a:ext cx="2252844" cy="3150507"/>
          </a:xfrm>
        </p:spPr>
        <p:txBody>
          <a:bodyPr/>
          <a:lstStyle/>
          <a:p>
            <a:r>
              <a:rPr lang="en-US" dirty="0"/>
              <a:t>No significant findings in PMN expression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15822-D6D6-1E47-2F62-6084205C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19" y="1507632"/>
            <a:ext cx="7162852" cy="4648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43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A566E-B890-145F-455C-075A62B51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37E54B7-1F53-B187-F422-00D19EF8B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1264348" cy="987963"/>
          </a:xfrm>
        </p:spPr>
        <p:txBody>
          <a:bodyPr/>
          <a:lstStyle/>
          <a:p>
            <a:r>
              <a:rPr lang="en-US" dirty="0"/>
              <a:t>Statistical Significance PMN Gene Expression – Int vs Non Int plus NR and 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F0E915-37AA-DBA4-5ABB-05E1A99EA0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175B6F-0C1C-74A5-63AA-365C22EF341F}"/>
              </a:ext>
            </a:extLst>
          </p:cNvPr>
          <p:cNvSpPr/>
          <p:nvPr/>
        </p:nvSpPr>
        <p:spPr>
          <a:xfrm>
            <a:off x="2630557" y="1404730"/>
            <a:ext cx="1762539" cy="3231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2DB63C-799C-2237-F0C5-88619A9F0EF6}"/>
              </a:ext>
            </a:extLst>
          </p:cNvPr>
          <p:cNvSpPr/>
          <p:nvPr/>
        </p:nvSpPr>
        <p:spPr>
          <a:xfrm>
            <a:off x="6983896" y="1395547"/>
            <a:ext cx="1762539" cy="3231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1817E3-60CE-2DE5-899A-86E43DEFB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13426"/>
            <a:ext cx="4972086" cy="33623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24A10D-50B1-4CD8-6C60-18FECE664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85" y="1995476"/>
            <a:ext cx="6059453" cy="306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36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EB970-AB51-855E-AEB1-DA57EAA32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C235DAD-95F8-F669-C197-C08575AFC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Statistical Significance CD8 Gene Expression – R vs NR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B5443D08-AC6B-9E2D-ED3C-2CE83A0E00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FFF3E895-CB6B-4EFA-C0F7-6ECF75B131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1035" y="1805612"/>
            <a:ext cx="4431287" cy="1789208"/>
          </a:xfrm>
        </p:spPr>
        <p:txBody>
          <a:bodyPr/>
          <a:lstStyle/>
          <a:p>
            <a:r>
              <a:rPr lang="en-US" dirty="0"/>
              <a:t>Param: 0.5% CD8 threshold</a:t>
            </a:r>
          </a:p>
          <a:p>
            <a:r>
              <a:rPr lang="en-US" dirty="0"/>
              <a:t>Each sample CD8 expression averaged</a:t>
            </a:r>
          </a:p>
          <a:p>
            <a:r>
              <a:rPr lang="en-US" dirty="0"/>
              <a:t>No notable differences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F86524-9CA5-AA3E-BDBB-729F456CE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74" y="1621721"/>
            <a:ext cx="4460516" cy="4349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6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80D93-0201-CE87-4C03-C98D7B8C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DFAADFC-DA72-155B-D5BE-967B0FFD3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1264348" cy="987963"/>
          </a:xfrm>
        </p:spPr>
        <p:txBody>
          <a:bodyPr/>
          <a:lstStyle/>
          <a:p>
            <a:r>
              <a:rPr lang="en-US" dirty="0"/>
              <a:t>Statistical Significance PMN Gene Expression – Int vs Non Int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0A2DCF-1028-2D27-745F-85CA344D42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7A30818-0F74-69D0-443A-25D9F7F4E5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7861" y="1704525"/>
            <a:ext cx="5772033" cy="1789208"/>
          </a:xfrm>
        </p:spPr>
        <p:txBody>
          <a:bodyPr/>
          <a:lstStyle/>
          <a:p>
            <a:r>
              <a:rPr lang="en-US" dirty="0"/>
              <a:t>Param: 0.5% CD8 threshold</a:t>
            </a:r>
          </a:p>
          <a:p>
            <a:r>
              <a:rPr lang="en-US" dirty="0"/>
              <a:t>Data includes both responder and non responder dataset</a:t>
            </a:r>
          </a:p>
          <a:p>
            <a:r>
              <a:rPr lang="en-US" dirty="0"/>
              <a:t>No notable differences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4E9146-B79E-7988-3DEC-ABC1330A3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8" y="1822370"/>
            <a:ext cx="4857786" cy="282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5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92103-A5A2-59F8-9CCB-B25CE1726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8CEB0A6-1720-78A2-DF5C-097D19728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Treg Gene Expression – Interactions with neutrophils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6C17F-7FBE-4764-E116-9BE4031A9B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0ECC8C-B93B-D3A0-9BB3-239759B599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39148" y="1700404"/>
            <a:ext cx="10896600" cy="3337303"/>
          </a:xfrm>
        </p:spPr>
      </p:pic>
    </p:spTree>
    <p:extLst>
      <p:ext uri="{BB962C8B-B14F-4D97-AF65-F5344CB8AC3E}">
        <p14:creationId xmlns:p14="http://schemas.microsoft.com/office/powerpoint/2010/main" val="714489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D07E1-3A2A-5F4B-C8C3-CF116476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55D6C27-CA31-6FEA-1483-9A07E9B02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Statistical Significance Treg Gene Expression – R vs NR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F6BF775-3ABF-A755-DF55-EBB0DB4A89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84C6CB22-A8F0-17D4-848E-798A9144D7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773435" y="1541769"/>
            <a:ext cx="4431287" cy="2869503"/>
          </a:xfrm>
        </p:spPr>
        <p:txBody>
          <a:bodyPr/>
          <a:lstStyle/>
          <a:p>
            <a:r>
              <a:rPr lang="en-US" dirty="0"/>
              <a:t>Param: 0.25% </a:t>
            </a:r>
            <a:r>
              <a:rPr lang="en-US" dirty="0" err="1"/>
              <a:t>pmn</a:t>
            </a:r>
            <a:r>
              <a:rPr lang="en-US" dirty="0"/>
              <a:t> threshold</a:t>
            </a:r>
          </a:p>
          <a:p>
            <a:r>
              <a:rPr lang="en-US" dirty="0"/>
              <a:t>Each sample </a:t>
            </a:r>
            <a:r>
              <a:rPr lang="en-US" dirty="0" err="1"/>
              <a:t>pmn</a:t>
            </a:r>
            <a:r>
              <a:rPr lang="en-US" dirty="0"/>
              <a:t> expression averaged</a:t>
            </a:r>
          </a:p>
          <a:p>
            <a:r>
              <a:rPr lang="en-US" dirty="0"/>
              <a:t>Responder samples so no significant gene expression difference than non responders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98A8E0-8238-83E1-D6A6-89DFFD5FA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266" y="1219199"/>
            <a:ext cx="4431287" cy="32491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3C1AD6-A122-1BEB-B706-7343A71E7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686" y="4208298"/>
            <a:ext cx="3669921" cy="232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059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32F81-DDB6-B34C-AC3C-303C8C29B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DF7936-8F3E-5396-D148-29758551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FE4BA1-BDA8-DCCA-19D9-AFDE12589D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89029C7-1C6F-A869-7B5E-F2F80CBDD0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94034"/>
            <a:ext cx="10896600" cy="463649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477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83-FCD6-610F-9931-804E2BA02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9273EA-D6F8-B6F0-2710-604FB50C5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Overall Cell Frequencies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56B634-8B9E-333A-E602-EE637B3F38E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524000" y="1673256"/>
            <a:ext cx="9829800" cy="4349688"/>
          </a:xfrm>
          <a:noFill/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B8E792A-A403-99AC-38B8-0DBEC46D37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285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45E38-C88E-2068-F77D-95E98042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2EB76B4-DDBB-DA95-A95A-3F72AB19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3D6BEE-422F-5BFF-D1E7-2E2EF88DBC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A3ED5B7-0D5A-3718-0ABD-9297F03249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594034"/>
            <a:ext cx="10896600" cy="463649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329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23359</TotalTime>
  <Words>289</Words>
  <Application>Microsoft Office PowerPoint</Application>
  <PresentationFormat>Widescreen</PresentationFormat>
  <Paragraphs>53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Red Hat Display</vt:lpstr>
      <vt:lpstr>Red Hat Text</vt:lpstr>
      <vt:lpstr>Office Theme</vt:lpstr>
      <vt:lpstr>Week 9 Updates Shapiro</vt:lpstr>
      <vt:lpstr>PMN-CD8 Sample Avg – PMN expression</vt:lpstr>
      <vt:lpstr>PMN-CD8 Sample Avg – CD8 expression</vt:lpstr>
      <vt:lpstr>Statistical Significance PMN Gene Expression – R vs NR</vt:lpstr>
      <vt:lpstr>Volcano plot PMN </vt:lpstr>
      <vt:lpstr>Statistical Significance PMN Gene Expression – Int vs Non Int</vt:lpstr>
      <vt:lpstr>Volcano plot PMN-CD8 interacting vs. non interacting</vt:lpstr>
      <vt:lpstr>Statistical Significance PMN Gene Expression – Int vs Non Int plus NR and R</vt:lpstr>
      <vt:lpstr>Statistical Significance CD8 Gene Expression – R vs NR</vt:lpstr>
      <vt:lpstr>Statistical Significance PMN Gene Expression – Int vs Non Int</vt:lpstr>
      <vt:lpstr>Treg Gene Expression – Interactions with neutrophils</vt:lpstr>
      <vt:lpstr>Statistical Significance Treg Gene Expression – R vs NR</vt:lpstr>
      <vt:lpstr>PowerPoint Presentation</vt:lpstr>
      <vt:lpstr>PowerPoint Presentation</vt:lpstr>
      <vt:lpstr>Overall Cell Frequencies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24</cp:revision>
  <dcterms:created xsi:type="dcterms:W3CDTF">2025-06-03T19:55:18Z</dcterms:created>
  <dcterms:modified xsi:type="dcterms:W3CDTF">2025-07-23T16:06:39Z</dcterms:modified>
</cp:coreProperties>
</file>