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1"/>
  </p:notesMasterIdLst>
  <p:sldIdLst>
    <p:sldId id="264" r:id="rId2"/>
    <p:sldId id="281" r:id="rId3"/>
    <p:sldId id="289" r:id="rId4"/>
    <p:sldId id="292" r:id="rId5"/>
    <p:sldId id="282" r:id="rId6"/>
    <p:sldId id="290" r:id="rId7"/>
    <p:sldId id="286" r:id="rId8"/>
    <p:sldId id="294" r:id="rId9"/>
    <p:sldId id="295" r:id="rId10"/>
    <p:sldId id="296" r:id="rId11"/>
    <p:sldId id="297" r:id="rId12"/>
    <p:sldId id="298" r:id="rId13"/>
    <p:sldId id="301" r:id="rId14"/>
    <p:sldId id="302" r:id="rId15"/>
    <p:sldId id="299" r:id="rId16"/>
    <p:sldId id="300" r:id="rId17"/>
    <p:sldId id="283" r:id="rId18"/>
    <p:sldId id="288" r:id="rId19"/>
    <p:sldId id="267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306" y="13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BE560-AB62-12CC-3533-3E33DA02C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38E626-892C-AB4C-0930-554DB60FFB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59AC5-ABB6-4CB6-5DFC-0EDB675F2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95DEB2-213A-EAAB-6492-627B8B3D4A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7756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C6B2-2DB8-B9EB-3BEC-A773C1687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ED64BE-34D5-E0D1-1695-A2FBE7D5D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184E8C-8863-64FF-ACBC-42F1F9540D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3E117-A710-8A63-E25F-5E2DE38BF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1091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8ABF2-10D5-43FF-6806-951228519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1CFED4-4244-C060-7BC9-FBA58345BC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6A505C-FC21-8D6A-99C9-D107BB184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C4D4E-4447-E26B-25DE-7C10862FB8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37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4BA62-5B5E-1308-6C5D-D9C55CD17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F90E3F-DE7A-0D3A-E673-67F664AFC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B0014F-3C23-C464-99D3-C667FBDF6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33D81A-7DFC-195E-C010-D2B98C833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6928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DABE-343E-B8E2-9E2E-ABD8AC131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F0654-981E-0BC9-A205-40FEBE63FC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3C4D69-A4B9-B394-798C-01C25FE2A0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3A5C2-6F6D-FAA1-9C4C-41063C985A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1236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6C619-166C-2B70-4EA8-1E8FE9159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CB5886-4E1B-29DF-187F-3897192D3D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AB416-1DC2-C0C6-D960-38F314112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D4181-71B0-E091-D8AA-F3C26CD550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127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DFC56-D4E4-A365-AD3C-CD303BC51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0467CE-DCF4-E383-1D27-3DFE830ACA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7871D-3EC8-B706-20D9-53BF7E133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3D699C-AF9E-17E6-7CE8-4780769C1C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7938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CD789-F87D-FC73-C411-CD4A705C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EB25C0-74D3-5B35-1F8A-F23FC949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B7FB79-B1D9-7481-DA20-91D88BE58D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58758-12B3-4B38-3280-9A69CAECD1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0778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F41E8-4F1A-9593-68F3-3DB9BF30D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7CA583-1D5D-3491-9487-DD52B5B53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BA0B1A-4592-0B23-B9E2-BF3ADC866B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92D535-40C3-2C5C-CCF7-2D878F393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657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2DC2-2094-7F3A-59BB-52801680B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3DD03A-A415-B066-8C7C-F0ED34394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6D740-902F-6F1A-3B1A-504494AC96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179FC-D2AA-6C43-EAD9-FDE89D8F93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8156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327E7-D49A-6832-4394-933353349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FDC977-C8AB-3C3D-958B-C457A57FFA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8800EC-B333-DBD9-146E-27E081547C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41D4B-2A22-56A4-68AA-3458CC9A8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6607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76BC-8F17-8DB4-C595-DB1DB4E8F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A70331-B4A8-680D-F9C6-D668BD165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404F3-98C7-9CF5-8E79-E8FEE9B473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372FF-B250-228E-AA46-4A6F8F9C3F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7108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2DF6F-0222-51B3-87D9-256140184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C87F55-97C4-4EBC-833E-FB21E0F40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7A2F45-8489-472C-A8DB-AF5C688CF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F05DED-053D-2E28-F30B-4AF64DEEAB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5191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38BB1-0CC8-3F3A-4761-C07DECA2C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B239F-60BC-55FF-007E-BE1933F7CD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D5F1FD-D8BA-A7ED-4D1A-32D03768D6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6ACDE4-9974-57D2-D083-B1CB1420CD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1773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14BAE-2EE5-A03E-B4DE-A12123223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053B8-2BC7-0FA0-BDDC-998327D800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E719BA-DFC1-4588-5662-87D26EA9A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BD889E-1A23-74F0-F1C8-9F9FAB4C8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4805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EE3FD-6E55-F24B-A475-247FC6D7E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F8693-C447-38FE-E3A0-295EAE10D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F98412-9D44-B26E-9C17-39621703C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0B736-CC86-D589-91B3-030B8B908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961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Week 3 Updates Shapiro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02FDF-86C7-21FB-FED1-2F49C6233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D166BCA-D18F-49F0-842C-0E890017B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Protein Colocalization Analysis – Radial Comparison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2F4468A-5961-755D-A536-BA32498A72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757B83-262B-4123-F04C-C034AF539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912" y="1342848"/>
            <a:ext cx="4959085" cy="50102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82E72B1-9923-A1B6-C2C2-88242CFAEA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0850" y="1223929"/>
            <a:ext cx="5099238" cy="512379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ABA89A4-CA1E-1C65-BAF1-668DD24921AA}"/>
              </a:ext>
            </a:extLst>
          </p:cNvPr>
          <p:cNvSpPr/>
          <p:nvPr/>
        </p:nvSpPr>
        <p:spPr>
          <a:xfrm>
            <a:off x="7702919" y="6472271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A127C4-A6CD-06C9-D54E-1BB65C099884}"/>
              </a:ext>
            </a:extLst>
          </p:cNvPr>
          <p:cNvSpPr/>
          <p:nvPr/>
        </p:nvSpPr>
        <p:spPr>
          <a:xfrm>
            <a:off x="2426069" y="6472271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Delaunay</a:t>
            </a:r>
          </a:p>
        </p:txBody>
      </p:sp>
    </p:spTree>
    <p:extLst>
      <p:ext uri="{BB962C8B-B14F-4D97-AF65-F5344CB8AC3E}">
        <p14:creationId xmlns:p14="http://schemas.microsoft.com/office/powerpoint/2010/main" val="2028064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535F0-9F3A-691E-F9CF-8F258ABAA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BF7024-6CE3-C5A7-8E4A-81E528194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Protein Colocalization Analysis – Radial Comparison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BD0157B1-8A5E-C7CE-C6F1-626687BD170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5905499" y="1343071"/>
            <a:ext cx="4779783" cy="4873735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3001F4-D1EB-6777-1D56-5F52FA4C30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343071"/>
            <a:ext cx="5122797" cy="509856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6C942E8-92D3-E589-1ABB-C8B3EBAF244C}"/>
              </a:ext>
            </a:extLst>
          </p:cNvPr>
          <p:cNvSpPr/>
          <p:nvPr/>
        </p:nvSpPr>
        <p:spPr>
          <a:xfrm>
            <a:off x="7425649" y="6491890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Radial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E879B2-E84E-2A39-6A80-83975B3EEFB3}"/>
              </a:ext>
            </a:extLst>
          </p:cNvPr>
          <p:cNvSpPr/>
          <p:nvPr/>
        </p:nvSpPr>
        <p:spPr>
          <a:xfrm>
            <a:off x="2411190" y="6509156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Delaunay</a:t>
            </a:r>
          </a:p>
        </p:txBody>
      </p:sp>
    </p:spTree>
    <p:extLst>
      <p:ext uri="{BB962C8B-B14F-4D97-AF65-F5344CB8AC3E}">
        <p14:creationId xmlns:p14="http://schemas.microsoft.com/office/powerpoint/2010/main" val="3940797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835CF-3EEE-D054-CB75-2DA6F5872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02F49-54F2-7B1D-2945-A6D8CC7A6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Colocalization Verification PMN-Immune interaction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125D85-8119-BE44-FB6A-694C33F20A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324325" cy="323165"/>
          </a:xfrm>
        </p:spPr>
        <p:txBody>
          <a:bodyPr/>
          <a:lstStyle/>
          <a:p>
            <a:r>
              <a:rPr lang="en-US" dirty="0"/>
              <a:t>* Note: Both patients were responsive to treatment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9CD4D6-0BBB-6245-38F4-9C8F5F6DC6C8}"/>
              </a:ext>
            </a:extLst>
          </p:cNvPr>
          <p:cNvSpPr/>
          <p:nvPr/>
        </p:nvSpPr>
        <p:spPr>
          <a:xfrm>
            <a:off x="1478885" y="1154169"/>
            <a:ext cx="3870275" cy="10596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Low Colocalization </a:t>
            </a:r>
            <a:br>
              <a:rPr lang="en-US" dirty="0"/>
            </a:br>
            <a:r>
              <a:rPr lang="en-US" dirty="0"/>
              <a:t>Delaunay -(CD4 -4.3, CD8  -3.5)</a:t>
            </a:r>
          </a:p>
          <a:p>
            <a:pPr algn="ctr"/>
            <a:r>
              <a:rPr lang="en-US" dirty="0"/>
              <a:t>Radial – (CD4 -7.8 CD8 -6.5)</a:t>
            </a:r>
            <a:br>
              <a:rPr lang="en-US" dirty="0"/>
            </a:b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563D6C-2ED1-CED0-A806-3DB1DCC0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4936" y="2113109"/>
            <a:ext cx="5287530" cy="40427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B1CB150-2C75-1F3F-FBC4-C3BB6C3B09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74" y="2130945"/>
            <a:ext cx="5089626" cy="395096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CF9C89F-B714-C43A-922A-4239A305BF6C}"/>
              </a:ext>
            </a:extLst>
          </p:cNvPr>
          <p:cNvSpPr/>
          <p:nvPr/>
        </p:nvSpPr>
        <p:spPr>
          <a:xfrm>
            <a:off x="5905500" y="1154169"/>
            <a:ext cx="3870275" cy="97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High Colocalization </a:t>
            </a:r>
            <a:br>
              <a:rPr lang="en-US" dirty="0"/>
            </a:br>
            <a:r>
              <a:rPr lang="en-US" dirty="0"/>
              <a:t>Delaunay -(CD4 6.4, CD8  3.7)</a:t>
            </a:r>
          </a:p>
          <a:p>
            <a:pPr algn="ctr"/>
            <a:r>
              <a:rPr lang="en-US" dirty="0"/>
              <a:t>Radial – (CD4 4.4 CD8 1.5)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991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99ABB-BB55-35C7-F516-AF9D684E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A3F909-3FE5-8439-ED68-FCB1C6A86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Protein Colocalization Analysis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F6B496-FA0B-11A4-C1C4-72C3E49D4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5C171C-92FF-8418-A2DB-F896C0307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5" y="1679584"/>
            <a:ext cx="8158138" cy="447628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B89E1C6-1218-DF6A-97F6-3E982186F1BE}"/>
              </a:ext>
            </a:extLst>
          </p:cNvPr>
          <p:cNvSpPr/>
          <p:nvPr/>
        </p:nvSpPr>
        <p:spPr>
          <a:xfrm>
            <a:off x="8603142" y="4715843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448B7D-64FB-4C76-1402-1EBF1F2DF52E}"/>
              </a:ext>
            </a:extLst>
          </p:cNvPr>
          <p:cNvSpPr/>
          <p:nvPr/>
        </p:nvSpPr>
        <p:spPr>
          <a:xfrm>
            <a:off x="8603143" y="2360564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Delaunay</a:t>
            </a:r>
          </a:p>
        </p:txBody>
      </p:sp>
    </p:spTree>
    <p:extLst>
      <p:ext uri="{BB962C8B-B14F-4D97-AF65-F5344CB8AC3E}">
        <p14:creationId xmlns:p14="http://schemas.microsoft.com/office/powerpoint/2010/main" val="634371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5E684-6468-27FC-FD4A-A97D38E6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7A854D7-AF26-8558-0635-9E3DD017D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44899" y="2845014"/>
            <a:ext cx="1898167" cy="517065"/>
          </a:xfrm>
        </p:spPr>
        <p:txBody>
          <a:bodyPr/>
          <a:lstStyle/>
          <a:p>
            <a:r>
              <a:rPr lang="en-US" dirty="0"/>
              <a:t>Radial vs Delaunay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AA364-19E1-3321-BE22-500B4F9E76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63C83F9-64B5-54CD-2B50-A348E42C7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096" y="130329"/>
            <a:ext cx="5886037" cy="32296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6C2CE8-539E-F609-F333-51C33198F3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096" y="3275076"/>
            <a:ext cx="5909339" cy="345259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98E1517-8BB3-6743-57B5-3FCF63BE43EC}"/>
              </a:ext>
            </a:extLst>
          </p:cNvPr>
          <p:cNvSpPr/>
          <p:nvPr/>
        </p:nvSpPr>
        <p:spPr>
          <a:xfrm>
            <a:off x="6261222" y="4850161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120662-E888-F8A2-2253-CFE270982223}"/>
              </a:ext>
            </a:extLst>
          </p:cNvPr>
          <p:cNvSpPr/>
          <p:nvPr/>
        </p:nvSpPr>
        <p:spPr>
          <a:xfrm>
            <a:off x="6204628" y="1524000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Delaunay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1BA2160-E4BA-516A-3A3C-C6B4D964350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322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95344-DD0B-FBC8-72A2-50AE49EF7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17AE874-3B2A-8214-C05E-9D0DF50FC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Neighboring Cell Types Graph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CB9806-9DD7-33F5-2C91-35803712BD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C62B279-40FB-EF67-3DDE-7DD99C1ADA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29400" y="1643818"/>
            <a:ext cx="4658710" cy="1458348"/>
          </a:xfrm>
        </p:spPr>
        <p:txBody>
          <a:bodyPr/>
          <a:lstStyle/>
          <a:p>
            <a:r>
              <a:rPr lang="en-US" dirty="0"/>
              <a:t>Method to show types of cells neighboring a sample’s PMNs</a:t>
            </a:r>
          </a:p>
          <a:p>
            <a:pPr lvl="1"/>
            <a:r>
              <a:rPr lang="en-US" dirty="0"/>
              <a:t>Works with radial, Delauney, and </a:t>
            </a:r>
            <a:r>
              <a:rPr lang="en-US" dirty="0" err="1"/>
              <a:t>n_neighboors</a:t>
            </a:r>
            <a:r>
              <a:rPr lang="en-US" dirty="0"/>
              <a:t> criteria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211D0A8-B5CB-947A-C26D-D38B52418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195" y="1478818"/>
            <a:ext cx="5812279" cy="4842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3704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3D965A2-3A8F-9AA7-4BD4-98C9CA3BD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9914F74-0A87-A257-682D-2F74A9E93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Neighboring Cell Types Responder vs </a:t>
            </a:r>
            <a:r>
              <a:rPr lang="en-US" dirty="0" err="1"/>
              <a:t>Nonresponder</a:t>
            </a:r>
            <a:r>
              <a:rPr lang="en-US" dirty="0"/>
              <a:t> (</a:t>
            </a:r>
            <a:r>
              <a:rPr lang="en-US" dirty="0" err="1"/>
              <a:t>delaunay</a:t>
            </a:r>
            <a:r>
              <a:rPr lang="en-US" dirty="0"/>
              <a:t>) – (cell type)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14D5AA-8FA2-5245-79EC-C5C7EA036CB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16AC62B-445A-EBA3-890F-E65D14679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869" y="1800303"/>
            <a:ext cx="4589718" cy="440140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6474B1B-6E4C-E48B-B9A4-B795DC77C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675923"/>
            <a:ext cx="4764178" cy="4525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208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36C579-9F0B-5C91-C737-155770256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2AA10A6-DB33-8871-319F-FA9B00333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Neighboring Cell Types Responder vs </a:t>
            </a:r>
            <a:r>
              <a:rPr lang="en-US" dirty="0" err="1"/>
              <a:t>Nonresponder</a:t>
            </a:r>
            <a:r>
              <a:rPr lang="en-US" dirty="0"/>
              <a:t> (radial 21 microns) (cell type)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73B0A0-F7EC-9EF6-0018-6A631A04D23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A60C48-414A-DEC1-A2B2-AC42E0E18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0" y="1418811"/>
            <a:ext cx="5096540" cy="48409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F357FD-A12B-57AC-06C7-39CF87682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987" y="1544595"/>
            <a:ext cx="4848513" cy="4653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7013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78DA1-56DE-95F6-DB1B-DCEBCDB8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CF19B8D-D0F6-D87B-8A79-B38FBBCA1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Neighboring Cell Types Responder vs </a:t>
            </a:r>
            <a:r>
              <a:rPr lang="en-US" dirty="0" err="1"/>
              <a:t>Nonresponder</a:t>
            </a:r>
            <a:r>
              <a:rPr lang="en-US" dirty="0"/>
              <a:t> (21 microns) – (merged </a:t>
            </a:r>
            <a:r>
              <a:rPr lang="en-US" dirty="0" err="1"/>
              <a:t>annot</a:t>
            </a:r>
            <a:r>
              <a:rPr lang="en-US" dirty="0"/>
              <a:t> cluster)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DF68B-0EB6-AB24-C6B9-86CCC601EC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D329EAA-CF67-05F5-CD47-3D2004077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46" y="1533250"/>
            <a:ext cx="5048769" cy="468675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546E3E-4106-6248-7B7C-70D813BDD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342" y="1533250"/>
            <a:ext cx="5259012" cy="475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195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A0647-A157-C8F3-6566-E79687648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41B64F6-F768-6C28-5D94-3A944B520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Neighboring Cell Types Responder vs </a:t>
            </a:r>
            <a:r>
              <a:rPr lang="en-US" dirty="0" err="1"/>
              <a:t>Nonresponder</a:t>
            </a:r>
            <a:r>
              <a:rPr lang="en-US" dirty="0"/>
              <a:t> (</a:t>
            </a:r>
            <a:r>
              <a:rPr lang="en-US" dirty="0" err="1"/>
              <a:t>delaunay</a:t>
            </a:r>
            <a:r>
              <a:rPr lang="en-US" dirty="0"/>
              <a:t>) – (merged </a:t>
            </a:r>
            <a:r>
              <a:rPr lang="en-US" dirty="0" err="1"/>
              <a:t>annot</a:t>
            </a:r>
            <a:r>
              <a:rPr lang="en-US" dirty="0"/>
              <a:t> cluster)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DD36B4-BDF2-BB86-3491-FBE43EB1546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8B917F-5A93-6712-EA49-5CE0A0C74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58097"/>
            <a:ext cx="5266622" cy="476013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4D2BC78-E530-5A8B-73AC-2A605D1D0F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5061" y="1458098"/>
            <a:ext cx="5340733" cy="4977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9869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99C4C-8935-407C-DD5A-781B5FA19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75D2705-8162-3DF3-E5FF-D89EB81A2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CSFR3 Gene Expression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08B3B3A3-59C8-396E-D12C-1B8882A825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77351" y="1470367"/>
            <a:ext cx="10830910" cy="452432"/>
          </a:xfrm>
        </p:spPr>
        <p:txBody>
          <a:bodyPr/>
          <a:lstStyle/>
          <a:p>
            <a:r>
              <a:rPr lang="en-US" dirty="0"/>
              <a:t>Possible PMN marker – no good link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438E5F-5F0C-591C-2042-5C3104DDC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596" y="2431274"/>
            <a:ext cx="2877119" cy="219662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8AD6276-210B-4C55-6085-BE24E37D406A}"/>
              </a:ext>
            </a:extLst>
          </p:cNvPr>
          <p:cNvSpPr/>
          <p:nvPr/>
        </p:nvSpPr>
        <p:spPr>
          <a:xfrm>
            <a:off x="355159" y="2070881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Protein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A11C549-5755-4112-5565-45F49BBBED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9859" y="2381618"/>
            <a:ext cx="4418973" cy="221608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FC2A6BC-322B-8655-AA95-B648F330CADC}"/>
              </a:ext>
            </a:extLst>
          </p:cNvPr>
          <p:cNvSpPr/>
          <p:nvPr/>
        </p:nvSpPr>
        <p:spPr>
          <a:xfrm>
            <a:off x="3506626" y="2057615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mRNA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8E3F1D4-BE12-9076-4B13-8C6CF04659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2486" y="507830"/>
            <a:ext cx="3139859" cy="282993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3F2F7B4-B3EC-2896-52DC-CA470E0239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8976" y="3429000"/>
            <a:ext cx="3316695" cy="31200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C437F05-3C1F-4E77-57F6-69C899319C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351" y="4661372"/>
            <a:ext cx="2869743" cy="2196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2563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92F52-5A90-D95E-8395-C9A916292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9B01127-924F-37DB-8D2E-0FBAD6D26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B3C198-E255-B2A9-24A6-CD614FA7A96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740CDCA-5BB4-7F8A-D3F7-3A54A9749A4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35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C72EB-6954-37A8-47C7-801BBCE5C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E71B28E-4821-840D-4DD2-9C0417010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92043E-D81D-A04B-3DE4-D34A9F1637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9A3D449-44B4-E4EE-F8C4-6319522DEF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5377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F7D6B-B104-168B-5473-B37B1BAED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542B39-1E82-0965-B6DD-F98F273EB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EC69F3-5A90-A757-2872-BF1138B66C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B86015A-1E1E-D749-A70B-A5E32D229F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9407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Determine how far PMNs are to the nearest CD8 and CD4 cells. </a:t>
            </a:r>
          </a:p>
          <a:p>
            <a:pPr marL="514350" indent="-514350">
              <a:buAutoNum type="arabicPeriod"/>
            </a:pPr>
            <a:r>
              <a:rPr lang="en-US" dirty="0"/>
              <a:t>Clustering matrix </a:t>
            </a:r>
          </a:p>
        </p:txBody>
      </p:sp>
    </p:spTree>
    <p:extLst>
      <p:ext uri="{BB962C8B-B14F-4D97-AF65-F5344CB8AC3E}">
        <p14:creationId xmlns:p14="http://schemas.microsoft.com/office/powerpoint/2010/main" val="2239035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8EADB-4BE6-C1E3-5A1E-CE1BD6692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7775274-1EAE-46DB-E6EA-94489EEE5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925482-0601-E1A0-B7F8-3D84FB4D6F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7313B62-6D94-3772-BA4A-4103CD15EC6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7085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38708-E4F9-AA79-4C6B-205E65FF6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2CDB77B-4B10-A9D6-1368-ECDB5C922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and Future Projects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0A6CCA-1725-9752-8EAE-38F69F6054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D92275C-2349-57D6-75E8-DFA9B882F90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5325560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Current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Colocalization Clustering Analysis of the Z-score Data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Comparing other localization methods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1800" dirty="0">
                <a:latin typeface="helvetica" panose="020B0604020202020204" pitchFamily="34" charset="0"/>
                <a:cs typeface="helvetica" panose="020B0604020202020204" pitchFamily="34" charset="0"/>
              </a:rPr>
              <a:t>Radial threshold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1800" dirty="0">
                <a:latin typeface="helvetica" panose="020B0604020202020204" pitchFamily="34" charset="0"/>
                <a:cs typeface="helvetica" panose="020B0604020202020204" pitchFamily="34" charset="0"/>
              </a:rPr>
              <a:t>Find nearest T-cell to each PMN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Clustering Analysis of the protein expression data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Cleaning up and modularizing code</a:t>
            </a:r>
          </a:p>
          <a:p>
            <a:pPr marL="0" indent="0">
              <a:buNone/>
            </a:pPr>
            <a:endParaRPr lang="en-U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Future:</a:t>
            </a:r>
          </a:p>
          <a:p>
            <a:pPr marL="514350" indent="-514350"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CSF3R Gene expression in PMNs. May be useful identifier/verification of PMNs in Seurat data</a:t>
            </a:r>
          </a:p>
          <a:p>
            <a:pPr marL="514350" indent="-514350"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Mapping protein data with good clustering to mRNA. </a:t>
            </a:r>
          </a:p>
          <a:p>
            <a:pPr marL="514350" indent="-514350">
              <a:buAutoNum type="arabicPeriod"/>
            </a:pPr>
            <a:endParaRPr lang="en-U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82737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C6385-5A31-7159-5739-3C4DB571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FC03825-6AD4-BA2A-66DA-FCF759FC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686F22-615A-5F08-D6AB-B056866683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408D4DC-42AB-12EC-3F02-0945E64A60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2254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8663</TotalTime>
  <Words>286</Words>
  <Application>Microsoft Office PowerPoint</Application>
  <PresentationFormat>Widescreen</PresentationFormat>
  <Paragraphs>64</Paragraphs>
  <Slides>19</Slides>
  <Notes>18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helvetica</vt:lpstr>
      <vt:lpstr>Red Hat Display</vt:lpstr>
      <vt:lpstr>Red Hat Text</vt:lpstr>
      <vt:lpstr>Office Theme</vt:lpstr>
      <vt:lpstr>Week 3 Updates Shapiro</vt:lpstr>
      <vt:lpstr>Protein Colocalization Analysis – Radial Comparison</vt:lpstr>
      <vt:lpstr>Protein Colocalization Analysis – Radial Comparison</vt:lpstr>
      <vt:lpstr>Colocalization Verification PMN-Immune interaction</vt:lpstr>
      <vt:lpstr>Protein Colocalization Analysis</vt:lpstr>
      <vt:lpstr>Radial vs Delaunay</vt:lpstr>
      <vt:lpstr>Neighboring Cell Types Graph</vt:lpstr>
      <vt:lpstr>Neighboring Cell Types Responder vs Nonresponder (delaunay) – (cell type)</vt:lpstr>
      <vt:lpstr>Neighboring Cell Types Responder vs Nonresponder (radial 21 microns) (cell type)</vt:lpstr>
      <vt:lpstr>Neighboring Cell Types Responder vs Nonresponder (21 microns) – (merged annot cluster)</vt:lpstr>
      <vt:lpstr>Neighboring Cell Types Responder vs Nonresponder (delaunay) – (merged annot cluster)</vt:lpstr>
      <vt:lpstr>CSFR3 Gene Expression</vt:lpstr>
      <vt:lpstr>PowerPoint Presentation</vt:lpstr>
      <vt:lpstr>PowerPoint Presentation</vt:lpstr>
      <vt:lpstr>Next Steps</vt:lpstr>
      <vt:lpstr>PowerPoint Presentation</vt:lpstr>
      <vt:lpstr>Current and Future Projects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Daniel Johns</cp:lastModifiedBy>
  <cp:revision>12</cp:revision>
  <dcterms:created xsi:type="dcterms:W3CDTF">2025-06-03T19:55:18Z</dcterms:created>
  <dcterms:modified xsi:type="dcterms:W3CDTF">2025-06-17T22:12:45Z</dcterms:modified>
</cp:coreProperties>
</file>