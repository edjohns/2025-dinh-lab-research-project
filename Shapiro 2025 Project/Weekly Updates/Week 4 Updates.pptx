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64" r:id="rId2"/>
    <p:sldId id="281" r:id="rId3"/>
    <p:sldId id="289" r:id="rId4"/>
    <p:sldId id="292" r:id="rId5"/>
    <p:sldId id="290" r:id="rId6"/>
    <p:sldId id="286" r:id="rId7"/>
    <p:sldId id="294" r:id="rId8"/>
    <p:sldId id="295" r:id="rId9"/>
    <p:sldId id="296" r:id="rId10"/>
    <p:sldId id="297" r:id="rId11"/>
    <p:sldId id="298" r:id="rId12"/>
    <p:sldId id="301" r:id="rId13"/>
    <p:sldId id="302" r:id="rId14"/>
    <p:sldId id="303" r:id="rId15"/>
    <p:sldId id="304" r:id="rId16"/>
    <p:sldId id="299" r:id="rId17"/>
    <p:sldId id="288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6327"/>
  </p:normalViewPr>
  <p:slideViewPr>
    <p:cSldViewPr snapToGrid="0" snapToObjects="1">
      <p:cViewPr varScale="1">
        <p:scale>
          <a:sx n="88" d="100"/>
          <a:sy n="88" d="100"/>
        </p:scale>
        <p:origin x="210" y="5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E560-AB62-12CC-3533-3E33DA02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E626-892C-AB4C-0930-554DB60FF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59AC5-ABB6-4CB6-5DFC-0EDB675F2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5DEB2-213A-EAAB-6492-627B8B3D4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5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C6B2-2DB8-B9EB-3BEC-A773C1687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4BE-34D5-E0D1-1695-A2FBE7D5D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84E8C-8863-64FF-ACBC-42F1F9540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E117-A710-8A63-E25F-5E2DE38BF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109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4BA62-5B5E-1308-6C5D-D9C55CD1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90E3F-DE7A-0D3A-E673-67F664AFC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0014F-3C23-C464-99D3-C667FBDF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3D81A-7DFC-195E-C010-D2B98C833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92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DABE-343E-B8E2-9E2E-ABD8AC13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F0654-981E-0BC9-A205-40FEBE63FC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4D69-A4B9-B394-798C-01C25FE2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3A5C2-6F6D-FAA1-9C4C-41063C985A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123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6C619-166C-2B70-4EA8-1E8FE915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B5886-4E1B-29DF-187F-3897192D3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AB416-1DC2-C0C6-D960-38F314112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D4181-71B0-E091-D8AA-F3C26CD55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12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DFC56-D4E4-A365-AD3C-CD303BC51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67CE-DCF4-E383-1D27-3DFE830AC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7871D-3EC8-B706-20D9-53BF7E133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D699C-AF9E-17E6-7CE8-4780769C1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793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D789-F87D-FC73-C411-CD4A705C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25C0-74D3-5B35-1F8A-F23FC949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7FB79-B1D9-7481-DA20-91D88BE58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58758-12B3-4B38-3280-9A69CAECD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778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F41E8-4F1A-9593-68F3-3DB9BF30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CA583-1D5D-3491-9487-DD52B5B53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A0B1A-4592-0B23-B9E2-BF3ADC866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2D535-40C3-2C5C-CCF7-2D878F393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570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2DC2-2094-7F3A-59BB-52801680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DD03A-A415-B066-8C7C-F0ED34394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6D740-902F-6F1A-3B1A-504494AC9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179FC-D2AA-6C43-EAD9-FDE89D8F9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156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27E7-D49A-6832-4394-933353349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DC977-C8AB-3C3D-958B-C457A57FF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8800EC-B333-DBD9-146E-27E081547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41D4B-2A22-56A4-68AA-3458CC9A8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6607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76BC-8F17-8DB4-C595-DB1DB4E8F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70331-B4A8-680D-F9C6-D668BD165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404F3-98C7-9CF5-8E79-E8FEE9B47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372FF-B250-228E-AA46-4A6F8F9C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10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7A3F2-E43B-F847-669B-D03C9A60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84738-9E76-7A64-2199-A9B812DB2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A205F8-C214-7C59-FEC1-DC29725AF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4F181-FBDF-41BC-CB31-6C2868897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176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AED38-442E-D731-E1B5-4E36446B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F1A924-53AF-1AAF-37C9-2B7279DDB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61957-C2AD-230E-21F9-E7ED38BE9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F2C74-ECFC-278A-C6EC-3F069CC396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6157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DF6F-0222-51B3-87D9-25614018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87F55-97C4-4EBC-833E-FB21E0F40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7A2F45-8489-472C-A8DB-AF5C688CF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5DED-053D-2E28-F30B-4AF64DEE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19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4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2FDF-86C7-21FB-FED1-2F49C623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D166BCA-D18F-49F0-842C-0E890017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2F4468A-5961-755D-A536-BA32498A72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757B83-262B-4123-F04C-C034AF539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12" y="1342848"/>
            <a:ext cx="4959085" cy="50102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2E72B1-9923-A1B6-C2C2-88242CFAE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850" y="1223929"/>
            <a:ext cx="5099238" cy="512379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BA89A4-CA1E-1C65-BAF1-668DD24921AA}"/>
              </a:ext>
            </a:extLst>
          </p:cNvPr>
          <p:cNvSpPr/>
          <p:nvPr/>
        </p:nvSpPr>
        <p:spPr>
          <a:xfrm>
            <a:off x="770291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A127C4-A6CD-06C9-D54E-1BB65C099884}"/>
              </a:ext>
            </a:extLst>
          </p:cNvPr>
          <p:cNvSpPr/>
          <p:nvPr/>
        </p:nvSpPr>
        <p:spPr>
          <a:xfrm>
            <a:off x="242606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202806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35F0-9F3A-691E-F9CF-8F258ABA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BF7024-6CE3-C5A7-8E4A-81E528194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D0157B1-8A5E-C7CE-C6F1-626687BD170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905499" y="1343071"/>
            <a:ext cx="4779783" cy="4873735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3001F4-D1EB-6777-1D56-5F52FA4C3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43071"/>
            <a:ext cx="5122797" cy="50985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6C942E8-92D3-E589-1ABB-C8B3EBAF244C}"/>
              </a:ext>
            </a:extLst>
          </p:cNvPr>
          <p:cNvSpPr/>
          <p:nvPr/>
        </p:nvSpPr>
        <p:spPr>
          <a:xfrm>
            <a:off x="7425649" y="649189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E879B2-E84E-2A39-6A80-83975B3EEFB3}"/>
              </a:ext>
            </a:extLst>
          </p:cNvPr>
          <p:cNvSpPr/>
          <p:nvPr/>
        </p:nvSpPr>
        <p:spPr>
          <a:xfrm>
            <a:off x="2411190" y="6509156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394079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35CF-3EEE-D054-CB75-2DA6F587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2F49-54F2-7B1D-2945-A6D8CC7A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PMN-Immune interaction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25D85-8119-BE44-FB6A-694C33F20A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324325" cy="323165"/>
          </a:xfrm>
        </p:spPr>
        <p:txBody>
          <a:bodyPr/>
          <a:lstStyle/>
          <a:p>
            <a:r>
              <a:rPr lang="en-US" dirty="0"/>
              <a:t>* Note: Both patients were responsive to treatment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CD4D6-0BBB-6245-38F4-9C8F5F6DC6C8}"/>
              </a:ext>
            </a:extLst>
          </p:cNvPr>
          <p:cNvSpPr/>
          <p:nvPr/>
        </p:nvSpPr>
        <p:spPr>
          <a:xfrm>
            <a:off x="1478885" y="1154169"/>
            <a:ext cx="3870275" cy="105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 Colocalization </a:t>
            </a:r>
            <a:br>
              <a:rPr lang="en-US" dirty="0"/>
            </a:br>
            <a:r>
              <a:rPr lang="en-US" dirty="0"/>
              <a:t>Delaunay -(CD4 -4.3, CD8  -3.5)</a:t>
            </a:r>
          </a:p>
          <a:p>
            <a:pPr algn="ctr"/>
            <a:r>
              <a:rPr lang="en-US" dirty="0"/>
              <a:t>Radial – (CD4 -7.8 CD8 -6.5)</a:t>
            </a:r>
            <a:br>
              <a:rPr lang="en-US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563D6C-2ED1-CED0-A806-3DB1DCC0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936" y="2113109"/>
            <a:ext cx="5287530" cy="40427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1CB150-2C75-1F3F-FBC4-C3BB6C3B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4" y="2130945"/>
            <a:ext cx="5089626" cy="39509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F9C89F-B714-C43A-922A-4239A305BF6C}"/>
              </a:ext>
            </a:extLst>
          </p:cNvPr>
          <p:cNvSpPr/>
          <p:nvPr/>
        </p:nvSpPr>
        <p:spPr>
          <a:xfrm>
            <a:off x="5905500" y="1154169"/>
            <a:ext cx="3870275" cy="97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 </a:t>
            </a:r>
            <a:br>
              <a:rPr lang="en-US" dirty="0"/>
            </a:br>
            <a:r>
              <a:rPr lang="en-US" dirty="0"/>
              <a:t>Delaunay -(CD4 6.4, CD8  3.7)</a:t>
            </a:r>
          </a:p>
          <a:p>
            <a:pPr algn="ctr"/>
            <a:r>
              <a:rPr lang="en-US" dirty="0"/>
              <a:t>Radial – (CD4 4.4 CD8 1.5)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124C4AB4-53CD-F15E-446A-9442B6BE1CB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/>
          <a:stretch>
            <a:fillRect/>
          </a:stretch>
        </p:blipFill>
        <p:spPr>
          <a:xfrm>
            <a:off x="5926064" y="2130945"/>
            <a:ext cx="4024589" cy="4103697"/>
          </a:xfrm>
        </p:spPr>
      </p:pic>
    </p:spTree>
    <p:extLst>
      <p:ext uri="{BB962C8B-B14F-4D97-AF65-F5344CB8AC3E}">
        <p14:creationId xmlns:p14="http://schemas.microsoft.com/office/powerpoint/2010/main" val="320991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E684-6468-27FC-FD4A-A97D38E6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A854D7-AF26-8558-0635-9E3DD017D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4899" y="2845014"/>
            <a:ext cx="1898167" cy="517065"/>
          </a:xfrm>
        </p:spPr>
        <p:txBody>
          <a:bodyPr/>
          <a:lstStyle/>
          <a:p>
            <a:r>
              <a:rPr lang="en-US" dirty="0"/>
              <a:t>Radial vs Delaunay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AA364-19E1-3321-BE22-500B4F9E76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3C83F9-64B5-54CD-2B50-A348E42C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96" y="130329"/>
            <a:ext cx="5886037" cy="32296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6C2CE8-539E-F609-F333-51C33198F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096" y="3275076"/>
            <a:ext cx="5909339" cy="345259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98E1517-8BB3-6743-57B5-3FCF63BE43EC}"/>
              </a:ext>
            </a:extLst>
          </p:cNvPr>
          <p:cNvSpPr/>
          <p:nvPr/>
        </p:nvSpPr>
        <p:spPr>
          <a:xfrm>
            <a:off x="6261222" y="485016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120662-E888-F8A2-2253-CFE270982223}"/>
              </a:ext>
            </a:extLst>
          </p:cNvPr>
          <p:cNvSpPr/>
          <p:nvPr/>
        </p:nvSpPr>
        <p:spPr>
          <a:xfrm>
            <a:off x="6204628" y="152400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1BA2160-E4BA-516A-3A3C-C6B4D96435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32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5344-DD0B-FBC8-72A2-50AE49EF7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17AE874-3B2A-8214-C05E-9D0DF50F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Neighboring Cell Types Graph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B9806-9DD7-33F5-2C91-35803712BD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62B279-40FB-EF67-3DDE-7DD99C1AD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29400" y="1643818"/>
            <a:ext cx="4658710" cy="1458348"/>
          </a:xfrm>
        </p:spPr>
        <p:txBody>
          <a:bodyPr/>
          <a:lstStyle/>
          <a:p>
            <a:r>
              <a:rPr lang="en-US" dirty="0"/>
              <a:t>Method to show types of cells neighboring a sample’s PMNs</a:t>
            </a:r>
          </a:p>
          <a:p>
            <a:pPr lvl="1"/>
            <a:r>
              <a:rPr lang="en-US" dirty="0"/>
              <a:t>Works with radial, Delauney, and </a:t>
            </a:r>
            <a:r>
              <a:rPr lang="en-US" dirty="0" err="1"/>
              <a:t>n_neighboors</a:t>
            </a:r>
            <a:r>
              <a:rPr lang="en-US" dirty="0"/>
              <a:t> criteria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11D0A8-B5CB-947A-C26D-D38B52418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195" y="1478818"/>
            <a:ext cx="5812279" cy="484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370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D965A2-3A8F-9AA7-4BD4-98C9CA3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914F74-0A87-A257-682D-2F74A9E93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4D5AA-8FA2-5245-79EC-C5C7EA036C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6AC62B-445A-EBA3-890F-E65D14679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869" y="1800303"/>
            <a:ext cx="4589718" cy="44014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474B1B-6E4C-E48B-B9A4-B795DC77C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75923"/>
            <a:ext cx="4764178" cy="452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08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36C579-9F0B-5C91-C737-1557702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AA10A6-DB33-8871-319F-FA9B00333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(radial 21 microns)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3B0A0-F7EC-9EF6-0018-6A631A04D2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60C48-414A-DEC1-A2B2-AC42E0E18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1418811"/>
            <a:ext cx="5096540" cy="48409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F357FD-A12B-57AC-06C7-39CF87682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987" y="1544595"/>
            <a:ext cx="4848513" cy="465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701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8DA1-56DE-95F6-DB1B-DCEBCDB8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F19B8D-D0F6-D87B-8A79-B38FBBCA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(21 microns)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F68B-0EB6-AB24-C6B9-86CCC601EC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329EAA-CF67-05F5-CD47-3D2004077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47" y="1533250"/>
            <a:ext cx="4935148" cy="45812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546E3E-4106-6248-7B7C-70D813BDD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533250"/>
            <a:ext cx="5073087" cy="459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95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A0647-A157-C8F3-6566-E79687648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41B64F6-F768-6C28-5D94-3A944B520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DD36B4-BDF2-BB86-3491-FBE43EB154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8B917F-5A93-6712-EA49-5CE0A0C74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58097"/>
            <a:ext cx="5266622" cy="47601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D2BC78-E530-5A8B-73AC-2A605D1D0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5061" y="1458098"/>
            <a:ext cx="5340733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86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9C4C-8935-407C-DD5A-781B5FA1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5D2705-8162-3DF3-E5FF-D89EB81A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CSFR3 Gene Expression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B3B3A3-59C8-396E-D12C-1B8882A825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7351" y="1470367"/>
            <a:ext cx="10830910" cy="452432"/>
          </a:xfrm>
        </p:spPr>
        <p:txBody>
          <a:bodyPr/>
          <a:lstStyle/>
          <a:p>
            <a:r>
              <a:rPr lang="en-US" dirty="0"/>
              <a:t>Possible PMN marker – no good link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438E5F-5F0C-591C-2042-5C3104DDC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96" y="2431274"/>
            <a:ext cx="2877119" cy="219662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8AD6276-210B-4C55-6085-BE24E37D406A}"/>
              </a:ext>
            </a:extLst>
          </p:cNvPr>
          <p:cNvSpPr/>
          <p:nvPr/>
        </p:nvSpPr>
        <p:spPr>
          <a:xfrm>
            <a:off x="355159" y="207088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11C549-5755-4112-5565-45F49BBBE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859" y="2381618"/>
            <a:ext cx="4418973" cy="22160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FC2A6BC-322B-8655-AA95-B648F330CADC}"/>
              </a:ext>
            </a:extLst>
          </p:cNvPr>
          <p:cNvSpPr/>
          <p:nvPr/>
        </p:nvSpPr>
        <p:spPr>
          <a:xfrm>
            <a:off x="3506626" y="2057615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F2F7B4-B3EC-2896-52DC-CA470E023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976" y="3429000"/>
            <a:ext cx="3316695" cy="31200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437F05-3C1F-4E77-57F6-69C89931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351" y="4661372"/>
            <a:ext cx="2869743" cy="21966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766A47-A347-A466-943E-4A0F0AEE4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0307" y="395784"/>
            <a:ext cx="3265323" cy="3014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6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92F52-5A90-D95E-8395-C9A916292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9B01127-924F-37DB-8D2E-0FBAD6D2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Protein Mapping Expression Validation (CD11b PMN Marker)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B3C198-E255-B2A9-24A6-CD614FA7A9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740CDCA-5BB4-7F8A-D3F7-3A54A9749A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3A8851-C06E-1FDF-1C0D-2D4FD6C96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90" y="1822132"/>
            <a:ext cx="5202294" cy="38489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D3E265-0513-9422-C344-30C6A904D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046" y="1822131"/>
            <a:ext cx="4303264" cy="382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35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72EB-6954-37A8-47C7-801BBCE5C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E71B28E-4821-840D-4DD2-9C0417010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IFIT1/2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2043E-D81D-A04B-3DE4-D34A9F1637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DBD5CA-D516-90E2-5838-997C2E519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6" y="2001976"/>
            <a:ext cx="7222132" cy="36548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BFF620-1459-9D03-1F2D-61A1753E20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7019" y="2001976"/>
            <a:ext cx="4056781" cy="360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7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6A2CC-1623-7762-BA11-07B604D3B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E18A4A-B842-4B1F-B2B4-D3F8DBCFD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196702-8E4A-DF9F-33B8-820F54A682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66F6EC6-DC00-E4D7-EA3F-5963F07280D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7273803" y="2072887"/>
            <a:ext cx="4079997" cy="358392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CB964B-5DB1-6EFD-0707-D7E62FBD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6" y="2001977"/>
            <a:ext cx="7222132" cy="365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156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6BF14-7830-E1D9-AB7F-BCE0FFE94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7A2E7B-E581-D5DA-BD73-1F23EF749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ISG15/20, IFIT1/2, STAT1/2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11AF7-4202-7B9F-FE2E-5DB8BF6B13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A871475-3622-EEA9-9D79-C8571A3546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872307"/>
          </a:xfrm>
        </p:spPr>
        <p:txBody>
          <a:bodyPr/>
          <a:lstStyle/>
          <a:p>
            <a:r>
              <a:rPr lang="en-US" dirty="0"/>
              <a:t>Steps</a:t>
            </a:r>
          </a:p>
          <a:p>
            <a:pPr lvl="1"/>
            <a:r>
              <a:rPr lang="en-US" dirty="0"/>
              <a:t>Cleanup Code Base</a:t>
            </a:r>
          </a:p>
          <a:p>
            <a:pPr lvl="1"/>
            <a:r>
              <a:rPr lang="en-US" dirty="0"/>
              <a:t>Make Percentage Matrix</a:t>
            </a:r>
          </a:p>
          <a:p>
            <a:pPr lvl="1"/>
            <a:r>
              <a:rPr lang="en-US" dirty="0"/>
              <a:t>Create Heatmap of Percentage Matrix (Heatmap 1)</a:t>
            </a:r>
          </a:p>
          <a:p>
            <a:pPr lvl="1"/>
            <a:r>
              <a:rPr lang="en-US" dirty="0"/>
              <a:t>Create Heatmap of the delta vs general sample (Heatmap 2)</a:t>
            </a:r>
          </a:p>
        </p:txBody>
      </p:sp>
    </p:spTree>
    <p:extLst>
      <p:ext uri="{BB962C8B-B14F-4D97-AF65-F5344CB8AC3E}">
        <p14:creationId xmlns:p14="http://schemas.microsoft.com/office/powerpoint/2010/main" val="307363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F7D6B-B104-168B-5473-B37B1BAE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542B39-1E82-0965-B6DD-F98F273EB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EC69F3-5A90-A757-2872-BF1138B66C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B86015A-1E1E-D749-A70B-A5E32D229F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429109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Determine how far PMNs are to the nearest CD8 and CD4 cells. </a:t>
            </a:r>
          </a:p>
          <a:p>
            <a:pPr marL="514350" indent="-514350">
              <a:buAutoNum type="arabicPeriod"/>
            </a:pPr>
            <a:r>
              <a:rPr lang="en-US" dirty="0"/>
              <a:t>Clustering matrix by protein expression</a:t>
            </a:r>
          </a:p>
          <a:p>
            <a:pPr marL="514350" indent="-514350">
              <a:buAutoNum type="arabicPeriod"/>
            </a:pPr>
            <a:r>
              <a:rPr lang="en-US" dirty="0"/>
              <a:t>Analyze T cell neighbors</a:t>
            </a:r>
          </a:p>
        </p:txBody>
      </p:sp>
    </p:spTree>
    <p:extLst>
      <p:ext uri="{BB962C8B-B14F-4D97-AF65-F5344CB8AC3E}">
        <p14:creationId xmlns:p14="http://schemas.microsoft.com/office/powerpoint/2010/main" val="22390355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15944</TotalTime>
  <Words>267</Words>
  <Application>Microsoft Office PowerPoint</Application>
  <PresentationFormat>Widescreen</PresentationFormat>
  <Paragraphs>58</Paragraphs>
  <Slides>18</Slides>
  <Notes>17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Red Hat Display</vt:lpstr>
      <vt:lpstr>Red Hat Text</vt:lpstr>
      <vt:lpstr>Office Theme</vt:lpstr>
      <vt:lpstr>Week 4 Updates Shapiro</vt:lpstr>
      <vt:lpstr>Protein Colocalization Analysis – Radial Comparison</vt:lpstr>
      <vt:lpstr>Protein Colocalization Analysis – Radial Comparison</vt:lpstr>
      <vt:lpstr>Colocalization Verification PMN-Immune interaction</vt:lpstr>
      <vt:lpstr>Radial vs Delaunay</vt:lpstr>
      <vt:lpstr>Neighboring Cell Types Graph</vt:lpstr>
      <vt:lpstr>Neighboring Cell Types Responder vs Nonresponder (delaunay) – (cell type)</vt:lpstr>
      <vt:lpstr>Neighboring Cell Types Responder vs Nonresponder (radial 21 microns) (cell type)</vt:lpstr>
      <vt:lpstr>Neighboring Cell Types Responder vs Nonresponder (21 microns) – (merged annot cluster)</vt:lpstr>
      <vt:lpstr>Neighboring Cell Types Responder vs Nonresponder (delaunay) – (merged annot cluster)</vt:lpstr>
      <vt:lpstr>CSFR3 Gene Expression</vt:lpstr>
      <vt:lpstr>Protein Mapping Expression Validation (CD11b PMN Marker) </vt:lpstr>
      <vt:lpstr>IFIT1/2</vt:lpstr>
      <vt:lpstr>STAT1/2</vt:lpstr>
      <vt:lpstr>ISG15/20, IFIT1/2, STAT1/2</vt:lpstr>
      <vt:lpstr>Next Steps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14</cp:revision>
  <dcterms:created xsi:type="dcterms:W3CDTF">2025-06-03T19:55:18Z</dcterms:created>
  <dcterms:modified xsi:type="dcterms:W3CDTF">2025-07-21T15:43:10Z</dcterms:modified>
</cp:coreProperties>
</file>