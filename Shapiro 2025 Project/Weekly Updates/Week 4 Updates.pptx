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2"/>
  </p:notesMasterIdLst>
  <p:sldIdLst>
    <p:sldId id="264" r:id="rId2"/>
    <p:sldId id="281" r:id="rId3"/>
    <p:sldId id="289" r:id="rId4"/>
    <p:sldId id="292" r:id="rId5"/>
    <p:sldId id="282" r:id="rId6"/>
    <p:sldId id="290" r:id="rId7"/>
    <p:sldId id="286" r:id="rId8"/>
    <p:sldId id="283" r:id="rId9"/>
    <p:sldId id="288" r:id="rId10"/>
    <p:sldId id="267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5050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0979"/>
    <p:restoredTop sz="96327"/>
  </p:normalViewPr>
  <p:slideViewPr>
    <p:cSldViewPr snapToGrid="0" snapToObjects="1">
      <p:cViewPr>
        <p:scale>
          <a:sx n="150" d="100"/>
          <a:sy n="150" d="100"/>
        </p:scale>
        <p:origin x="120" y="27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E03F8B-A50D-DE44-9304-39C43FB3C5B0}" type="datetimeFigureOut">
              <a:rPr lang="en-US" smtClean="0"/>
              <a:t>6/12/2025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151AFC-CD2E-5241-A5F6-3092FE7745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1248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4874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BBE560-AB62-12CC-3533-3E33DA02C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38E626-892C-AB4C-0930-554DB60FFB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159AC5-ABB6-4CB6-5DFC-0EDB675F2A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95DEB2-213A-EAAB-6492-627B8B3D4A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7756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44C6B2-2DB8-B9EB-3BEC-A773C1687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ED64BE-34D5-E0D1-1695-A2FBE7D5D1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184E8C-8863-64FF-ACBC-42F1F9540D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23E117-A710-8A63-E25F-5E2DE38BF0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1091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98ABF2-10D5-43FF-6806-951228519D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1CFED4-4244-C060-7BC9-FBA58345BC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6A505C-FC21-8D6A-99C9-D107BB184F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EC4D4E-4447-E26B-25DE-7C10862FB8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3753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24BA62-5B5E-1308-6C5D-D9C55CD17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F90E3F-DE7A-0D3A-E673-67F664AFC5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B0014F-3C23-C464-99D3-C667FBDF65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33D81A-7DFC-195E-C010-D2B98C833E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6928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07DABE-343E-B8E2-9E2E-ABD8AC131A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8F0654-981E-0BC9-A205-40FEBE63FC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3C4D69-A4B9-B394-798C-01C25FE2A0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53A5C2-6F6D-FAA1-9C4C-41063C985A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1236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714BAE-2EE5-A03E-B4DE-A12123223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7053B8-2BC7-0FA0-BDDC-998327D800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E719BA-DFC1-4588-5662-87D26EA9A7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BD889E-1A23-74F0-F1C8-9F9FAB4C84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4805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3EE3FD-6E55-F24B-A475-247FC6D7E1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AF8693-C447-38FE-E3A0-295EAE10D6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F98412-9D44-B26E-9C17-39621703C4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00B736-CC86-D589-91B3-030B8B908D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0961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4104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alphaModFix amt="50344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 18">
            <a:extLst>
              <a:ext uri="{FF2B5EF4-FFF2-40B4-BE49-F238E27FC236}">
                <a16:creationId xmlns:a16="http://schemas.microsoft.com/office/drawing/2014/main" id="{3F103DCA-791F-6E43-9621-0FFA8B5440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0464798" cy="6858000"/>
          </a:xfrm>
          <a:custGeom>
            <a:avLst/>
            <a:gdLst>
              <a:gd name="connsiteX0" fmla="*/ 0 w 10464798"/>
              <a:gd name="connsiteY0" fmla="*/ 0 h 6858000"/>
              <a:gd name="connsiteX1" fmla="*/ 406398 w 10464798"/>
              <a:gd name="connsiteY1" fmla="*/ 0 h 6858000"/>
              <a:gd name="connsiteX2" fmla="*/ 5498904 w 10464798"/>
              <a:gd name="connsiteY2" fmla="*/ 0 h 6858000"/>
              <a:gd name="connsiteX3" fmla="*/ 5850595 w 10464798"/>
              <a:gd name="connsiteY3" fmla="*/ 0 h 6858000"/>
              <a:gd name="connsiteX4" fmla="*/ 10464798 w 10464798"/>
              <a:gd name="connsiteY4" fmla="*/ 0 h 6858000"/>
              <a:gd name="connsiteX5" fmla="*/ 8809500 w 10464798"/>
              <a:gd name="connsiteY5" fmla="*/ 6858000 h 6858000"/>
              <a:gd name="connsiteX6" fmla="*/ 5850595 w 10464798"/>
              <a:gd name="connsiteY6" fmla="*/ 6858000 h 6858000"/>
              <a:gd name="connsiteX7" fmla="*/ 3843605 w 10464798"/>
              <a:gd name="connsiteY7" fmla="*/ 6858000 h 6858000"/>
              <a:gd name="connsiteX8" fmla="*/ 406398 w 10464798"/>
              <a:gd name="connsiteY8" fmla="*/ 6858000 h 6858000"/>
              <a:gd name="connsiteX9" fmla="*/ 0 w 10464798"/>
              <a:gd name="connsiteY9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464798" h="6858000">
                <a:moveTo>
                  <a:pt x="0" y="0"/>
                </a:moveTo>
                <a:lnTo>
                  <a:pt x="406398" y="0"/>
                </a:lnTo>
                <a:lnTo>
                  <a:pt x="5498904" y="0"/>
                </a:lnTo>
                <a:lnTo>
                  <a:pt x="5850595" y="0"/>
                </a:lnTo>
                <a:lnTo>
                  <a:pt x="10464798" y="0"/>
                </a:lnTo>
                <a:lnTo>
                  <a:pt x="8809500" y="6858000"/>
                </a:lnTo>
                <a:lnTo>
                  <a:pt x="5850595" y="6858000"/>
                </a:lnTo>
                <a:lnTo>
                  <a:pt x="3843605" y="6858000"/>
                </a:lnTo>
                <a:lnTo>
                  <a:pt x="406398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F70F15D-372D-5B45-92B4-1B626E0FC12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3429374"/>
            <a:ext cx="6159500" cy="410882"/>
          </a:xfrm>
        </p:spPr>
        <p:txBody>
          <a:bodyPr/>
          <a:lstStyle>
            <a:lvl1pPr marL="0" indent="0">
              <a:buNone/>
              <a:defRPr sz="2300">
                <a:ln>
                  <a:noFill/>
                </a:ln>
                <a:solidFill>
                  <a:schemeClr val="tx1">
                    <a:lumMod val="25000"/>
                    <a:lumOff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Insert subtitle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E378D8B-ED2A-3D41-92FB-40BA9FA8CC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7200" y="3182248"/>
            <a:ext cx="471523" cy="94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B995C957-CDB9-C342-8243-6F7D038511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99" y="6231067"/>
            <a:ext cx="7530353" cy="295466"/>
          </a:xfrm>
        </p:spPr>
        <p:txBody>
          <a:bodyPr bIns="0" anchor="b" anchorCtr="0"/>
          <a:lstStyle>
            <a:lvl1pPr marL="0" indent="0">
              <a:buNone/>
              <a:defRPr sz="18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Insert name, position, unit/faculty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C77E77-56F4-4C9C-AB6A-89C89D91C7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9" y="1814627"/>
            <a:ext cx="7530353" cy="1213153"/>
          </a:xfrm>
        </p:spPr>
        <p:txBody>
          <a:bodyPr rIns="182880"/>
          <a:lstStyle>
            <a:lvl1pPr>
              <a:defRPr sz="4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presentation title in title or sentence case</a:t>
            </a:r>
          </a:p>
        </p:txBody>
      </p:sp>
    </p:spTree>
    <p:extLst>
      <p:ext uri="{BB962C8B-B14F-4D97-AF65-F5344CB8AC3E}">
        <p14:creationId xmlns:p14="http://schemas.microsoft.com/office/powerpoint/2010/main" val="41264554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9886E-E0D4-5815-83F1-889895E62F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702134"/>
            <a:ext cx="10896600" cy="517065"/>
          </a:xfrm>
        </p:spPr>
        <p:txBody>
          <a:bodyPr/>
          <a:lstStyle>
            <a:lvl1pPr>
              <a:defRPr b="1" i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</a:lstStyle>
          <a:p>
            <a:r>
              <a:rPr lang="en-US" dirty="0"/>
              <a:t>Insert slide title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2969AA8-F260-814E-8CAE-0885CD16F6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7200" y="1331912"/>
            <a:ext cx="471523" cy="94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FBF89922-C537-DD47-8C8F-19B8B33E65F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24000" y="1524000"/>
            <a:ext cx="9829800" cy="4648200"/>
          </a:xfrm>
        </p:spPr>
        <p:txBody>
          <a:bodyPr/>
          <a:lstStyle/>
          <a:p>
            <a:pPr lvl="0"/>
            <a:r>
              <a:rPr lang="en-US" dirty="0"/>
              <a:t>Bulleted list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17E8CB17-529B-9C4F-B120-C1236DEE81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6534055"/>
            <a:ext cx="4460516" cy="323165"/>
          </a:xfrm>
          <a:solidFill>
            <a:schemeClr val="accent1"/>
          </a:solidFill>
        </p:spPr>
        <p:txBody>
          <a:bodyPr wrap="none" lIns="274320" tIns="64008" rIns="274320" bIns="64008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Insert presentation topic or department/unit name</a:t>
            </a:r>
          </a:p>
        </p:txBody>
      </p:sp>
    </p:spTree>
    <p:extLst>
      <p:ext uri="{BB962C8B-B14F-4D97-AF65-F5344CB8AC3E}">
        <p14:creationId xmlns:p14="http://schemas.microsoft.com/office/powerpoint/2010/main" val="3626283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BCA86-D8D8-70D0-C62A-9DE796C67A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702134"/>
            <a:ext cx="10896600" cy="517065"/>
          </a:xfrm>
        </p:spPr>
        <p:txBody>
          <a:bodyPr/>
          <a:lstStyle>
            <a:lvl1pPr>
              <a:defRPr b="1" i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</a:lstStyle>
          <a:p>
            <a:r>
              <a:rPr lang="en-US" dirty="0"/>
              <a:t>Insert slide title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2969AA8-F260-814E-8CAE-0885CD16F6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7200" y="1331912"/>
            <a:ext cx="471523" cy="94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FBF89922-C537-DD47-8C8F-19B8B33E65F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24000" y="1524000"/>
            <a:ext cx="4724400" cy="4648200"/>
          </a:xfrm>
        </p:spPr>
        <p:txBody>
          <a:bodyPr/>
          <a:lstStyle/>
          <a:p>
            <a:pPr lvl="0"/>
            <a:r>
              <a:rPr lang="en-US" dirty="0"/>
              <a:t>Bulleted list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17E8CB17-529B-9C4F-B120-C1236DEE81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6534055"/>
            <a:ext cx="4460516" cy="323165"/>
          </a:xfrm>
          <a:solidFill>
            <a:schemeClr val="accent1"/>
          </a:solidFill>
        </p:spPr>
        <p:txBody>
          <a:bodyPr wrap="none" lIns="274320" tIns="64008" rIns="274320" bIns="64008"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Insert presentation topic or department/unit name</a:t>
            </a:r>
          </a:p>
        </p:txBody>
      </p:sp>
      <p:sp>
        <p:nvSpPr>
          <p:cNvPr id="6" name="Content Placeholder 12">
            <a:extLst>
              <a:ext uri="{FF2B5EF4-FFF2-40B4-BE49-F238E27FC236}">
                <a16:creationId xmlns:a16="http://schemas.microsoft.com/office/drawing/2014/main" id="{E2D8BB4A-46A4-1343-BA88-41D2E1C0EA50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438900" y="1524000"/>
            <a:ext cx="4914900" cy="4648200"/>
          </a:xfrm>
        </p:spPr>
        <p:txBody>
          <a:bodyPr/>
          <a:lstStyle/>
          <a:p>
            <a:pPr lvl="0"/>
            <a:r>
              <a:rPr lang="en-US" dirty="0"/>
              <a:t>Bulleted list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35788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48866-4F69-FCBB-5935-007FD86EB9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702134"/>
            <a:ext cx="10896600" cy="517065"/>
          </a:xfrm>
        </p:spPr>
        <p:txBody>
          <a:bodyPr/>
          <a:lstStyle>
            <a:lvl1pPr>
              <a:defRPr b="1" i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</a:lstStyle>
          <a:p>
            <a:r>
              <a:rPr lang="en-US" dirty="0"/>
              <a:t>Insert slide title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17E8CB17-529B-9C4F-B120-C1236DEE81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6534055"/>
            <a:ext cx="4460516" cy="323165"/>
          </a:xfrm>
          <a:solidFill>
            <a:schemeClr val="accent1"/>
          </a:solidFill>
        </p:spPr>
        <p:txBody>
          <a:bodyPr wrap="none" lIns="274320" tIns="64008" rIns="274320" bIns="64008"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Insert presentation topic or department/unit name</a:t>
            </a:r>
          </a:p>
        </p:txBody>
      </p:sp>
      <p:sp>
        <p:nvSpPr>
          <p:cNvPr id="7" name="Chart Placeholder 11">
            <a:extLst>
              <a:ext uri="{FF2B5EF4-FFF2-40B4-BE49-F238E27FC236}">
                <a16:creationId xmlns:a16="http://schemas.microsoft.com/office/drawing/2014/main" id="{8C3425D9-7762-3940-B7DA-B13EC3E058BA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1524000" y="1523999"/>
            <a:ext cx="9829800" cy="4631865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r>
              <a:rPr lang="en-US" dirty="0"/>
              <a:t>chart</a:t>
            </a:r>
          </a:p>
        </p:txBody>
      </p:sp>
    </p:spTree>
    <p:extLst>
      <p:ext uri="{BB962C8B-B14F-4D97-AF65-F5344CB8AC3E}">
        <p14:creationId xmlns:p14="http://schemas.microsoft.com/office/powerpoint/2010/main" val="19027391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317D7-4166-2ED9-1881-347107691C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702134"/>
            <a:ext cx="10896600" cy="517065"/>
          </a:xfrm>
        </p:spPr>
        <p:txBody>
          <a:bodyPr/>
          <a:lstStyle>
            <a:lvl1pPr>
              <a:defRPr b="1" i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</a:lstStyle>
          <a:p>
            <a:r>
              <a:rPr lang="en-US" dirty="0"/>
              <a:t>Insert slide title</a:t>
            </a:r>
          </a:p>
        </p:txBody>
      </p:sp>
      <p:sp>
        <p:nvSpPr>
          <p:cNvPr id="12" name="Chart Placeholder 11">
            <a:extLst>
              <a:ext uri="{FF2B5EF4-FFF2-40B4-BE49-F238E27FC236}">
                <a16:creationId xmlns:a16="http://schemas.microsoft.com/office/drawing/2014/main" id="{C8FC7EDF-D625-4640-AF06-22ADBDC8C8CE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457200" y="1530523"/>
            <a:ext cx="5429250" cy="4641677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3" name="Chart Placeholder 11">
            <a:extLst>
              <a:ext uri="{FF2B5EF4-FFF2-40B4-BE49-F238E27FC236}">
                <a16:creationId xmlns:a16="http://schemas.microsoft.com/office/drawing/2014/main" id="{8C45FAA6-1118-A24C-9C61-949F410E7C81}"/>
              </a:ext>
            </a:extLst>
          </p:cNvPr>
          <p:cNvSpPr>
            <a:spLocks noGrp="1"/>
          </p:cNvSpPr>
          <p:nvPr>
            <p:ph type="chart" sz="quarter" idx="14" hasCustomPrompt="1"/>
          </p:nvPr>
        </p:nvSpPr>
        <p:spPr>
          <a:xfrm>
            <a:off x="6438900" y="1530523"/>
            <a:ext cx="4914900" cy="4641677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2437A76B-A3F1-E24A-9B72-37AC8087EC1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0" y="6534835"/>
            <a:ext cx="4460516" cy="323165"/>
          </a:xfrm>
          <a:solidFill>
            <a:schemeClr val="accent1"/>
          </a:solidFill>
        </p:spPr>
        <p:txBody>
          <a:bodyPr wrap="none" lIns="274320" tIns="64008" rIns="274320" bIns="64008"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Insert presentation topic or department/unit name</a:t>
            </a:r>
          </a:p>
        </p:txBody>
      </p:sp>
    </p:spTree>
    <p:extLst>
      <p:ext uri="{BB962C8B-B14F-4D97-AF65-F5344CB8AC3E}">
        <p14:creationId xmlns:p14="http://schemas.microsoft.com/office/powerpoint/2010/main" val="16863952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200CC43E-DAB5-6045-A3FC-1B1B9D6DFFEB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1524000" y="1524000"/>
            <a:ext cx="9829800" cy="341632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Insert table	</a:t>
            </a:r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A0123EED-038F-7B4A-92A4-A606571FF59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0" y="6534835"/>
            <a:ext cx="4460516" cy="323165"/>
          </a:xfrm>
          <a:solidFill>
            <a:schemeClr val="accent1"/>
          </a:solidFill>
        </p:spPr>
        <p:txBody>
          <a:bodyPr wrap="none" lIns="274320" tIns="64008" rIns="274320" bIns="64008"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Insert presentation topic or department/unit name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972BC0-0141-2D65-4384-82B2C1196A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702134"/>
            <a:ext cx="10896600" cy="517065"/>
          </a:xfrm>
        </p:spPr>
        <p:txBody>
          <a:bodyPr/>
          <a:lstStyle>
            <a:lvl1pPr>
              <a:defRPr b="1" i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</a:lstStyle>
          <a:p>
            <a:r>
              <a:rPr lang="en-US" dirty="0"/>
              <a:t>Insert slide title</a:t>
            </a:r>
          </a:p>
        </p:txBody>
      </p:sp>
    </p:spTree>
    <p:extLst>
      <p:ext uri="{BB962C8B-B14F-4D97-AF65-F5344CB8AC3E}">
        <p14:creationId xmlns:p14="http://schemas.microsoft.com/office/powerpoint/2010/main" val="21192457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D868577-B206-C94D-AA90-90C71CB8AC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4479"/>
          <a:stretch/>
        </p:blipFill>
        <p:spPr>
          <a:xfrm>
            <a:off x="0" y="0"/>
            <a:ext cx="1164590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55926B1D-2681-6D40-953A-D41E624A2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9900" y="1104900"/>
            <a:ext cx="10210800" cy="4648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FC3DB9-D22E-37C1-8603-44F3A55AA5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5200" y="3125519"/>
            <a:ext cx="9080500" cy="603563"/>
          </a:xfrm>
        </p:spPr>
        <p:txBody>
          <a:bodyPr anchor="ctr" anchorCtr="0"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section header slide title</a:t>
            </a:r>
          </a:p>
        </p:txBody>
      </p:sp>
    </p:spTree>
    <p:extLst>
      <p:ext uri="{BB962C8B-B14F-4D97-AF65-F5344CB8AC3E}">
        <p14:creationId xmlns:p14="http://schemas.microsoft.com/office/powerpoint/2010/main" val="28924274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</a:lstStyle>
          <a:p>
            <a:r>
              <a:rPr lang="en-US" dirty="0"/>
              <a:t>Insert slide title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B19960-C592-024C-8B94-896ABF102E5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0" y="6528435"/>
            <a:ext cx="4460516" cy="344710"/>
          </a:xfrm>
        </p:spPr>
        <p:txBody>
          <a:bodyPr wrap="none" tIns="64008" bIns="64008"/>
          <a:lstStyle/>
          <a:p>
            <a:r>
              <a:rPr lang="en-US" dirty="0"/>
              <a:t>Insert presentation topic or department/unit name</a:t>
            </a:r>
          </a:p>
        </p:txBody>
      </p:sp>
    </p:spTree>
    <p:extLst>
      <p:ext uri="{BB962C8B-B14F-4D97-AF65-F5344CB8AC3E}">
        <p14:creationId xmlns:p14="http://schemas.microsoft.com/office/powerpoint/2010/main" val="14203618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621CCA-1EB8-EE46-B4BA-5F3D9757544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0" y="6528435"/>
            <a:ext cx="4460516" cy="344710"/>
          </a:xfrm>
        </p:spPr>
        <p:txBody>
          <a:bodyPr wrap="none" tIns="64008" bIns="64008"/>
          <a:lstStyle/>
          <a:p>
            <a:r>
              <a:rPr lang="en-US" dirty="0"/>
              <a:t>Insert presentation topic or department/unit name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41FB28-7881-67A2-3E03-9832EF556D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213392"/>
            <a:ext cx="10896600" cy="213392"/>
          </a:xfrm>
        </p:spPr>
        <p:txBody>
          <a:bodyPr/>
          <a:lstStyle>
            <a:lvl1pPr>
              <a:defRPr sz="1200" b="0" i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defRPr>
            </a:lvl1pPr>
          </a:lstStyle>
          <a:p>
            <a:r>
              <a:rPr lang="en-US" dirty="0"/>
              <a:t>Blank Slide</a:t>
            </a:r>
          </a:p>
        </p:txBody>
      </p:sp>
    </p:spTree>
    <p:extLst>
      <p:ext uri="{BB962C8B-B14F-4D97-AF65-F5344CB8AC3E}">
        <p14:creationId xmlns:p14="http://schemas.microsoft.com/office/powerpoint/2010/main" val="6495042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05A38DE-B4F5-9E44-95BA-B520170514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9939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UW–Madison logo with white text on a red background">
            <a:extLst>
              <a:ext uri="{FF2B5EF4-FFF2-40B4-BE49-F238E27FC236}">
                <a16:creationId xmlns:a16="http://schemas.microsoft.com/office/drawing/2014/main" id="{FD11A7E0-5739-204C-9014-DB43944F2DC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557092" y="2911281"/>
            <a:ext cx="3077817" cy="10354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343DB41-0E0D-3DA2-7A76-C0187BC8F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223331"/>
            <a:ext cx="10896600" cy="213392"/>
          </a:xfrm>
        </p:spPr>
        <p:txBody>
          <a:bodyPr/>
          <a:lstStyle>
            <a:lvl1pPr>
              <a:defRPr sz="1200" b="0" i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defRPr>
            </a:lvl1pPr>
          </a:lstStyle>
          <a:p>
            <a:r>
              <a:rPr lang="en-US" dirty="0"/>
              <a:t>Red Closing Slide</a:t>
            </a:r>
          </a:p>
        </p:txBody>
      </p:sp>
    </p:spTree>
    <p:extLst>
      <p:ext uri="{BB962C8B-B14F-4D97-AF65-F5344CB8AC3E}">
        <p14:creationId xmlns:p14="http://schemas.microsoft.com/office/powerpoint/2010/main" val="7978358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05A38DE-B4F5-9E44-95BA-B520170514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9939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UW–Madison logo with white text on a red background">
            <a:extLst>
              <a:ext uri="{FF2B5EF4-FFF2-40B4-BE49-F238E27FC236}">
                <a16:creationId xmlns:a16="http://schemas.microsoft.com/office/drawing/2014/main" id="{FD11A7E0-5739-204C-9014-DB43944F2DC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557092" y="2911281"/>
            <a:ext cx="3077817" cy="10354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27DB89E-70AA-E4A2-9190-47A86DFC3F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223331"/>
            <a:ext cx="10896600" cy="213392"/>
          </a:xfrm>
        </p:spPr>
        <p:txBody>
          <a:bodyPr/>
          <a:lstStyle>
            <a:lvl1pPr>
              <a:defRPr sz="1200" b="0" i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defRPr>
            </a:lvl1pPr>
          </a:lstStyle>
          <a:p>
            <a:r>
              <a:rPr lang="en-US" dirty="0"/>
              <a:t>Black Closing slide</a:t>
            </a:r>
          </a:p>
        </p:txBody>
      </p:sp>
    </p:spTree>
    <p:extLst>
      <p:ext uri="{BB962C8B-B14F-4D97-AF65-F5344CB8AC3E}">
        <p14:creationId xmlns:p14="http://schemas.microsoft.com/office/powerpoint/2010/main" val="10526158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80455"/>
            <a:ext cx="10896600" cy="517065"/>
          </a:xfrm>
          <a:prstGeom prst="rect">
            <a:avLst/>
          </a:prstGeom>
        </p:spPr>
        <p:txBody>
          <a:bodyPr vert="horz" wrap="square" lIns="0" tIns="45720" rIns="91440" bIns="0" rtlCol="0" anchor="b" anchorCtr="0"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24000"/>
            <a:ext cx="10896600" cy="1775358"/>
          </a:xfrm>
          <a:prstGeom prst="rect">
            <a:avLst/>
          </a:prstGeom>
        </p:spPr>
        <p:txBody>
          <a:bodyPr vert="horz" wrap="square" lIns="0" tIns="45720" rIns="91440" bIns="4572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0" y="6543580"/>
            <a:ext cx="1116106" cy="314420"/>
          </a:xfrm>
          <a:prstGeom prst="rect">
            <a:avLst/>
          </a:prstGeom>
          <a:solidFill>
            <a:schemeClr val="accent1"/>
          </a:solidFill>
        </p:spPr>
        <p:txBody>
          <a:bodyPr vert="horz" wrap="square" lIns="274320" tIns="45720" rIns="274320" bIns="45720" rtlCol="0" anchor="ctr">
            <a:spAutoFit/>
          </a:bodyPr>
          <a:lstStyle>
            <a:lvl1pPr algn="l">
              <a:defRPr sz="1400">
                <a:solidFill>
                  <a:schemeClr val="bg1"/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60EB5E6-54D5-9945-8BFD-BD46E27944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647553" y="0"/>
            <a:ext cx="57064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UW–Madison crest logo in red">
            <a:extLst>
              <a:ext uri="{FF2B5EF4-FFF2-40B4-BE49-F238E27FC236}">
                <a16:creationId xmlns:a16="http://schemas.microsoft.com/office/drawing/2014/main" id="{52794618-AA7B-F040-BD0B-B97556AA7FE3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1704812" y="222225"/>
            <a:ext cx="456122" cy="716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54791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5" r:id="rId3"/>
    <p:sldLayoutId id="2147483676" r:id="rId4"/>
    <p:sldLayoutId id="2147483672" r:id="rId5"/>
    <p:sldLayoutId id="2147483673" r:id="rId6"/>
    <p:sldLayoutId id="2147483663" r:id="rId7"/>
    <p:sldLayoutId id="2147483666" r:id="rId8"/>
    <p:sldLayoutId id="2147483667" r:id="rId9"/>
    <p:sldLayoutId id="2147483677" r:id="rId10"/>
    <p:sldLayoutId id="214748367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>
          <a:solidFill>
            <a:schemeClr val="tx1">
              <a:lumMod val="90000"/>
              <a:lumOff val="10000"/>
            </a:schemeClr>
          </a:solidFill>
          <a:latin typeface="Red Hat Display" panose="02010303040201060303" pitchFamily="2" charset="0"/>
          <a:ea typeface="Red Hat Display" panose="02010303040201060303" pitchFamily="2" charset="0"/>
          <a:cs typeface="Red Hat Display" panose="02010303040201060303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600" kern="1200">
          <a:solidFill>
            <a:schemeClr val="tx1">
              <a:lumMod val="90000"/>
              <a:lumOff val="10000"/>
            </a:schemeClr>
          </a:solidFill>
          <a:latin typeface="Red Hat Text" panose="02010303040201060303" pitchFamily="2" charset="0"/>
          <a:ea typeface="Red Hat Text" panose="02010303040201060303" pitchFamily="2" charset="0"/>
          <a:cs typeface="Red Hat Text" panose="02010303040201060303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100" kern="1200">
          <a:solidFill>
            <a:schemeClr val="tx1">
              <a:lumMod val="90000"/>
              <a:lumOff val="10000"/>
            </a:schemeClr>
          </a:solidFill>
          <a:latin typeface="Red Hat Text" panose="02010303040201060303" pitchFamily="2" charset="0"/>
          <a:ea typeface="Red Hat Text" panose="02010303040201060303" pitchFamily="2" charset="0"/>
          <a:cs typeface="Red Hat Text" panose="02010303040201060303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90000"/>
              <a:lumOff val="10000"/>
            </a:schemeClr>
          </a:solidFill>
          <a:latin typeface="Red Hat Text" panose="02010303040201060303" pitchFamily="2" charset="0"/>
          <a:ea typeface="Red Hat Text" panose="02010303040201060303" pitchFamily="2" charset="0"/>
          <a:cs typeface="Red Hat Text" panose="02010303040201060303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90000"/>
              <a:lumOff val="10000"/>
            </a:schemeClr>
          </a:solidFill>
          <a:latin typeface="Red Hat Text" panose="02010303040201060303" pitchFamily="2" charset="0"/>
          <a:ea typeface="Red Hat Text" panose="02010303040201060303" pitchFamily="2" charset="0"/>
          <a:cs typeface="Red Hat Text" panose="02010303040201060303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90000"/>
              <a:lumOff val="10000"/>
            </a:schemeClr>
          </a:solidFill>
          <a:latin typeface="Red Hat Text" panose="02010303040201060303" pitchFamily="2" charset="0"/>
          <a:ea typeface="Red Hat Text" panose="02010303040201060303" pitchFamily="2" charset="0"/>
          <a:cs typeface="Red Hat Text" panose="02010303040201060303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2" userDrawn="1">
          <p15:clr>
            <a:srgbClr val="F26B43"/>
          </p15:clr>
        </p15:guide>
        <p15:guide id="2" pos="72" userDrawn="1">
          <p15:clr>
            <a:srgbClr val="F26B43"/>
          </p15:clr>
        </p15:guide>
        <p15:guide id="3" pos="7608" userDrawn="1">
          <p15:clr>
            <a:srgbClr val="F26B43"/>
          </p15:clr>
        </p15:guide>
        <p15:guide id="4" orient="horz" pos="4248" userDrawn="1">
          <p15:clr>
            <a:srgbClr val="F26B43"/>
          </p15:clr>
        </p15:guide>
        <p15:guide id="5" pos="288" userDrawn="1">
          <p15:clr>
            <a:srgbClr val="F26B43"/>
          </p15:clr>
        </p15:guide>
        <p15:guide id="6" orient="horz" pos="768" userDrawn="1">
          <p15:clr>
            <a:srgbClr val="F26B43"/>
          </p15:clr>
        </p15:guide>
        <p15:guide id="7" orient="horz" pos="960" userDrawn="1">
          <p15:clr>
            <a:srgbClr val="F26B43"/>
          </p15:clr>
        </p15:guide>
        <p15:guide id="8" orient="horz" pos="1152" userDrawn="1">
          <p15:clr>
            <a:srgbClr val="F26B43"/>
          </p15:clr>
        </p15:guide>
        <p15:guide id="9" orient="horz" pos="3888" userDrawn="1">
          <p15:clr>
            <a:srgbClr val="F26B43"/>
          </p15:clr>
        </p15:guide>
        <p15:guide id="10" pos="9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EACD601-E669-A4D5-E968-7C550AE9F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2399916"/>
            <a:ext cx="7530353" cy="627864"/>
          </a:xfrm>
        </p:spPr>
        <p:txBody>
          <a:bodyPr/>
          <a:lstStyle/>
          <a:p>
            <a:r>
              <a:rPr lang="en-US" dirty="0"/>
              <a:t>Week 3 Updates Shapiro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AF5AA5-6B7D-494F-9865-F7AB9EBC7A3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By Evan Johns </a:t>
            </a:r>
          </a:p>
        </p:txBody>
      </p:sp>
    </p:spTree>
    <p:extLst>
      <p:ext uri="{BB962C8B-B14F-4D97-AF65-F5344CB8AC3E}">
        <p14:creationId xmlns:p14="http://schemas.microsoft.com/office/powerpoint/2010/main" val="35413896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A02FDF-86C7-21FB-FED1-2F49C6233F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D166BCA-D18F-49F0-842C-0E890017B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Protein Colocalization Analysis – Radial Comparison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B2F4468A-5961-755D-A536-BA32498A72D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5757B83-262B-4123-F04C-C034AF5396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912" y="1342848"/>
            <a:ext cx="4959085" cy="501028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82E72B1-9923-A1B6-C2C2-88242CFAEA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0850" y="1223929"/>
            <a:ext cx="5099238" cy="512379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ABA89A4-CA1E-1C65-BAF1-668DD24921AA}"/>
              </a:ext>
            </a:extLst>
          </p:cNvPr>
          <p:cNvSpPr/>
          <p:nvPr/>
        </p:nvSpPr>
        <p:spPr>
          <a:xfrm>
            <a:off x="7702919" y="6472271"/>
            <a:ext cx="1875099" cy="3024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Radial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3A127C4-A6CD-06C9-D54E-1BB65C099884}"/>
              </a:ext>
            </a:extLst>
          </p:cNvPr>
          <p:cNvSpPr/>
          <p:nvPr/>
        </p:nvSpPr>
        <p:spPr>
          <a:xfrm>
            <a:off x="2426069" y="6472271"/>
            <a:ext cx="1875099" cy="3024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Delaunay</a:t>
            </a:r>
          </a:p>
        </p:txBody>
      </p:sp>
    </p:spTree>
    <p:extLst>
      <p:ext uri="{BB962C8B-B14F-4D97-AF65-F5344CB8AC3E}">
        <p14:creationId xmlns:p14="http://schemas.microsoft.com/office/powerpoint/2010/main" val="2028064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4535F0-9F3A-691E-F9CF-8F258ABAA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4BF7024-6CE3-C5A7-8E4A-81E528194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Protein Colocalization Analysis – Radial Comparison</a:t>
            </a: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BD0157B1-8A5E-C7CE-C6F1-626687BD1702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3"/>
          <a:stretch>
            <a:fillRect/>
          </a:stretch>
        </p:blipFill>
        <p:spPr>
          <a:xfrm>
            <a:off x="5905499" y="1343071"/>
            <a:ext cx="4779783" cy="4873735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B3001F4-D1EB-6777-1D56-5F52FA4C30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1343071"/>
            <a:ext cx="5122797" cy="509856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6C942E8-92D3-E589-1ABB-C8B3EBAF244C}"/>
              </a:ext>
            </a:extLst>
          </p:cNvPr>
          <p:cNvSpPr/>
          <p:nvPr/>
        </p:nvSpPr>
        <p:spPr>
          <a:xfrm>
            <a:off x="7425649" y="6491890"/>
            <a:ext cx="1875099" cy="3024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Radial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8E879B2-E84E-2A39-6A80-83975B3EEFB3}"/>
              </a:ext>
            </a:extLst>
          </p:cNvPr>
          <p:cNvSpPr/>
          <p:nvPr/>
        </p:nvSpPr>
        <p:spPr>
          <a:xfrm>
            <a:off x="2411190" y="6509156"/>
            <a:ext cx="1875099" cy="3024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Delaunay</a:t>
            </a:r>
          </a:p>
        </p:txBody>
      </p:sp>
    </p:spTree>
    <p:extLst>
      <p:ext uri="{BB962C8B-B14F-4D97-AF65-F5344CB8AC3E}">
        <p14:creationId xmlns:p14="http://schemas.microsoft.com/office/powerpoint/2010/main" val="39407970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5835CF-3EEE-D054-CB75-2DA6F5872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02F49-54F2-7B1D-2945-A6D8CC7A6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Colocalization Verification PMN-Immune interaction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125D85-8119-BE44-FB6A-694C33F20A7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0" y="6534055"/>
            <a:ext cx="4324325" cy="323165"/>
          </a:xfrm>
        </p:spPr>
        <p:txBody>
          <a:bodyPr/>
          <a:lstStyle/>
          <a:p>
            <a:r>
              <a:rPr lang="en-US" dirty="0"/>
              <a:t>* Note: Both patients were responsive to treatment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F9CD4D6-0BBB-6245-38F4-9C8F5F6DC6C8}"/>
              </a:ext>
            </a:extLst>
          </p:cNvPr>
          <p:cNvSpPr/>
          <p:nvPr/>
        </p:nvSpPr>
        <p:spPr>
          <a:xfrm>
            <a:off x="1478885" y="1154169"/>
            <a:ext cx="3870275" cy="10596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Low Colocalization </a:t>
            </a:r>
            <a:br>
              <a:rPr lang="en-US" dirty="0"/>
            </a:br>
            <a:r>
              <a:rPr lang="en-US" dirty="0"/>
              <a:t>Delaunay -(CD4 -4.3, CD8  -3.5)</a:t>
            </a:r>
          </a:p>
          <a:p>
            <a:pPr algn="ctr"/>
            <a:r>
              <a:rPr lang="en-US" dirty="0"/>
              <a:t>Radial – (CD4 -7.8 CD8 -6.5)</a:t>
            </a:r>
            <a:br>
              <a:rPr lang="en-US" dirty="0"/>
            </a:b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0563D6C-2ED1-CED0-A806-3DB1DCC0D0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4936" y="2113109"/>
            <a:ext cx="5287530" cy="404275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B1CB150-2C75-1F3F-FBC4-C3BB6C3B09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874" y="2130945"/>
            <a:ext cx="5089626" cy="395096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CF9C89F-B714-C43A-922A-4239A305BF6C}"/>
              </a:ext>
            </a:extLst>
          </p:cNvPr>
          <p:cNvSpPr/>
          <p:nvPr/>
        </p:nvSpPr>
        <p:spPr>
          <a:xfrm>
            <a:off x="5905500" y="1154169"/>
            <a:ext cx="3870275" cy="9767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High Colocalization </a:t>
            </a:r>
            <a:br>
              <a:rPr lang="en-US" dirty="0"/>
            </a:br>
            <a:r>
              <a:rPr lang="en-US" dirty="0"/>
              <a:t>Delaunay -(CD4 6.4, CD8  3.7)</a:t>
            </a:r>
          </a:p>
          <a:p>
            <a:pPr algn="ctr"/>
            <a:r>
              <a:rPr lang="en-US" dirty="0"/>
              <a:t>Radial – (CD4 4.4 CD8 1.5)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9914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199ABB-BB55-35C7-F516-AF9D684EA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CA3F909-3FE5-8439-ED68-FCB1C6A86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Protein Colocalization Analysis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F6B496-FA0B-11A4-C1C4-72C3E49D4C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65C171C-92FF-8418-A2DB-F896C03079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15" y="1679584"/>
            <a:ext cx="8158138" cy="447628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B89E1C6-1218-DF6A-97F6-3E982186F1BE}"/>
              </a:ext>
            </a:extLst>
          </p:cNvPr>
          <p:cNvSpPr/>
          <p:nvPr/>
        </p:nvSpPr>
        <p:spPr>
          <a:xfrm>
            <a:off x="8603142" y="4715843"/>
            <a:ext cx="1875099" cy="3024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Radial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7448B7D-64FB-4C76-1402-1EBF1F2DF52E}"/>
              </a:ext>
            </a:extLst>
          </p:cNvPr>
          <p:cNvSpPr/>
          <p:nvPr/>
        </p:nvSpPr>
        <p:spPr>
          <a:xfrm>
            <a:off x="8603143" y="2360564"/>
            <a:ext cx="1875099" cy="3024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Delaunay</a:t>
            </a:r>
          </a:p>
        </p:txBody>
      </p:sp>
    </p:spTree>
    <p:extLst>
      <p:ext uri="{BB962C8B-B14F-4D97-AF65-F5344CB8AC3E}">
        <p14:creationId xmlns:p14="http://schemas.microsoft.com/office/powerpoint/2010/main" val="6343719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E5E684-6468-27FC-FD4A-A97D38E647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7A854D7-AF26-8558-0635-9E3DD017D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44899" y="2845014"/>
            <a:ext cx="1898167" cy="517065"/>
          </a:xfrm>
        </p:spPr>
        <p:txBody>
          <a:bodyPr/>
          <a:lstStyle/>
          <a:p>
            <a:r>
              <a:rPr lang="en-US" dirty="0"/>
              <a:t>Radial vs Delaunay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9AA364-19E1-3321-BE22-500B4F9E764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63C83F9-64B5-54CD-2B50-A348E42C7C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096" y="130329"/>
            <a:ext cx="5886037" cy="322960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36C2CE8-539E-F609-F333-51C33198F3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096" y="3275076"/>
            <a:ext cx="5909339" cy="345259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98E1517-8BB3-6743-57B5-3FCF63BE43EC}"/>
              </a:ext>
            </a:extLst>
          </p:cNvPr>
          <p:cNvSpPr/>
          <p:nvPr/>
        </p:nvSpPr>
        <p:spPr>
          <a:xfrm>
            <a:off x="6261222" y="4850161"/>
            <a:ext cx="1875099" cy="3024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Radial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6120662-E888-F8A2-2253-CFE270982223}"/>
              </a:ext>
            </a:extLst>
          </p:cNvPr>
          <p:cNvSpPr/>
          <p:nvPr/>
        </p:nvSpPr>
        <p:spPr>
          <a:xfrm>
            <a:off x="6204628" y="1524000"/>
            <a:ext cx="1875099" cy="3024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Delaunay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01BA2160-E4BA-516A-3A3C-C6B4D964350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3222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C95344-DD0B-FBC8-72A2-50AE49EF7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17AE874-3B2A-8214-C05E-9D0DF50FC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Neighboring Cell Types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CB9806-9DD7-33F5-2C91-35803712BD5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9C62B279-40FB-EF67-3DDE-7DD99C1ADA5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1643818"/>
            <a:ext cx="10830910" cy="4512048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211D0A8-B5CB-947A-C26D-D38B52418A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478" y="1597388"/>
            <a:ext cx="5812279" cy="4842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23704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A38708-E4F9-AA79-4C6B-205E65FF65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2CDB77B-4B10-A9D6-1368-ECDB5C922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 and Future Projects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0A6CCA-1725-9752-8EAE-38F69F6054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FD92275C-2349-57D6-75E8-DFA9B882F90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1643818"/>
            <a:ext cx="10830910" cy="5325560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>
                <a:latin typeface="helvetica" panose="020B0604020202020204" pitchFamily="34" charset="0"/>
                <a:cs typeface="helvetica" panose="020B0604020202020204" pitchFamily="34" charset="0"/>
              </a:rPr>
              <a:t>Current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>
                <a:latin typeface="helvetica" panose="020B0604020202020204" pitchFamily="34" charset="0"/>
                <a:cs typeface="helvetica" panose="020B0604020202020204" pitchFamily="34" charset="0"/>
              </a:rPr>
              <a:t>Colocalization Clustering Analysis of the Z-score Data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>
                <a:latin typeface="helvetica" panose="020B0604020202020204" pitchFamily="34" charset="0"/>
                <a:cs typeface="helvetica" panose="020B0604020202020204" pitchFamily="34" charset="0"/>
              </a:rPr>
              <a:t>Comparing other localization methods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1800" dirty="0">
                <a:latin typeface="helvetica" panose="020B0604020202020204" pitchFamily="34" charset="0"/>
                <a:cs typeface="helvetica" panose="020B0604020202020204" pitchFamily="34" charset="0"/>
              </a:rPr>
              <a:t>Radial threshold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1800" dirty="0">
                <a:latin typeface="helvetica" panose="020B0604020202020204" pitchFamily="34" charset="0"/>
                <a:cs typeface="helvetica" panose="020B0604020202020204" pitchFamily="34" charset="0"/>
              </a:rPr>
              <a:t>Find nearest T-cell to each PMN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>
                <a:latin typeface="helvetica" panose="020B0604020202020204" pitchFamily="34" charset="0"/>
                <a:cs typeface="helvetica" panose="020B0604020202020204" pitchFamily="34" charset="0"/>
              </a:rPr>
              <a:t>Clustering Analysis of the protein expression data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>
                <a:latin typeface="helvetica" panose="020B0604020202020204" pitchFamily="34" charset="0"/>
                <a:cs typeface="helvetica" panose="020B0604020202020204" pitchFamily="34" charset="0"/>
              </a:rPr>
              <a:t>Cleaning up and modularizing code</a:t>
            </a:r>
          </a:p>
          <a:p>
            <a:pPr marL="0" indent="0">
              <a:buNone/>
            </a:pPr>
            <a:endParaRPr lang="en-U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>
              <a:buNone/>
            </a:pPr>
            <a:r>
              <a:rPr lang="en-US" sz="2000" dirty="0">
                <a:latin typeface="helvetica" panose="020B0604020202020204" pitchFamily="34" charset="0"/>
                <a:cs typeface="helvetica" panose="020B0604020202020204" pitchFamily="34" charset="0"/>
              </a:rPr>
              <a:t>Future:</a:t>
            </a:r>
          </a:p>
          <a:p>
            <a:pPr marL="514350" indent="-514350">
              <a:buAutoNum type="arabicPeriod"/>
            </a:pPr>
            <a:r>
              <a:rPr lang="en-US" sz="2000" dirty="0">
                <a:latin typeface="helvetica" panose="020B0604020202020204" pitchFamily="34" charset="0"/>
                <a:cs typeface="helvetica" panose="020B0604020202020204" pitchFamily="34" charset="0"/>
              </a:rPr>
              <a:t>CSF3R Gene expression in PMNs. May be useful identifier/verification of PMNs in Seurat data</a:t>
            </a:r>
          </a:p>
          <a:p>
            <a:pPr marL="514350" indent="-514350">
              <a:buAutoNum type="arabicPeriod"/>
            </a:pPr>
            <a:r>
              <a:rPr lang="en-US" sz="2000" dirty="0">
                <a:latin typeface="helvetica" panose="020B0604020202020204" pitchFamily="34" charset="0"/>
                <a:cs typeface="helvetica" panose="020B0604020202020204" pitchFamily="34" charset="0"/>
              </a:rPr>
              <a:t>Mapping protein data with good clustering to mRNA. </a:t>
            </a:r>
          </a:p>
          <a:p>
            <a:pPr marL="514350" indent="-514350">
              <a:buAutoNum type="arabicPeriod"/>
            </a:pPr>
            <a:endParaRPr lang="en-U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>
              <a:buNone/>
            </a:pPr>
            <a:endParaRPr lang="en-U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82737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AC6385-5A31-7159-5739-3C4DB571C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FC03825-6AD4-BA2A-66DA-FCF759FC3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686F22-615A-5F08-D6AB-B0568666834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408D4DC-42AB-12EC-3F02-0945E64A609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1643818"/>
            <a:ext cx="10830910" cy="4512048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52254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7831C99-7466-5707-AAF8-25B3E4A5A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7723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W-Madison 2">
      <a:dk1>
        <a:srgbClr val="202020"/>
      </a:dk1>
      <a:lt1>
        <a:srgbClr val="FFFFFF"/>
      </a:lt1>
      <a:dk2>
        <a:srgbClr val="101010"/>
      </a:dk2>
      <a:lt2>
        <a:srgbClr val="DADFE1"/>
      </a:lt2>
      <a:accent1>
        <a:srgbClr val="C5050C"/>
      </a:accent1>
      <a:accent2>
        <a:srgbClr val="8DD3CE"/>
      </a:accent2>
      <a:accent3>
        <a:srgbClr val="FCCB51"/>
      </a:accent3>
      <a:accent4>
        <a:srgbClr val="ADADAD"/>
      </a:accent4>
      <a:accent5>
        <a:srgbClr val="006992"/>
      </a:accent5>
      <a:accent6>
        <a:srgbClr val="432E4F"/>
      </a:accent6>
      <a:hlink>
        <a:srgbClr val="0479A8"/>
      </a:hlink>
      <a:folHlink>
        <a:srgbClr val="0479A8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W-Madison-data-RedHat-16_9" id="{39149448-8F7A-FF49-B9B1-924C8F85E517}" vid="{49B34611-19B4-3D48-B648-24C73EA204B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UW-Madison-data-RedHat-16_9</Template>
  <TotalTime>8374</TotalTime>
  <Words>166</Words>
  <Application>Microsoft Office PowerPoint</Application>
  <PresentationFormat>Widescreen</PresentationFormat>
  <Paragraphs>42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helvetica</vt:lpstr>
      <vt:lpstr>Red Hat Display</vt:lpstr>
      <vt:lpstr>Red Hat Text</vt:lpstr>
      <vt:lpstr>Office Theme</vt:lpstr>
      <vt:lpstr>Week 3 Updates Shapiro</vt:lpstr>
      <vt:lpstr>Protein Colocalization Analysis – Radial Comparison</vt:lpstr>
      <vt:lpstr>Protein Colocalization Analysis – Radial Comparison</vt:lpstr>
      <vt:lpstr>Colocalization Verification PMN-Immune interaction</vt:lpstr>
      <vt:lpstr>Protein Colocalization Analysis</vt:lpstr>
      <vt:lpstr>Radial vs Delaunay</vt:lpstr>
      <vt:lpstr>Neighboring Cell Types</vt:lpstr>
      <vt:lpstr>Current and Future Projects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Evan Johns</dc:creator>
  <cp:lastModifiedBy>EVAN DANIEL JOHNS</cp:lastModifiedBy>
  <cp:revision>11</cp:revision>
  <dcterms:created xsi:type="dcterms:W3CDTF">2025-06-03T19:55:18Z</dcterms:created>
  <dcterms:modified xsi:type="dcterms:W3CDTF">2025-06-16T22:26:27Z</dcterms:modified>
</cp:coreProperties>
</file>