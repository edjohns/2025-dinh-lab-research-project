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0"/>
  </p:notesMasterIdLst>
  <p:sldIdLst>
    <p:sldId id="264" r:id="rId2"/>
    <p:sldId id="281" r:id="rId3"/>
    <p:sldId id="289" r:id="rId4"/>
    <p:sldId id="292" r:id="rId5"/>
    <p:sldId id="290" r:id="rId6"/>
    <p:sldId id="286" r:id="rId7"/>
    <p:sldId id="294" r:id="rId8"/>
    <p:sldId id="295" r:id="rId9"/>
    <p:sldId id="296" r:id="rId10"/>
    <p:sldId id="297" r:id="rId11"/>
    <p:sldId id="298" r:id="rId12"/>
    <p:sldId id="301" r:id="rId13"/>
    <p:sldId id="302" r:id="rId14"/>
    <p:sldId id="303" r:id="rId15"/>
    <p:sldId id="304" r:id="rId16"/>
    <p:sldId id="299" r:id="rId17"/>
    <p:sldId id="288" r:id="rId18"/>
    <p:sldId id="267" r:id="rId1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5050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25E5076-3810-47DD-B79F-674D7AD40C01}" styleName="Dark Style 1 - Accent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03447BB-5D67-496B-8E87-E561075AD55C}" styleName="Dark Style 1 - Accent 3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wholeTbl>
    <a:band1H>
      <a:tcStyle>
        <a:tcBdr/>
        <a:fill>
          <a:solidFill>
            <a:schemeClr val="accent3">
              <a:shade val="60000"/>
            </a:schemeClr>
          </a:solidFill>
        </a:fill>
      </a:tcStyle>
    </a:band1H>
    <a:band1V>
      <a:tcStyle>
        <a:tcBdr/>
        <a:fill>
          <a:solidFill>
            <a:schemeClr val="accent3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3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3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3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6327"/>
  </p:normalViewPr>
  <p:slideViewPr>
    <p:cSldViewPr snapToGrid="0" snapToObjects="1">
      <p:cViewPr varScale="1">
        <p:scale>
          <a:sx n="159" d="100"/>
          <a:sy n="159" d="100"/>
        </p:scale>
        <p:origin x="306" y="12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E03F8B-A50D-DE44-9304-39C43FB3C5B0}" type="datetimeFigureOut">
              <a:rPr lang="en-US" smtClean="0"/>
              <a:t>6/18/2025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8151AFC-CD2E-5241-A5F6-3092FE7745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248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04874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BE560-AB62-12CC-3533-3E33DA02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38E626-892C-AB4C-0930-554DB60FFB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59AC5-ABB6-4CB6-5DFC-0EDB675F2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95DEB2-213A-EAAB-6492-627B8B3D4A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77756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4C6B2-2DB8-B9EB-3BEC-A773C1687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ED64BE-34D5-E0D1-1695-A2FBE7D5D1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184E8C-8863-64FF-ACBC-42F1F9540D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3E117-A710-8A63-E25F-5E2DE38BF0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21091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24BA62-5B5E-1308-6C5D-D9C55CD178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F90E3F-DE7A-0D3A-E673-67F664AFC5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B0014F-3C23-C464-99D3-C667FBDF65C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33D81A-7DFC-195E-C010-D2B98C833E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7692837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7DABE-343E-B8E2-9E2E-ABD8AC131A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8F0654-981E-0BC9-A205-40FEBE63FC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A3C4D69-A4B9-B394-798C-01C25FE2A0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53A5C2-6F6D-FAA1-9C4C-41063C985AD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1236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66C619-166C-2B70-4EA8-1E8FE91594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3CB5886-4E1B-29DF-187F-3897192D3D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AAB416-1DC2-C0C6-D960-38F3141125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5D4181-71B0-E091-D8AA-F3C26CD550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30127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DDFC56-D4E4-A365-AD3C-CD303BC51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0467CE-DCF4-E383-1D27-3DFE830ACA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F7871D-3EC8-B706-20D9-53BF7E133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3D699C-AF9E-17E6-7CE8-4780769C1C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279388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8CD789-F87D-FC73-C411-CD4A705CC6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EB25C0-74D3-5B35-1F8A-F23FC9498F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B7FB79-B1D9-7481-DA20-91D88BE58D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58758-12B3-4B38-3280-9A69CAECD1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0778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F41E8-4F1A-9593-68F3-3DB9BF30D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7CA583-1D5D-3491-9487-DD52B5B533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BA0B1A-4592-0B23-B9E2-BF3ADC866B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B92D535-40C3-2C5C-CCF7-2D878F393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26570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9D2DC2-2094-7F3A-59BB-52801680B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3DD03A-A415-B066-8C7C-F0ED34394F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996D740-902F-6F1A-3B1A-504494AC96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4179FC-D2AA-6C43-EAD9-FDE89D8F93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581561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327E7-D49A-6832-4394-933353349D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FDC977-C8AB-3C3D-958B-C457A57FF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8800EC-B333-DBD9-146E-27E081547C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41D4B-2A22-56A4-68AA-3458CC9A835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266071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776BC-8F17-8DB4-C595-DB1DB4E8F8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70331-B4A8-680D-F9C6-D668BD1654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0404F3-98C7-9CF5-8E79-E8FEE9B473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3372FF-B250-228E-AA46-4A6F8F9C3F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37108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7A3F2-E43B-F847-669B-D03C9A607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84738-9E76-7A64-2199-A9B812DB22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A205F8-C214-7C59-FEC1-DC29725AFF8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44F181-FBDF-41BC-CB31-6C2868897E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311768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AED38-442E-D731-E1B5-4E36446B5D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F1A924-53AF-1AAF-37C9-2B7279DDB7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A61957-C2AD-230E-21F9-E7ED38BE9C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DF2C74-ECFC-278A-C6EC-3F069CC396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86157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92DF6F-0222-51B3-87D9-2561401847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6C87F55-97C4-4EBC-833E-FB21E0F400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E7A2F45-8489-472C-A8DB-AF5C688CF6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F05DED-053D-2E28-F30B-4AF64DEEAB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65191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3EE3FD-6E55-F24B-A475-247FC6D7E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AF8693-C447-38FE-E3A0-295EAE10D6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F98412-9D44-B26E-9C17-39621703C4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00B736-CC86-D589-91B3-030B8B908D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09614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8151AFC-CD2E-5241-A5F6-3092FE7745F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841043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alphaModFix amt="50344"/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Freeform 18">
            <a:extLst>
              <a:ext uri="{FF2B5EF4-FFF2-40B4-BE49-F238E27FC236}">
                <a16:creationId xmlns:a16="http://schemas.microsoft.com/office/drawing/2014/main" id="{3F103DCA-791F-6E43-9621-0FFA8B5440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0464798" cy="6858000"/>
          </a:xfrm>
          <a:custGeom>
            <a:avLst/>
            <a:gdLst>
              <a:gd name="connsiteX0" fmla="*/ 0 w 10464798"/>
              <a:gd name="connsiteY0" fmla="*/ 0 h 6858000"/>
              <a:gd name="connsiteX1" fmla="*/ 406398 w 10464798"/>
              <a:gd name="connsiteY1" fmla="*/ 0 h 6858000"/>
              <a:gd name="connsiteX2" fmla="*/ 5498904 w 10464798"/>
              <a:gd name="connsiteY2" fmla="*/ 0 h 6858000"/>
              <a:gd name="connsiteX3" fmla="*/ 5850595 w 10464798"/>
              <a:gd name="connsiteY3" fmla="*/ 0 h 6858000"/>
              <a:gd name="connsiteX4" fmla="*/ 10464798 w 10464798"/>
              <a:gd name="connsiteY4" fmla="*/ 0 h 6858000"/>
              <a:gd name="connsiteX5" fmla="*/ 8809500 w 10464798"/>
              <a:gd name="connsiteY5" fmla="*/ 6858000 h 6858000"/>
              <a:gd name="connsiteX6" fmla="*/ 5850595 w 10464798"/>
              <a:gd name="connsiteY6" fmla="*/ 6858000 h 6858000"/>
              <a:gd name="connsiteX7" fmla="*/ 3843605 w 10464798"/>
              <a:gd name="connsiteY7" fmla="*/ 6858000 h 6858000"/>
              <a:gd name="connsiteX8" fmla="*/ 406398 w 10464798"/>
              <a:gd name="connsiteY8" fmla="*/ 6858000 h 6858000"/>
              <a:gd name="connsiteX9" fmla="*/ 0 w 10464798"/>
              <a:gd name="connsiteY9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464798" h="6858000">
                <a:moveTo>
                  <a:pt x="0" y="0"/>
                </a:moveTo>
                <a:lnTo>
                  <a:pt x="406398" y="0"/>
                </a:lnTo>
                <a:lnTo>
                  <a:pt x="5498904" y="0"/>
                </a:lnTo>
                <a:lnTo>
                  <a:pt x="5850595" y="0"/>
                </a:lnTo>
                <a:lnTo>
                  <a:pt x="10464798" y="0"/>
                </a:lnTo>
                <a:lnTo>
                  <a:pt x="8809500" y="6858000"/>
                </a:lnTo>
                <a:lnTo>
                  <a:pt x="5850595" y="6858000"/>
                </a:lnTo>
                <a:lnTo>
                  <a:pt x="3843605" y="6858000"/>
                </a:lnTo>
                <a:lnTo>
                  <a:pt x="406398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8F70F15D-372D-5B45-92B4-1B626E0FC12C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57200" y="3429374"/>
            <a:ext cx="6159500" cy="410882"/>
          </a:xfrm>
        </p:spPr>
        <p:txBody>
          <a:bodyPr/>
          <a:lstStyle>
            <a:lvl1pPr marL="0" indent="0">
              <a:buNone/>
              <a:defRPr sz="2300">
                <a:ln>
                  <a:noFill/>
                </a:ln>
                <a:solidFill>
                  <a:schemeClr val="tx1">
                    <a:lumMod val="25000"/>
                    <a:lumOff val="75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subtitle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E378D8B-ED2A-3D41-92FB-40BA9FA8CC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3182248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995C957-CDB9-C342-8243-6F7D038511B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57199" y="6231067"/>
            <a:ext cx="7530353" cy="295466"/>
          </a:xfrm>
        </p:spPr>
        <p:txBody>
          <a:bodyPr bIns="0" anchor="b" anchorCtr="0"/>
          <a:lstStyle>
            <a:lvl1pPr marL="0" indent="0">
              <a:buNone/>
              <a:defRPr sz="18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 dirty="0"/>
              <a:t>Insert name, position, unit/faculty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0C77E77-56F4-4C9C-AB6A-89C89D91C7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199" y="1814627"/>
            <a:ext cx="7530353" cy="1213153"/>
          </a:xfrm>
        </p:spPr>
        <p:txBody>
          <a:bodyPr rIns="182880"/>
          <a:lstStyle>
            <a:lvl1pPr>
              <a:defRPr sz="4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presentation title in title or sentence case</a:t>
            </a:r>
          </a:p>
        </p:txBody>
      </p:sp>
    </p:spTree>
    <p:extLst>
      <p:ext uri="{BB962C8B-B14F-4D97-AF65-F5344CB8AC3E}">
        <p14:creationId xmlns:p14="http://schemas.microsoft.com/office/powerpoint/2010/main" val="4126455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A9886E-E0D4-5815-83F1-889895E62F5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98298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marR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36262839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CBCA86-D8D8-70D0-C62A-9DE796C67AB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2969AA8-F260-814E-8CAE-0885CD16F6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57200" y="1331912"/>
            <a:ext cx="471523" cy="9400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FBF89922-C537-DD47-8C8F-19B8B33E65F8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24000" y="1524000"/>
            <a:ext cx="47244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E2D8BB4A-46A4-1343-BA88-41D2E1C0EA50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438900" y="1524000"/>
            <a:ext cx="4914900" cy="4648200"/>
          </a:xfrm>
        </p:spPr>
        <p:txBody>
          <a:bodyPr/>
          <a:lstStyle/>
          <a:p>
            <a:pPr lvl="0"/>
            <a:r>
              <a:rPr lang="en-US" dirty="0"/>
              <a:t>Bulleted list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35788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48866-4F69-FCBB-5935-007FD86EB9E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17E8CB17-529B-9C4F-B120-C1236DEE81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653405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7" name="Chart Placeholder 11">
            <a:extLst>
              <a:ext uri="{FF2B5EF4-FFF2-40B4-BE49-F238E27FC236}">
                <a16:creationId xmlns:a16="http://schemas.microsoft.com/office/drawing/2014/main" id="{8C3425D9-7762-3940-B7DA-B13EC3E058BA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1524000" y="1523999"/>
            <a:ext cx="9829800" cy="4631865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</p:spTree>
    <p:extLst>
      <p:ext uri="{BB962C8B-B14F-4D97-AF65-F5344CB8AC3E}">
        <p14:creationId xmlns:p14="http://schemas.microsoft.com/office/powerpoint/2010/main" val="1902739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317D7-4166-2ED9-1881-347107691C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12" name="Chart Placeholder 11">
            <a:extLst>
              <a:ext uri="{FF2B5EF4-FFF2-40B4-BE49-F238E27FC236}">
                <a16:creationId xmlns:a16="http://schemas.microsoft.com/office/drawing/2014/main" id="{C8FC7EDF-D625-4640-AF06-22ADBDC8C8CE}"/>
              </a:ext>
            </a:extLst>
          </p:cNvPr>
          <p:cNvSpPr>
            <a:spLocks noGrp="1"/>
          </p:cNvSpPr>
          <p:nvPr>
            <p:ph type="chart" sz="quarter" idx="13" hasCustomPrompt="1"/>
          </p:nvPr>
        </p:nvSpPr>
        <p:spPr>
          <a:xfrm>
            <a:off x="457200" y="1530523"/>
            <a:ext cx="542925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3" name="Chart Placeholder 11">
            <a:extLst>
              <a:ext uri="{FF2B5EF4-FFF2-40B4-BE49-F238E27FC236}">
                <a16:creationId xmlns:a16="http://schemas.microsoft.com/office/drawing/2014/main" id="{8C45FAA6-1118-A24C-9C61-949F410E7C81}"/>
              </a:ext>
            </a:extLst>
          </p:cNvPr>
          <p:cNvSpPr>
            <a:spLocks noGrp="1"/>
          </p:cNvSpPr>
          <p:nvPr>
            <p:ph type="chart" sz="quarter" idx="14" hasCustomPrompt="1"/>
          </p:nvPr>
        </p:nvSpPr>
        <p:spPr>
          <a:xfrm>
            <a:off x="6438900" y="1530523"/>
            <a:ext cx="4914900" cy="4641677"/>
          </a:xfrm>
        </p:spPr>
        <p:txBody>
          <a:bodyPr/>
          <a:lstStyle>
            <a:lvl1pPr marL="0" indent="0">
              <a:buNone/>
              <a:defRPr sz="1800"/>
            </a:lvl1pPr>
          </a:lstStyle>
          <a:p>
            <a:r>
              <a:rPr lang="en-US" dirty="0"/>
              <a:t>chart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2437A76B-A3F1-E24A-9B72-37AC8087EC19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6863952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200CC43E-DAB5-6045-A3FC-1B1B9D6DFFEB}"/>
              </a:ext>
            </a:extLst>
          </p:cNvPr>
          <p:cNvSpPr>
            <a:spLocks noGrp="1"/>
          </p:cNvSpPr>
          <p:nvPr>
            <p:ph type="tbl" sz="quarter" idx="13" hasCustomPrompt="1"/>
          </p:nvPr>
        </p:nvSpPr>
        <p:spPr>
          <a:xfrm>
            <a:off x="1524000" y="1524000"/>
            <a:ext cx="9829800" cy="341632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r>
              <a:rPr lang="en-US" dirty="0"/>
              <a:t>Insert table	</a:t>
            </a:r>
          </a:p>
        </p:txBody>
      </p:sp>
      <p:sp>
        <p:nvSpPr>
          <p:cNvPr id="10" name="Text Placeholder 14">
            <a:extLst>
              <a:ext uri="{FF2B5EF4-FFF2-40B4-BE49-F238E27FC236}">
                <a16:creationId xmlns:a16="http://schemas.microsoft.com/office/drawing/2014/main" id="{A0123EED-038F-7B4A-92A4-A606571FF59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0" y="6534835"/>
            <a:ext cx="4460516" cy="323165"/>
          </a:xfrm>
          <a:solidFill>
            <a:schemeClr val="accent1"/>
          </a:solidFill>
        </p:spPr>
        <p:txBody>
          <a:bodyPr wrap="none" lIns="274320" tIns="64008" rIns="274320" bIns="64008"/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972BC0-0141-2D65-4384-82B2C1196A0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57200" y="702134"/>
            <a:ext cx="10896600" cy="517065"/>
          </a:xfrm>
        </p:spPr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</p:spTree>
    <p:extLst>
      <p:ext uri="{BB962C8B-B14F-4D97-AF65-F5344CB8AC3E}">
        <p14:creationId xmlns:p14="http://schemas.microsoft.com/office/powerpoint/2010/main" val="2119245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D868577-B206-C94D-AA90-90C71CB8AC7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r="4479"/>
          <a:stretch/>
        </p:blipFill>
        <p:spPr>
          <a:xfrm>
            <a:off x="0" y="0"/>
            <a:ext cx="11645900" cy="6858000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55926B1D-2681-6D40-953A-D41E624A21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469900" y="1104900"/>
            <a:ext cx="10210800" cy="46482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4FC3DB9-D22E-37C1-8603-44F3A55AA5E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65200" y="3125519"/>
            <a:ext cx="9080500" cy="603563"/>
          </a:xfrm>
        </p:spPr>
        <p:txBody>
          <a:bodyPr anchor="ctr" anchorCtr="0"/>
          <a:lstStyle>
            <a:lvl1pPr>
              <a:defRPr sz="40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section header slide title</a:t>
            </a:r>
          </a:p>
        </p:txBody>
      </p:sp>
    </p:spTree>
    <p:extLst>
      <p:ext uri="{BB962C8B-B14F-4D97-AF65-F5344CB8AC3E}">
        <p14:creationId xmlns:p14="http://schemas.microsoft.com/office/powerpoint/2010/main" val="28924274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="1" i="0"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r>
              <a:rPr lang="en-US" dirty="0"/>
              <a:t>Insert slide title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CB19960-C592-024C-8B94-896ABF102E5C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</p:spTree>
    <p:extLst>
      <p:ext uri="{BB962C8B-B14F-4D97-AF65-F5344CB8AC3E}">
        <p14:creationId xmlns:p14="http://schemas.microsoft.com/office/powerpoint/2010/main" val="14203618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6621CCA-1EB8-EE46-B4BA-5F3D975754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0" y="6528435"/>
            <a:ext cx="4460516" cy="344710"/>
          </a:xfrm>
        </p:spPr>
        <p:txBody>
          <a:bodyPr wrap="none" tIns="64008" bIns="64008"/>
          <a:lstStyle/>
          <a:p>
            <a:r>
              <a:rPr lang="en-US" dirty="0"/>
              <a:t>Insert presentation topic or department/unit name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941FB28-7881-67A2-3E03-9832EF556D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13392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Blank Slide</a:t>
            </a:r>
          </a:p>
        </p:txBody>
      </p:sp>
    </p:spTree>
    <p:extLst>
      <p:ext uri="{BB962C8B-B14F-4D97-AF65-F5344CB8AC3E}">
        <p14:creationId xmlns:p14="http://schemas.microsoft.com/office/powerpoint/2010/main" val="6495042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343DB41-0E0D-3DA2-7A76-C0187BC8FD0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Red Closing Slide</a:t>
            </a:r>
          </a:p>
        </p:txBody>
      </p:sp>
    </p:spTree>
    <p:extLst>
      <p:ext uri="{BB962C8B-B14F-4D97-AF65-F5344CB8AC3E}">
        <p14:creationId xmlns:p14="http://schemas.microsoft.com/office/powerpoint/2010/main" val="7978358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05A38DE-B4F5-9E44-95BA-B520170514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9939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UW–Madison logo with white text on a red background">
            <a:extLst>
              <a:ext uri="{FF2B5EF4-FFF2-40B4-BE49-F238E27FC236}">
                <a16:creationId xmlns:a16="http://schemas.microsoft.com/office/drawing/2014/main" id="{FD11A7E0-5739-204C-9014-DB43944F2DC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4557092" y="2911281"/>
            <a:ext cx="3077817" cy="103543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27DB89E-70AA-E4A2-9190-47A86DFC3F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223331"/>
            <a:ext cx="10896600" cy="213392"/>
          </a:xfrm>
        </p:spPr>
        <p:txBody>
          <a:bodyPr/>
          <a:lstStyle>
            <a:lvl1pPr>
              <a:defRPr sz="1200" b="0" i="0">
                <a:latin typeface="Red Hat Display" panose="02010303040201060303" pitchFamily="2" charset="0"/>
                <a:ea typeface="Red Hat Display" panose="02010303040201060303" pitchFamily="2" charset="0"/>
                <a:cs typeface="Red Hat Display" panose="02010303040201060303" pitchFamily="2" charset="0"/>
              </a:defRPr>
            </a:lvl1pPr>
          </a:lstStyle>
          <a:p>
            <a:r>
              <a:rPr lang="en-US" dirty="0"/>
              <a:t>Black Closing slide</a:t>
            </a:r>
          </a:p>
        </p:txBody>
      </p:sp>
    </p:spTree>
    <p:extLst>
      <p:ext uri="{BB962C8B-B14F-4D97-AF65-F5344CB8AC3E}">
        <p14:creationId xmlns:p14="http://schemas.microsoft.com/office/powerpoint/2010/main" val="10526158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80455"/>
            <a:ext cx="10896600" cy="517065"/>
          </a:xfrm>
          <a:prstGeom prst="rect">
            <a:avLst/>
          </a:prstGeom>
        </p:spPr>
        <p:txBody>
          <a:bodyPr vert="horz" wrap="square" lIns="0" tIns="45720" rIns="91440" bIns="0" rtlCol="0" anchor="b" anchorCtr="0">
            <a:sp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24000"/>
            <a:ext cx="10896600" cy="1775358"/>
          </a:xfrm>
          <a:prstGeom prst="rect">
            <a:avLst/>
          </a:prstGeom>
        </p:spPr>
        <p:txBody>
          <a:bodyPr vert="horz" wrap="square" lIns="0" tIns="45720" rIns="91440" bIns="4572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0" y="6543580"/>
            <a:ext cx="1116106" cy="314420"/>
          </a:xfrm>
          <a:prstGeom prst="rect">
            <a:avLst/>
          </a:prstGeom>
          <a:solidFill>
            <a:schemeClr val="accent1"/>
          </a:solidFill>
        </p:spPr>
        <p:txBody>
          <a:bodyPr vert="horz" wrap="square" lIns="274320" tIns="45720" rIns="274320" bIns="45720" rtlCol="0" anchor="ctr">
            <a:spAutoFit/>
          </a:bodyPr>
          <a:lstStyle>
            <a:lvl1pPr algn="l">
              <a:defRPr sz="1400">
                <a:solidFill>
                  <a:schemeClr val="bg1"/>
                </a:solidFill>
                <a:latin typeface="Red Hat Text" panose="02010303040201060303" pitchFamily="2" charset="0"/>
                <a:ea typeface="Red Hat Text" panose="02010303040201060303" pitchFamily="2" charset="0"/>
                <a:cs typeface="Red Hat Text" panose="02010303040201060303" pitchFamily="2" charset="0"/>
              </a:defRPr>
            </a:lvl1pPr>
          </a:lstStyle>
          <a:p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60EB5E6-54D5-9945-8BFD-BD46E27944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1647553" y="0"/>
            <a:ext cx="570641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UW–Madison crest logo in red">
            <a:extLst>
              <a:ext uri="{FF2B5EF4-FFF2-40B4-BE49-F238E27FC236}">
                <a16:creationId xmlns:a16="http://schemas.microsoft.com/office/drawing/2014/main" id="{52794618-AA7B-F040-BD0B-B97556AA7FE3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11704812" y="222225"/>
            <a:ext cx="456122" cy="716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4791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75" r:id="rId3"/>
    <p:sldLayoutId id="2147483676" r:id="rId4"/>
    <p:sldLayoutId id="2147483672" r:id="rId5"/>
    <p:sldLayoutId id="2147483673" r:id="rId6"/>
    <p:sldLayoutId id="2147483663" r:id="rId7"/>
    <p:sldLayoutId id="2147483666" r:id="rId8"/>
    <p:sldLayoutId id="2147483667" r:id="rId9"/>
    <p:sldLayoutId id="2147483677" r:id="rId10"/>
    <p:sldLayoutId id="214748367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b="1" i="0" kern="1200">
          <a:solidFill>
            <a:schemeClr val="tx1">
              <a:lumMod val="90000"/>
              <a:lumOff val="10000"/>
            </a:schemeClr>
          </a:solidFill>
          <a:latin typeface="Red Hat Display" panose="02010303040201060303" pitchFamily="2" charset="0"/>
          <a:ea typeface="Red Hat Display" panose="02010303040201060303" pitchFamily="2" charset="0"/>
          <a:cs typeface="Red Hat Display" panose="02010303040201060303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1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90000"/>
              <a:lumOff val="10000"/>
            </a:schemeClr>
          </a:solidFill>
          <a:latin typeface="Red Hat Text" panose="02010303040201060303" pitchFamily="2" charset="0"/>
          <a:ea typeface="Red Hat Text" panose="02010303040201060303" pitchFamily="2" charset="0"/>
          <a:cs typeface="Red Hat Text" panose="02010303040201060303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72" userDrawn="1">
          <p15:clr>
            <a:srgbClr val="F26B43"/>
          </p15:clr>
        </p15:guide>
        <p15:guide id="2" pos="72" userDrawn="1">
          <p15:clr>
            <a:srgbClr val="F26B43"/>
          </p15:clr>
        </p15:guide>
        <p15:guide id="3" pos="7608" userDrawn="1">
          <p15:clr>
            <a:srgbClr val="F26B43"/>
          </p15:clr>
        </p15:guide>
        <p15:guide id="4" orient="horz" pos="4248" userDrawn="1">
          <p15:clr>
            <a:srgbClr val="F26B43"/>
          </p15:clr>
        </p15:guide>
        <p15:guide id="5" pos="288" userDrawn="1">
          <p15:clr>
            <a:srgbClr val="F26B43"/>
          </p15:clr>
        </p15:guide>
        <p15:guide id="6" orient="horz" pos="768" userDrawn="1">
          <p15:clr>
            <a:srgbClr val="F26B43"/>
          </p15:clr>
        </p15:guide>
        <p15:guide id="7" orient="horz" pos="960" userDrawn="1">
          <p15:clr>
            <a:srgbClr val="F26B43"/>
          </p15:clr>
        </p15:guide>
        <p15:guide id="8" orient="horz" pos="1152" userDrawn="1">
          <p15:clr>
            <a:srgbClr val="F26B43"/>
          </p15:clr>
        </p15:guide>
        <p15:guide id="9" orient="horz" pos="3888" userDrawn="1">
          <p15:clr>
            <a:srgbClr val="F26B43"/>
          </p15:clr>
        </p15:guide>
        <p15:guide id="10" pos="96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9EACD601-E669-A4D5-E968-7C550AE9F6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199" y="2399916"/>
            <a:ext cx="7530353" cy="627864"/>
          </a:xfrm>
        </p:spPr>
        <p:txBody>
          <a:bodyPr/>
          <a:lstStyle/>
          <a:p>
            <a:r>
              <a:rPr lang="en-US" dirty="0"/>
              <a:t>Week 4 Updates Shapiro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8AF5AA5-6B7D-494F-9865-F7AB9EBC7A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By Evan Johns </a:t>
            </a:r>
          </a:p>
        </p:txBody>
      </p:sp>
    </p:spTree>
    <p:extLst>
      <p:ext uri="{BB962C8B-B14F-4D97-AF65-F5344CB8AC3E}">
        <p14:creationId xmlns:p14="http://schemas.microsoft.com/office/powerpoint/2010/main" val="3541389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A02FDF-86C7-21FB-FED1-2F49C6233F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D166BCA-D18F-49F0-842C-0E890017B0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 – Radial Comparison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B2F4468A-5961-755D-A536-BA32498A72D2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5757B83-262B-4123-F04C-C034AF5396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1912" y="1342848"/>
            <a:ext cx="4959085" cy="501028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82E72B1-9923-A1B6-C2C2-88242CFAEA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0850" y="1223929"/>
            <a:ext cx="5099238" cy="512379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ABA89A4-CA1E-1C65-BAF1-668DD24921AA}"/>
              </a:ext>
            </a:extLst>
          </p:cNvPr>
          <p:cNvSpPr/>
          <p:nvPr/>
        </p:nvSpPr>
        <p:spPr>
          <a:xfrm>
            <a:off x="7702919" y="647227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3A127C4-A6CD-06C9-D54E-1BB65C099884}"/>
              </a:ext>
            </a:extLst>
          </p:cNvPr>
          <p:cNvSpPr/>
          <p:nvPr/>
        </p:nvSpPr>
        <p:spPr>
          <a:xfrm>
            <a:off x="2426069" y="647227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</p:spTree>
    <p:extLst>
      <p:ext uri="{BB962C8B-B14F-4D97-AF65-F5344CB8AC3E}">
        <p14:creationId xmlns:p14="http://schemas.microsoft.com/office/powerpoint/2010/main" val="2028064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535F0-9F3A-691E-F9CF-8F258ABAAD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84BF7024-6CE3-C5A7-8E4A-81E5281944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Protein Colocalization Analysis – Radial Comparison</a:t>
            </a:r>
          </a:p>
        </p:txBody>
      </p:sp>
      <p:pic>
        <p:nvPicPr>
          <p:cNvPr id="3" name="Content Placeholder 2">
            <a:extLst>
              <a:ext uri="{FF2B5EF4-FFF2-40B4-BE49-F238E27FC236}">
                <a16:creationId xmlns:a16="http://schemas.microsoft.com/office/drawing/2014/main" id="{BD0157B1-8A5E-C7CE-C6F1-626687BD1702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5905499" y="1343071"/>
            <a:ext cx="4779783" cy="4873735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B3001F4-D1EB-6777-1D56-5F52FA4C30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1343071"/>
            <a:ext cx="5122797" cy="509856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6C942E8-92D3-E589-1ABB-C8B3EBAF244C}"/>
              </a:ext>
            </a:extLst>
          </p:cNvPr>
          <p:cNvSpPr/>
          <p:nvPr/>
        </p:nvSpPr>
        <p:spPr>
          <a:xfrm>
            <a:off x="7425649" y="6491890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8E879B2-E84E-2A39-6A80-83975B3EEFB3}"/>
              </a:ext>
            </a:extLst>
          </p:cNvPr>
          <p:cNvSpPr/>
          <p:nvPr/>
        </p:nvSpPr>
        <p:spPr>
          <a:xfrm>
            <a:off x="2411190" y="6509156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</p:spTree>
    <p:extLst>
      <p:ext uri="{BB962C8B-B14F-4D97-AF65-F5344CB8AC3E}">
        <p14:creationId xmlns:p14="http://schemas.microsoft.com/office/powerpoint/2010/main" val="3940797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5835CF-3EEE-D054-CB75-2DA6F5872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02F49-54F2-7B1D-2945-A6D8CC7A6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Colocalization Verification PMN-Immune interaction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125D85-8119-BE44-FB6A-694C33F20A7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0" y="6534055"/>
            <a:ext cx="4324325" cy="323165"/>
          </a:xfrm>
        </p:spPr>
        <p:txBody>
          <a:bodyPr/>
          <a:lstStyle/>
          <a:p>
            <a:r>
              <a:rPr lang="en-US" dirty="0"/>
              <a:t>* Note: Both patients were responsive to treatment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9CD4D6-0BBB-6245-38F4-9C8F5F6DC6C8}"/>
              </a:ext>
            </a:extLst>
          </p:cNvPr>
          <p:cNvSpPr/>
          <p:nvPr/>
        </p:nvSpPr>
        <p:spPr>
          <a:xfrm>
            <a:off x="1478885" y="1154169"/>
            <a:ext cx="3870275" cy="105964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Low Colocalization </a:t>
            </a:r>
            <a:br>
              <a:rPr lang="en-US" dirty="0"/>
            </a:br>
            <a:r>
              <a:rPr lang="en-US" dirty="0"/>
              <a:t>Delaunay -(CD4 -4.3, CD8  -3.5)</a:t>
            </a:r>
          </a:p>
          <a:p>
            <a:pPr algn="ctr"/>
            <a:r>
              <a:rPr lang="en-US" dirty="0"/>
              <a:t>Radial – (CD4 -7.8 CD8 -6.5)</a:t>
            </a:r>
            <a:br>
              <a:rPr lang="en-US" dirty="0"/>
            </a:br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0563D6C-2ED1-CED0-A806-3DB1DCC0D0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4936" y="2113109"/>
            <a:ext cx="5287530" cy="404275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B1CB150-2C75-1F3F-FBC4-C3BB6C3B09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874" y="2130945"/>
            <a:ext cx="5089626" cy="3950967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4CF9C89F-B714-C43A-922A-4239A305BF6C}"/>
              </a:ext>
            </a:extLst>
          </p:cNvPr>
          <p:cNvSpPr/>
          <p:nvPr/>
        </p:nvSpPr>
        <p:spPr>
          <a:xfrm>
            <a:off x="5905500" y="1154169"/>
            <a:ext cx="3870275" cy="97677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High Colocalization </a:t>
            </a:r>
            <a:br>
              <a:rPr lang="en-US" dirty="0"/>
            </a:br>
            <a:r>
              <a:rPr lang="en-US" dirty="0"/>
              <a:t>Delaunay -(CD4 6.4, CD8  3.7)</a:t>
            </a:r>
          </a:p>
          <a:p>
            <a:pPr algn="ctr"/>
            <a:r>
              <a:rPr lang="en-US" dirty="0"/>
              <a:t>Radial – (CD4 4.4 CD8 1.5)</a:t>
            </a:r>
            <a:br>
              <a:rPr lang="en-US" dirty="0"/>
            </a:br>
            <a:endParaRPr lang="en-US" dirty="0"/>
          </a:p>
        </p:txBody>
      </p:sp>
      <p:pic>
        <p:nvPicPr>
          <p:cNvPr id="5" name="Content Placeholder 2">
            <a:extLst>
              <a:ext uri="{FF2B5EF4-FFF2-40B4-BE49-F238E27FC236}">
                <a16:creationId xmlns:a16="http://schemas.microsoft.com/office/drawing/2014/main" id="{124C4AB4-53CD-F15E-446A-9442B6BE1CB6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4"/>
          <a:stretch>
            <a:fillRect/>
          </a:stretch>
        </p:blipFill>
        <p:spPr>
          <a:xfrm>
            <a:off x="5926064" y="2130945"/>
            <a:ext cx="4024589" cy="4103697"/>
          </a:xfrm>
        </p:spPr>
      </p:pic>
    </p:spTree>
    <p:extLst>
      <p:ext uri="{BB962C8B-B14F-4D97-AF65-F5344CB8AC3E}">
        <p14:creationId xmlns:p14="http://schemas.microsoft.com/office/powerpoint/2010/main" val="32099147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5E684-6468-27FC-FD4A-A97D38E647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7A854D7-AF26-8558-0635-9E3DD017DC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44899" y="2845014"/>
            <a:ext cx="1898167" cy="517065"/>
          </a:xfrm>
        </p:spPr>
        <p:txBody>
          <a:bodyPr/>
          <a:lstStyle/>
          <a:p>
            <a:r>
              <a:rPr lang="en-US" dirty="0"/>
              <a:t>Radial vs Delaunay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49AA364-19E1-3321-BE22-500B4F9E764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63C83F9-64B5-54CD-2B50-A348E42C7C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4096" y="130329"/>
            <a:ext cx="5886037" cy="322960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36C2CE8-539E-F609-F333-51C33198F3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4096" y="3275076"/>
            <a:ext cx="5909339" cy="3452595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798E1517-8BB3-6743-57B5-3FCF63BE43EC}"/>
              </a:ext>
            </a:extLst>
          </p:cNvPr>
          <p:cNvSpPr/>
          <p:nvPr/>
        </p:nvSpPr>
        <p:spPr>
          <a:xfrm>
            <a:off x="6261222" y="485016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Radial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6120662-E888-F8A2-2253-CFE270982223}"/>
              </a:ext>
            </a:extLst>
          </p:cNvPr>
          <p:cNvSpPr/>
          <p:nvPr/>
        </p:nvSpPr>
        <p:spPr>
          <a:xfrm>
            <a:off x="6204628" y="1524000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Delaunay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01BA2160-E4BA-516A-3A3C-C6B4D9643509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322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95344-DD0B-FBC8-72A2-50AE49EF71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17AE874-3B2A-8214-C05E-9D0DF50FC1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Neighboring Cell Types Graph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FCB9806-9DD7-33F5-2C91-35803712BD53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C62B279-40FB-EF67-3DDE-7DD99C1ADA5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629400" y="1643818"/>
            <a:ext cx="4658710" cy="1458348"/>
          </a:xfrm>
        </p:spPr>
        <p:txBody>
          <a:bodyPr/>
          <a:lstStyle/>
          <a:p>
            <a:r>
              <a:rPr lang="en-US" dirty="0"/>
              <a:t>Method to show types of cells neighboring a sample’s PMNs</a:t>
            </a:r>
          </a:p>
          <a:p>
            <a:pPr lvl="1"/>
            <a:r>
              <a:rPr lang="en-US" dirty="0"/>
              <a:t>Works with radial, Delauney, and </a:t>
            </a:r>
            <a:r>
              <a:rPr lang="en-US" dirty="0" err="1"/>
              <a:t>n_neighboors</a:t>
            </a:r>
            <a:r>
              <a:rPr lang="en-US" dirty="0"/>
              <a:t> criteria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211D0A8-B5CB-947A-C26D-D38B52418A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195" y="1478818"/>
            <a:ext cx="5812279" cy="48420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23704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83D965A2-3A8F-9AA7-4BD4-98C9CA3BD1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9914F74-0A87-A257-682D-2F74A9E93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</a:t>
            </a:r>
            <a:r>
              <a:rPr lang="en-US" dirty="0" err="1"/>
              <a:t>delaunay</a:t>
            </a:r>
            <a:r>
              <a:rPr lang="en-US" dirty="0"/>
              <a:t>) – (cell type)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14D5AA-8FA2-5245-79EC-C5C7EA036CB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16AC62B-445A-EBA3-890F-E65D14679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6869" y="1800303"/>
            <a:ext cx="4589718" cy="440140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6474B1B-6E4C-E48B-B9A4-B795DC77CA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675923"/>
            <a:ext cx="4764178" cy="45257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52080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36C579-9F0B-5C91-C737-155770256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2AA10A6-DB33-8871-319F-FA9B003337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(radial 21 microns) (cell type)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73B0A0-F7EC-9EF6-0018-6A631A04D236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EA60C48-414A-DEC1-A2B2-AC42E0E186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5500" y="1418811"/>
            <a:ext cx="5096540" cy="484091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7F357FD-A12B-57AC-06C7-39CF8768218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6987" y="1544595"/>
            <a:ext cx="4848513" cy="4653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7013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978DA1-56DE-95F6-DB1B-DCEBCDB879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CF19B8D-D0F6-D87B-8A79-B38FBBCA19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(21 microns) – (merged </a:t>
            </a:r>
            <a:r>
              <a:rPr lang="en-US" dirty="0" err="1"/>
              <a:t>annot</a:t>
            </a:r>
            <a:r>
              <a:rPr lang="en-US" dirty="0"/>
              <a:t> cluster)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EBDF68B-0EB6-AB24-C6B9-86CCC601EC1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4D329EAA-CF67-05F5-CD47-3D20040779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647" y="1533250"/>
            <a:ext cx="4935148" cy="4581279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B546E3E-4106-6248-7B7C-70D813BDD52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05500" y="1533250"/>
            <a:ext cx="5073087" cy="45908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1955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A0647-A157-C8F3-6566-E79687648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41B64F6-F768-6C28-5D94-3A944B520D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Neighboring Cell Types Responder vs </a:t>
            </a:r>
            <a:r>
              <a:rPr lang="en-US" dirty="0" err="1"/>
              <a:t>Nonresponder</a:t>
            </a:r>
            <a:r>
              <a:rPr lang="en-US" dirty="0"/>
              <a:t> (</a:t>
            </a:r>
            <a:r>
              <a:rPr lang="en-US" dirty="0" err="1"/>
              <a:t>delaunay</a:t>
            </a:r>
            <a:r>
              <a:rPr lang="en-US" dirty="0"/>
              <a:t>) – (merged </a:t>
            </a:r>
            <a:r>
              <a:rPr lang="en-US" dirty="0" err="1"/>
              <a:t>annot</a:t>
            </a:r>
            <a:r>
              <a:rPr lang="en-US" dirty="0"/>
              <a:t> cluster)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FDD36B4-BDF2-BB86-3491-FBE43EB1546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48B917F-5A93-6712-EA49-5CE0A0C741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458097"/>
            <a:ext cx="5266622" cy="4760136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4D2BC78-E530-5A8B-73AC-2A605D1D0F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05061" y="1458098"/>
            <a:ext cx="5340733" cy="4977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098695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799C4C-8935-407C-DD5A-781B5FA190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C75D2705-8162-3DF3-E5FF-D89EB81A23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CSFR3 Gene Expression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08B3B3A3-59C8-396E-D12C-1B8882A825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77351" y="1470367"/>
            <a:ext cx="10830910" cy="452432"/>
          </a:xfrm>
        </p:spPr>
        <p:txBody>
          <a:bodyPr/>
          <a:lstStyle/>
          <a:p>
            <a:r>
              <a:rPr lang="en-US" dirty="0"/>
              <a:t>Possible PMN marker – no good link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438E5F-5F0C-591C-2042-5C3104DDCF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2596" y="2431274"/>
            <a:ext cx="2877119" cy="2196628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48AD6276-210B-4C55-6085-BE24E37D406A}"/>
              </a:ext>
            </a:extLst>
          </p:cNvPr>
          <p:cNvSpPr/>
          <p:nvPr/>
        </p:nvSpPr>
        <p:spPr>
          <a:xfrm>
            <a:off x="355159" y="2070881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Protein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A11C549-5755-4112-5565-45F49BBBED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29859" y="2381618"/>
            <a:ext cx="4418973" cy="2216082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6FC2A6BC-322B-8655-AA95-B648F330CADC}"/>
              </a:ext>
            </a:extLst>
          </p:cNvPr>
          <p:cNvSpPr/>
          <p:nvPr/>
        </p:nvSpPr>
        <p:spPr>
          <a:xfrm>
            <a:off x="3506626" y="2057615"/>
            <a:ext cx="1875099" cy="30242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mRNA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F2F7B4-B3EC-2896-52DC-CA470E0239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8976" y="3429000"/>
            <a:ext cx="3316695" cy="3120081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C437F05-3C1F-4E77-57F6-69C899319C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7351" y="4661372"/>
            <a:ext cx="2869743" cy="219662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C766A47-A347-A466-943E-4A0F0AEE4D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30307" y="395784"/>
            <a:ext cx="3265323" cy="3014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8256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92F52-5A90-D95E-8395-C9A9162929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69B01127-924F-37DB-8D2E-0FBAD6D2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1236"/>
            <a:ext cx="10896600" cy="987963"/>
          </a:xfrm>
        </p:spPr>
        <p:txBody>
          <a:bodyPr/>
          <a:lstStyle/>
          <a:p>
            <a:r>
              <a:rPr lang="en-US" dirty="0"/>
              <a:t>Protein Mapping Expression Validation (CD11b PMN Marker)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5B3C198-E255-B2A9-24A6-CD614FA7A96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3740CDCA-5BB4-7F8A-D3F7-3A54A9749A4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3A8851-C06E-1FDF-1C0D-2D4FD6C968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3890" y="1822132"/>
            <a:ext cx="5202294" cy="384893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BD3E265-0513-9422-C344-30C6A904D4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1046" y="1822131"/>
            <a:ext cx="4303264" cy="38240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535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FC72EB-6954-37A8-47C7-801BBCE5C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E71B28E-4821-840D-4DD2-9C04170109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IFIT1/2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92043E-D81D-A04B-3DE4-D34A9F16374B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DBD5CA-D516-90E2-5838-997C2E5198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16" y="2001976"/>
            <a:ext cx="7222132" cy="36548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FBFF620-1459-9D03-1F2D-61A1753E20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7019" y="2001976"/>
            <a:ext cx="4056781" cy="36028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15377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36A2CC-1623-7762-BA11-07B604D3B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29E18A4A-B842-4B1F-B2B4-D3F8DBCFD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STAT1/2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5196702-8E4A-DF9F-33B8-820F54A682B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866F6EC6-DC00-E4D7-EA3F-5963F07280DE}"/>
              </a:ext>
            </a:extLst>
          </p:cNvPr>
          <p:cNvPicPr>
            <a:picLocks noGrp="1" noChangeAspect="1"/>
          </p:cNvPicPr>
          <p:nvPr>
            <p:ph sz="quarter" idx="13"/>
          </p:nvPr>
        </p:nvPicPr>
        <p:blipFill>
          <a:blip r:embed="rId3"/>
          <a:stretch>
            <a:fillRect/>
          </a:stretch>
        </p:blipFill>
        <p:spPr>
          <a:xfrm>
            <a:off x="7273803" y="2072887"/>
            <a:ext cx="4079997" cy="3583927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3CB964B-5DB1-6EFD-0707-D7E62FBD835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116" y="2001977"/>
            <a:ext cx="7222132" cy="3654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515619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6BF14-7830-E1D9-AB7F-BCE0FFE94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17A2E7B-E581-D5DA-BD73-1F23EF7491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ISG15/20, IFIT1/2, STAT1/2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11AF7-4202-7B9F-FE2E-5DB8BF6B131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A871475-3622-EEA9-9D79-C8571A354653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1872307"/>
          </a:xfrm>
        </p:spPr>
        <p:txBody>
          <a:bodyPr/>
          <a:lstStyle/>
          <a:p>
            <a:r>
              <a:rPr lang="en-US" dirty="0"/>
              <a:t>Steps</a:t>
            </a:r>
          </a:p>
          <a:p>
            <a:pPr lvl="1"/>
            <a:r>
              <a:rPr lang="en-US" dirty="0"/>
              <a:t>Cleanup Code Base</a:t>
            </a:r>
          </a:p>
          <a:p>
            <a:pPr lvl="1"/>
            <a:r>
              <a:rPr lang="en-US" dirty="0"/>
              <a:t>Make Percentage Matrix</a:t>
            </a:r>
          </a:p>
          <a:p>
            <a:pPr lvl="1"/>
            <a:r>
              <a:rPr lang="en-US" dirty="0"/>
              <a:t>Create Heatmap of Percentage Matrix (Heatmap 1)</a:t>
            </a:r>
          </a:p>
          <a:p>
            <a:pPr lvl="1"/>
            <a:r>
              <a:rPr lang="en-US" dirty="0"/>
              <a:t>Create Heatmap of the delta vs general sample (Heatmap 2)</a:t>
            </a:r>
          </a:p>
        </p:txBody>
      </p:sp>
    </p:spTree>
    <p:extLst>
      <p:ext uri="{BB962C8B-B14F-4D97-AF65-F5344CB8AC3E}">
        <p14:creationId xmlns:p14="http://schemas.microsoft.com/office/powerpoint/2010/main" val="3073631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F7D6B-B104-168B-5473-B37B1BAED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34542B39-1E82-0965-B6DD-F98F273EBD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EC69F3-5A90-A757-2872-BF1138B66C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CB86015A-1E1E-D749-A70B-A5E32D229F8C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1429109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US" dirty="0"/>
              <a:t>Determine how far PMNs are to the nearest CD8 and CD4 cells. </a:t>
            </a:r>
          </a:p>
          <a:p>
            <a:pPr marL="514350" indent="-514350">
              <a:buAutoNum type="arabicPeriod"/>
            </a:pPr>
            <a:r>
              <a:rPr lang="en-US" dirty="0"/>
              <a:t>Clustering matrix by protein expression</a:t>
            </a:r>
          </a:p>
          <a:p>
            <a:pPr marL="514350" indent="-514350">
              <a:buAutoNum type="arabicPeriod"/>
            </a:pPr>
            <a:r>
              <a:rPr lang="en-US" dirty="0"/>
              <a:t>Analyze T cell neighbors</a:t>
            </a:r>
          </a:p>
        </p:txBody>
      </p:sp>
    </p:spTree>
    <p:extLst>
      <p:ext uri="{BB962C8B-B14F-4D97-AF65-F5344CB8AC3E}">
        <p14:creationId xmlns:p14="http://schemas.microsoft.com/office/powerpoint/2010/main" val="223903553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AC6385-5A31-7159-5739-3C4DB571C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DFC03825-6AD4-BA2A-66DA-FCF759FC3B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686F22-615A-5F08-D6AB-B0568666834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408D4DC-42AB-12EC-3F02-0945E64A609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57200" y="1643818"/>
            <a:ext cx="10830910" cy="4512048"/>
          </a:xfr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4522542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7831C99-7466-5707-AAF8-25B3E4A5A8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77230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UW-Madison 2">
      <a:dk1>
        <a:srgbClr val="202020"/>
      </a:dk1>
      <a:lt1>
        <a:srgbClr val="FFFFFF"/>
      </a:lt1>
      <a:dk2>
        <a:srgbClr val="101010"/>
      </a:dk2>
      <a:lt2>
        <a:srgbClr val="DADFE1"/>
      </a:lt2>
      <a:accent1>
        <a:srgbClr val="C5050C"/>
      </a:accent1>
      <a:accent2>
        <a:srgbClr val="8DD3CE"/>
      </a:accent2>
      <a:accent3>
        <a:srgbClr val="FCCB51"/>
      </a:accent3>
      <a:accent4>
        <a:srgbClr val="ADADAD"/>
      </a:accent4>
      <a:accent5>
        <a:srgbClr val="006992"/>
      </a:accent5>
      <a:accent6>
        <a:srgbClr val="432E4F"/>
      </a:accent6>
      <a:hlink>
        <a:srgbClr val="0479A8"/>
      </a:hlink>
      <a:folHlink>
        <a:srgbClr val="0479A8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UW-Madison-data-RedHat-16_9" id="{39149448-8F7A-FF49-B9B1-924C8F85E517}" vid="{49B34611-19B4-3D48-B648-24C73EA204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UW-Madison-data-RedHat-16_9</Template>
  <TotalTime>11947</TotalTime>
  <Words>267</Words>
  <Application>Microsoft Office PowerPoint</Application>
  <PresentationFormat>Widescreen</PresentationFormat>
  <Paragraphs>58</Paragraphs>
  <Slides>18</Slides>
  <Notes>17</Notes>
  <HiddenSlides>3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3" baseType="lpstr">
      <vt:lpstr>Arial</vt:lpstr>
      <vt:lpstr>Calibri</vt:lpstr>
      <vt:lpstr>Red Hat Display</vt:lpstr>
      <vt:lpstr>Red Hat Text</vt:lpstr>
      <vt:lpstr>Office Theme</vt:lpstr>
      <vt:lpstr>Week 4 Updates Shapiro</vt:lpstr>
      <vt:lpstr>Protein Colocalization Analysis – Radial Comparison</vt:lpstr>
      <vt:lpstr>Protein Colocalization Analysis – Radial Comparison</vt:lpstr>
      <vt:lpstr>Colocalization Verification PMN-Immune interaction</vt:lpstr>
      <vt:lpstr>Radial vs Delaunay</vt:lpstr>
      <vt:lpstr>Neighboring Cell Types Graph</vt:lpstr>
      <vt:lpstr>Neighboring Cell Types Responder vs Nonresponder (delaunay) – (cell type)</vt:lpstr>
      <vt:lpstr>Neighboring Cell Types Responder vs Nonresponder (radial 21 microns) (cell type)</vt:lpstr>
      <vt:lpstr>Neighboring Cell Types Responder vs Nonresponder (21 microns) – (merged annot cluster)</vt:lpstr>
      <vt:lpstr>Neighboring Cell Types Responder vs Nonresponder (delaunay) – (merged annot cluster)</vt:lpstr>
      <vt:lpstr>CSFR3 Gene Expression</vt:lpstr>
      <vt:lpstr>Protein Mapping Expression Validation (CD11b PMN Marker) </vt:lpstr>
      <vt:lpstr>IFIT1/2</vt:lpstr>
      <vt:lpstr>STAT1/2</vt:lpstr>
      <vt:lpstr>ISG15/20, IFIT1/2, STAT1/2</vt:lpstr>
      <vt:lpstr>Next Steps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Evan Johns</dc:creator>
  <cp:lastModifiedBy>Evan Daniel Johns</cp:lastModifiedBy>
  <cp:revision>14</cp:revision>
  <dcterms:created xsi:type="dcterms:W3CDTF">2025-06-03T19:55:18Z</dcterms:created>
  <dcterms:modified xsi:type="dcterms:W3CDTF">2025-06-20T21:56:13Z</dcterms:modified>
</cp:coreProperties>
</file>