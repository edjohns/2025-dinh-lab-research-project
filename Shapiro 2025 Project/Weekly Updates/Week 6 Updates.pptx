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23"/>
  </p:notesMasterIdLst>
  <p:sldIdLst>
    <p:sldId id="264" r:id="rId2"/>
    <p:sldId id="321" r:id="rId3"/>
    <p:sldId id="308" r:id="rId4"/>
    <p:sldId id="296" r:id="rId5"/>
    <p:sldId id="302" r:id="rId6"/>
    <p:sldId id="306" r:id="rId7"/>
    <p:sldId id="320" r:id="rId8"/>
    <p:sldId id="305" r:id="rId9"/>
    <p:sldId id="307" r:id="rId10"/>
    <p:sldId id="312" r:id="rId11"/>
    <p:sldId id="313" r:id="rId12"/>
    <p:sldId id="319" r:id="rId13"/>
    <p:sldId id="315" r:id="rId14"/>
    <p:sldId id="316" r:id="rId15"/>
    <p:sldId id="314" r:id="rId16"/>
    <p:sldId id="322" r:id="rId17"/>
    <p:sldId id="317" r:id="rId18"/>
    <p:sldId id="318" r:id="rId19"/>
    <p:sldId id="300" r:id="rId20"/>
    <p:sldId id="267" r:id="rId21"/>
    <p:sldId id="303" r:id="rId2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5050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125E5076-3810-47DD-B79F-674D7AD40C01}" styleName="Dark Style 1 - Acc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37CE84F3-28C3-443E-9E96-99CF82512B78}" styleName="Dark Style 1 - Acc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D03447BB-5D67-496B-8E87-E561075AD55C}" styleName="Dark Style 1 - Accent 3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wholeTbl>
    <a:band1H>
      <a:tcStyle>
        <a:tcBdr/>
        <a:fill>
          <a:solidFill>
            <a:schemeClr val="accent3">
              <a:shade val="60000"/>
            </a:schemeClr>
          </a:solidFill>
        </a:fill>
      </a:tcStyle>
    </a:band1H>
    <a:band1V>
      <a:tcStyle>
        <a:tcBdr/>
        <a:fill>
          <a:solidFill>
            <a:schemeClr val="accent3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3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3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3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0979"/>
    <p:restoredTop sz="96327"/>
  </p:normalViewPr>
  <p:slideViewPr>
    <p:cSldViewPr snapToGrid="0" snapToObjects="1">
      <p:cViewPr varScale="1">
        <p:scale>
          <a:sx n="75" d="100"/>
          <a:sy n="75" d="100"/>
        </p:scale>
        <p:origin x="45" y="23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E03F8B-A50D-DE44-9304-39C43FB3C5B0}" type="datetimeFigureOut">
              <a:rPr lang="en-US" smtClean="0"/>
              <a:t>7/18/2025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8151AFC-CD2E-5241-A5F6-3092FE7745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51248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048748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0D0FCF-565A-B338-45F5-9FA0CF9457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53120B-407B-D3EA-876A-DE788010637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2C8CB4-6061-109A-0C13-9513C1CDBC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2478B8-001C-CC5E-76C4-D7B078F86B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032085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6EAEB4-4E3B-FD20-7A71-02897E23B2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017534-FDA7-60FA-9E57-ACC0B7682F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D436E2-7043-5F77-00A4-5A6E60D4A6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4A2913-3881-212C-6E1E-AC069B1084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832655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108C57-1A5C-8841-96B4-FBA737509A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49283B5-37A7-9C2A-F1B5-65A62C7414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744759-2460-F3F3-A805-8CE142B34C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literature there does not appear to be a set standard distance used. Most use values between 10-20 um. In the Cell Reports Medicine paper on HNSCC (https://www.sciencedirect.com/science/article/pii/S2666379125001739?ref=pdf_download&amp;fr=RR-2&amp;rr=955e97c87c6cb267) they defined proximal neighbors as within 15 um. In testing different TMA FOVs showed similar values between radial distances 10-20 um. Notably the PMN cells become https://www.sciencedirect.com/science/article/pii/S2666379125001739?ref=pdf_download&amp;fr=RR-2&amp;rr=955e97c87c6cb267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FD0273-57DB-FB8E-6ACB-BE83183464B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99593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F4C7E2-8E4D-6C05-E965-BE990D262C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54A89D-AC0C-07E0-6C51-D09BD13280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56AF5FC-9F08-B854-6480-D1D8D5E0C7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17B86B-8BA7-C596-E959-39334B814E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393830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A46B21-67A9-403D-8557-3F44B6C935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02B0546-98F7-75C9-8C5C-C87A46D73D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40B5D1F-0522-99BF-8591-6FBC39A170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935072-E588-1AA6-9D51-05106FEA43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17967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E36B22-9C95-FB0B-AD79-71A74E51AD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5151CAA-9D9F-029F-1B40-26C1554A6A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D6395C-BE2B-93B2-5AA2-CF8CF4920C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CC1850-D405-D4DB-05DD-595ACFDC04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728976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51686F-E970-0B33-E9F9-71EF40BC21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E171EDB-769D-B1C6-5F42-7E358D1F18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6685FBF-7E59-985C-AD05-2BEE4569D7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09DF43-4C63-FA37-5B70-556A1B8573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476575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28934F-8883-D06F-6E94-1065935A34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BE6FFA1-2FFA-08AE-B58B-64206FD521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0F4960-5C5C-8261-B173-07BC64A554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57175A-3042-6A8E-A312-9FA5801416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339911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delta matrix has far more significant values in general. This is because it removes a lot of variation caused by the overall prevalences of cells.</a:t>
            </a:r>
          </a:p>
          <a:p>
            <a:endParaRPr lang="en-US" dirty="0"/>
          </a:p>
          <a:p>
            <a:r>
              <a:rPr lang="en-US" dirty="0"/>
              <a:t>A positive value of t-statistic indicates that they are more common in responder groups.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292146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638A19-315C-08DF-7FA2-8FCEAB0134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1B3F32-B395-1B82-599A-9D635D03AB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0227B11-8D0D-E1A2-0AF6-C00547DD56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609504-8821-037D-19FA-9E2D435686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159983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1429FC-0ED6-5861-41D4-78F21D3949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3F4957-A095-39D9-4AE0-907354ED5D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3D3B4E-786D-81F1-BEC5-4E74AD834B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A0399F-5FFB-CE48-9F3F-F9F372C777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56385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37B159-7F20-609B-ED74-E7261CB6F2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D6F6786-CD0D-3D72-6B6F-2853FC184D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8A8D453-3164-33DC-2509-D1C6C5BA11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578D8E-9FE0-3ED0-0520-A25D1861C6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107686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66B13B-16E5-7631-2938-0F6C76865F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D56858-97C3-8FC6-2ED8-72D27B2641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0AED93C-A76F-4887-E381-A77868D776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708E99-19C1-7B42-1425-62E309CDB2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875775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13D370-371D-7537-BD63-87C6807CB6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8DCD47D-415C-B7FE-629B-E9FB24F645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4CECD4-6049-DB3F-C1F8-F116BAEBC6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473FD4-86A2-9720-F8A7-303142100A2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772774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88B6FD-7971-A07C-B775-0592EB717B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A408224-AEE9-8822-9AB9-FC49283258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BE78BA-F1ED-EE46-B412-21C19134BA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BDBC11-FBF7-691B-AD9E-D4B414EC7E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485375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7A1E74-7162-A78A-780E-B3CA942D9E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6CBD965-5CAA-8682-6756-38293B9896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0213E6E-7D2D-5048-44E5-BBE23F31DE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D2536D-3003-1F8B-D46E-F756196469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085985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C852B8-4262-8D0B-4AEF-EE9C9654ED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2A9D9AD-CEFA-5D36-108D-77E71FBAAD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8267AC6-F968-D60F-8598-5AED791F83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AC4F54-ACC7-F43A-30F5-680D67239F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911409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F49752-A749-4AAF-4E51-72FEE1708C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6E6E58C-FD57-6202-6E73-2809D8ECC0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9FE0B22-D1F0-70F8-81D7-2F7FC50D77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0BF02C-2A1A-8CFC-6682-C95114BEBD9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583093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841043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3EE3FD-6E55-F24B-A475-247FC6D7E1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AF8693-C447-38FE-E3A0-295EAE10D6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F98412-9D44-B26E-9C17-39621703C4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00B736-CC86-D589-91B3-030B8B908D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70961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blipFill dpi="0" rotWithShape="1">
          <a:blip r:embed="rId2">
            <a:alphaModFix amt="50344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Freeform 18">
            <a:extLst>
              <a:ext uri="{FF2B5EF4-FFF2-40B4-BE49-F238E27FC236}">
                <a16:creationId xmlns:a16="http://schemas.microsoft.com/office/drawing/2014/main" id="{3F103DCA-791F-6E43-9621-0FFA8B5440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0464798" cy="6858000"/>
          </a:xfrm>
          <a:custGeom>
            <a:avLst/>
            <a:gdLst>
              <a:gd name="connsiteX0" fmla="*/ 0 w 10464798"/>
              <a:gd name="connsiteY0" fmla="*/ 0 h 6858000"/>
              <a:gd name="connsiteX1" fmla="*/ 406398 w 10464798"/>
              <a:gd name="connsiteY1" fmla="*/ 0 h 6858000"/>
              <a:gd name="connsiteX2" fmla="*/ 5498904 w 10464798"/>
              <a:gd name="connsiteY2" fmla="*/ 0 h 6858000"/>
              <a:gd name="connsiteX3" fmla="*/ 5850595 w 10464798"/>
              <a:gd name="connsiteY3" fmla="*/ 0 h 6858000"/>
              <a:gd name="connsiteX4" fmla="*/ 10464798 w 10464798"/>
              <a:gd name="connsiteY4" fmla="*/ 0 h 6858000"/>
              <a:gd name="connsiteX5" fmla="*/ 8809500 w 10464798"/>
              <a:gd name="connsiteY5" fmla="*/ 6858000 h 6858000"/>
              <a:gd name="connsiteX6" fmla="*/ 5850595 w 10464798"/>
              <a:gd name="connsiteY6" fmla="*/ 6858000 h 6858000"/>
              <a:gd name="connsiteX7" fmla="*/ 3843605 w 10464798"/>
              <a:gd name="connsiteY7" fmla="*/ 6858000 h 6858000"/>
              <a:gd name="connsiteX8" fmla="*/ 406398 w 10464798"/>
              <a:gd name="connsiteY8" fmla="*/ 6858000 h 6858000"/>
              <a:gd name="connsiteX9" fmla="*/ 0 w 10464798"/>
              <a:gd name="connsiteY9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464798" h="6858000">
                <a:moveTo>
                  <a:pt x="0" y="0"/>
                </a:moveTo>
                <a:lnTo>
                  <a:pt x="406398" y="0"/>
                </a:lnTo>
                <a:lnTo>
                  <a:pt x="5498904" y="0"/>
                </a:lnTo>
                <a:lnTo>
                  <a:pt x="5850595" y="0"/>
                </a:lnTo>
                <a:lnTo>
                  <a:pt x="10464798" y="0"/>
                </a:lnTo>
                <a:lnTo>
                  <a:pt x="8809500" y="6858000"/>
                </a:lnTo>
                <a:lnTo>
                  <a:pt x="5850595" y="6858000"/>
                </a:lnTo>
                <a:lnTo>
                  <a:pt x="3843605" y="6858000"/>
                </a:lnTo>
                <a:lnTo>
                  <a:pt x="406398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8F70F15D-372D-5B45-92B4-1B626E0FC12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7200" y="3429374"/>
            <a:ext cx="6159500" cy="410882"/>
          </a:xfrm>
        </p:spPr>
        <p:txBody>
          <a:bodyPr/>
          <a:lstStyle>
            <a:lvl1pPr marL="0" indent="0">
              <a:buNone/>
              <a:defRPr sz="2300">
                <a:ln>
                  <a:noFill/>
                </a:ln>
                <a:solidFill>
                  <a:schemeClr val="tx1">
                    <a:lumMod val="25000"/>
                    <a:lumOff val="75000"/>
                  </a:schemeClr>
                </a:solidFill>
              </a:defRPr>
            </a:lvl1pPr>
          </a:lstStyle>
          <a:p>
            <a:pPr lvl="0"/>
            <a:r>
              <a:rPr lang="en-US" dirty="0"/>
              <a:t>Insert subtitle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E378D8B-ED2A-3D41-92FB-40BA9FA8CC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57200" y="3182248"/>
            <a:ext cx="471523" cy="9400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B995C957-CDB9-C342-8243-6F7D038511B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9" y="6231067"/>
            <a:ext cx="7530353" cy="295466"/>
          </a:xfrm>
        </p:spPr>
        <p:txBody>
          <a:bodyPr bIns="0" anchor="b" anchorCtr="0"/>
          <a:lstStyle>
            <a:lvl1pPr marL="0" indent="0">
              <a:buNone/>
              <a:defRPr sz="18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/>
            <a:r>
              <a:rPr lang="en-US" dirty="0"/>
              <a:t>Insert name, position, unit/faculty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0C77E77-56F4-4C9C-AB6A-89C89D91C72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9" y="1814627"/>
            <a:ext cx="7530353" cy="1213153"/>
          </a:xfrm>
        </p:spPr>
        <p:txBody>
          <a:bodyPr rIns="182880"/>
          <a:lstStyle>
            <a:lvl1pPr>
              <a:defRPr sz="42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presentation title in title or sentence case</a:t>
            </a:r>
          </a:p>
        </p:txBody>
      </p:sp>
    </p:spTree>
    <p:extLst>
      <p:ext uri="{BB962C8B-B14F-4D97-AF65-F5344CB8AC3E}">
        <p14:creationId xmlns:p14="http://schemas.microsoft.com/office/powerpoint/2010/main" val="41264554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A9886E-E0D4-5815-83F1-889895E62F5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702134"/>
            <a:ext cx="10896600" cy="517065"/>
          </a:xfrm>
        </p:spPr>
        <p:txBody>
          <a:bodyPr/>
          <a:lstStyle>
            <a:lvl1pPr>
              <a:defRPr b="1" i="0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</a:lstStyle>
          <a:p>
            <a:r>
              <a:rPr lang="en-US" dirty="0"/>
              <a:t>Insert slide title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2969AA8-F260-814E-8CAE-0885CD16F6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57200" y="1331912"/>
            <a:ext cx="471523" cy="9400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FBF89922-C537-DD47-8C8F-19B8B33E65F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24000" y="1524000"/>
            <a:ext cx="9829800" cy="4648200"/>
          </a:xfrm>
        </p:spPr>
        <p:txBody>
          <a:bodyPr/>
          <a:lstStyle/>
          <a:p>
            <a:pPr lvl="0"/>
            <a:r>
              <a:rPr lang="en-US" dirty="0"/>
              <a:t>Bulleted list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17E8CB17-529B-9C4F-B120-C1236DEE817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0" y="6534055"/>
            <a:ext cx="4460516" cy="323165"/>
          </a:xfrm>
          <a:solidFill>
            <a:schemeClr val="accent1"/>
          </a:solidFill>
        </p:spPr>
        <p:txBody>
          <a:bodyPr wrap="none" lIns="274320" tIns="64008" rIns="274320" bIns="64008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>
                <a:solidFill>
                  <a:schemeClr val="bg1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Insert presentation topic or department/unit name</a:t>
            </a:r>
          </a:p>
        </p:txBody>
      </p:sp>
    </p:spTree>
    <p:extLst>
      <p:ext uri="{BB962C8B-B14F-4D97-AF65-F5344CB8AC3E}">
        <p14:creationId xmlns:p14="http://schemas.microsoft.com/office/powerpoint/2010/main" val="36262839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CBCA86-D8D8-70D0-C62A-9DE796C67A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702134"/>
            <a:ext cx="10896600" cy="517065"/>
          </a:xfrm>
        </p:spPr>
        <p:txBody>
          <a:bodyPr/>
          <a:lstStyle>
            <a:lvl1pPr>
              <a:defRPr b="1" i="0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</a:lstStyle>
          <a:p>
            <a:r>
              <a:rPr lang="en-US" dirty="0"/>
              <a:t>Insert slide title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2969AA8-F260-814E-8CAE-0885CD16F6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57200" y="1331912"/>
            <a:ext cx="471523" cy="9400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FBF89922-C537-DD47-8C8F-19B8B33E65F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24000" y="1524000"/>
            <a:ext cx="4724400" cy="4648200"/>
          </a:xfrm>
        </p:spPr>
        <p:txBody>
          <a:bodyPr/>
          <a:lstStyle/>
          <a:p>
            <a:pPr lvl="0"/>
            <a:r>
              <a:rPr lang="en-US" dirty="0"/>
              <a:t>Bulleted list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17E8CB17-529B-9C4F-B120-C1236DEE817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0" y="6534055"/>
            <a:ext cx="4460516" cy="323165"/>
          </a:xfrm>
          <a:solidFill>
            <a:schemeClr val="accent1"/>
          </a:solidFill>
        </p:spPr>
        <p:txBody>
          <a:bodyPr wrap="none" lIns="274320" tIns="64008" rIns="274320" bIns="64008"/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Insert presentation topic or department/unit name</a:t>
            </a:r>
          </a:p>
        </p:txBody>
      </p:sp>
      <p:sp>
        <p:nvSpPr>
          <p:cNvPr id="6" name="Content Placeholder 12">
            <a:extLst>
              <a:ext uri="{FF2B5EF4-FFF2-40B4-BE49-F238E27FC236}">
                <a16:creationId xmlns:a16="http://schemas.microsoft.com/office/drawing/2014/main" id="{E2D8BB4A-46A4-1343-BA88-41D2E1C0EA50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438900" y="1524000"/>
            <a:ext cx="4914900" cy="4648200"/>
          </a:xfrm>
        </p:spPr>
        <p:txBody>
          <a:bodyPr/>
          <a:lstStyle/>
          <a:p>
            <a:pPr lvl="0"/>
            <a:r>
              <a:rPr lang="en-US" dirty="0"/>
              <a:t>Bulleted list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357880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48866-4F69-FCBB-5935-007FD86EB9E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702134"/>
            <a:ext cx="10896600" cy="517065"/>
          </a:xfrm>
        </p:spPr>
        <p:txBody>
          <a:bodyPr/>
          <a:lstStyle>
            <a:lvl1pPr>
              <a:defRPr b="1" i="0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</a:lstStyle>
          <a:p>
            <a:r>
              <a:rPr lang="en-US" dirty="0"/>
              <a:t>Insert slide title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17E8CB17-529B-9C4F-B120-C1236DEE817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0" y="6534055"/>
            <a:ext cx="4460516" cy="323165"/>
          </a:xfrm>
          <a:solidFill>
            <a:schemeClr val="accent1"/>
          </a:solidFill>
        </p:spPr>
        <p:txBody>
          <a:bodyPr wrap="none" lIns="274320" tIns="64008" rIns="274320" bIns="64008"/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Insert presentation topic or department/unit name</a:t>
            </a:r>
          </a:p>
        </p:txBody>
      </p:sp>
      <p:sp>
        <p:nvSpPr>
          <p:cNvPr id="7" name="Chart Placeholder 11">
            <a:extLst>
              <a:ext uri="{FF2B5EF4-FFF2-40B4-BE49-F238E27FC236}">
                <a16:creationId xmlns:a16="http://schemas.microsoft.com/office/drawing/2014/main" id="{8C3425D9-7762-3940-B7DA-B13EC3E058BA}"/>
              </a:ext>
            </a:extLst>
          </p:cNvPr>
          <p:cNvSpPr>
            <a:spLocks noGrp="1"/>
          </p:cNvSpPr>
          <p:nvPr>
            <p:ph type="chart" sz="quarter" idx="13" hasCustomPrompt="1"/>
          </p:nvPr>
        </p:nvSpPr>
        <p:spPr>
          <a:xfrm>
            <a:off x="1524000" y="1523999"/>
            <a:ext cx="9829800" cy="4631865"/>
          </a:xfrm>
        </p:spPr>
        <p:txBody>
          <a:bodyPr/>
          <a:lstStyle>
            <a:lvl1pPr marL="0" indent="0">
              <a:buNone/>
              <a:defRPr sz="1800"/>
            </a:lvl1pPr>
          </a:lstStyle>
          <a:p>
            <a:r>
              <a:rPr lang="en-US" dirty="0"/>
              <a:t>chart</a:t>
            </a:r>
          </a:p>
        </p:txBody>
      </p:sp>
    </p:spTree>
    <p:extLst>
      <p:ext uri="{BB962C8B-B14F-4D97-AF65-F5344CB8AC3E}">
        <p14:creationId xmlns:p14="http://schemas.microsoft.com/office/powerpoint/2010/main" val="19027391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har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9317D7-4166-2ED9-1881-347107691C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702134"/>
            <a:ext cx="10896600" cy="517065"/>
          </a:xfrm>
        </p:spPr>
        <p:txBody>
          <a:bodyPr/>
          <a:lstStyle>
            <a:lvl1pPr>
              <a:defRPr b="1" i="0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</a:lstStyle>
          <a:p>
            <a:r>
              <a:rPr lang="en-US" dirty="0"/>
              <a:t>Insert slide title</a:t>
            </a:r>
          </a:p>
        </p:txBody>
      </p:sp>
      <p:sp>
        <p:nvSpPr>
          <p:cNvPr id="12" name="Chart Placeholder 11">
            <a:extLst>
              <a:ext uri="{FF2B5EF4-FFF2-40B4-BE49-F238E27FC236}">
                <a16:creationId xmlns:a16="http://schemas.microsoft.com/office/drawing/2014/main" id="{C8FC7EDF-D625-4640-AF06-22ADBDC8C8CE}"/>
              </a:ext>
            </a:extLst>
          </p:cNvPr>
          <p:cNvSpPr>
            <a:spLocks noGrp="1"/>
          </p:cNvSpPr>
          <p:nvPr>
            <p:ph type="chart" sz="quarter" idx="13" hasCustomPrompt="1"/>
          </p:nvPr>
        </p:nvSpPr>
        <p:spPr>
          <a:xfrm>
            <a:off x="457200" y="1530523"/>
            <a:ext cx="5429250" cy="4641677"/>
          </a:xfrm>
        </p:spPr>
        <p:txBody>
          <a:bodyPr/>
          <a:lstStyle>
            <a:lvl1pPr marL="0" indent="0">
              <a:buNone/>
              <a:defRPr sz="1800"/>
            </a:lvl1pPr>
          </a:lstStyle>
          <a:p>
            <a:r>
              <a:rPr lang="en-US" dirty="0"/>
              <a:t>chart</a:t>
            </a:r>
          </a:p>
        </p:txBody>
      </p:sp>
      <p:sp>
        <p:nvSpPr>
          <p:cNvPr id="13" name="Chart Placeholder 11">
            <a:extLst>
              <a:ext uri="{FF2B5EF4-FFF2-40B4-BE49-F238E27FC236}">
                <a16:creationId xmlns:a16="http://schemas.microsoft.com/office/drawing/2014/main" id="{8C45FAA6-1118-A24C-9C61-949F410E7C81}"/>
              </a:ext>
            </a:extLst>
          </p:cNvPr>
          <p:cNvSpPr>
            <a:spLocks noGrp="1"/>
          </p:cNvSpPr>
          <p:nvPr>
            <p:ph type="chart" sz="quarter" idx="14" hasCustomPrompt="1"/>
          </p:nvPr>
        </p:nvSpPr>
        <p:spPr>
          <a:xfrm>
            <a:off x="6438900" y="1530523"/>
            <a:ext cx="4914900" cy="4641677"/>
          </a:xfrm>
        </p:spPr>
        <p:txBody>
          <a:bodyPr/>
          <a:lstStyle>
            <a:lvl1pPr marL="0" indent="0">
              <a:buNone/>
              <a:defRPr sz="1800"/>
            </a:lvl1pPr>
          </a:lstStyle>
          <a:p>
            <a:r>
              <a:rPr lang="en-US" dirty="0"/>
              <a:t>chart</a:t>
            </a:r>
          </a:p>
        </p:txBody>
      </p:sp>
      <p:sp>
        <p:nvSpPr>
          <p:cNvPr id="16" name="Text Placeholder 14">
            <a:extLst>
              <a:ext uri="{FF2B5EF4-FFF2-40B4-BE49-F238E27FC236}">
                <a16:creationId xmlns:a16="http://schemas.microsoft.com/office/drawing/2014/main" id="{2437A76B-A3F1-E24A-9B72-37AC8087EC1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0" y="6534835"/>
            <a:ext cx="4460516" cy="323165"/>
          </a:xfrm>
          <a:solidFill>
            <a:schemeClr val="accent1"/>
          </a:solidFill>
        </p:spPr>
        <p:txBody>
          <a:bodyPr wrap="none" lIns="274320" tIns="64008" rIns="274320" bIns="64008"/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Insert presentation topic or department/unit name</a:t>
            </a:r>
          </a:p>
        </p:txBody>
      </p:sp>
    </p:spTree>
    <p:extLst>
      <p:ext uri="{BB962C8B-B14F-4D97-AF65-F5344CB8AC3E}">
        <p14:creationId xmlns:p14="http://schemas.microsoft.com/office/powerpoint/2010/main" val="16863952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200CC43E-DAB5-6045-A3FC-1B1B9D6DFFEB}"/>
              </a:ext>
            </a:extLst>
          </p:cNvPr>
          <p:cNvSpPr>
            <a:spLocks noGrp="1"/>
          </p:cNvSpPr>
          <p:nvPr>
            <p:ph type="tbl" sz="quarter" idx="13" hasCustomPrompt="1"/>
          </p:nvPr>
        </p:nvSpPr>
        <p:spPr>
          <a:xfrm>
            <a:off x="1524000" y="1524000"/>
            <a:ext cx="9829800" cy="341632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dirty="0"/>
              <a:t>Insert table	</a:t>
            </a:r>
          </a:p>
        </p:txBody>
      </p:sp>
      <p:sp>
        <p:nvSpPr>
          <p:cNvPr id="10" name="Text Placeholder 14">
            <a:extLst>
              <a:ext uri="{FF2B5EF4-FFF2-40B4-BE49-F238E27FC236}">
                <a16:creationId xmlns:a16="http://schemas.microsoft.com/office/drawing/2014/main" id="{A0123EED-038F-7B4A-92A4-A606571FF59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0" y="6534835"/>
            <a:ext cx="4460516" cy="323165"/>
          </a:xfrm>
          <a:solidFill>
            <a:schemeClr val="accent1"/>
          </a:solidFill>
        </p:spPr>
        <p:txBody>
          <a:bodyPr wrap="none" lIns="274320" tIns="64008" rIns="274320" bIns="64008"/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Insert presentation topic or department/unit name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B972BC0-0141-2D65-4384-82B2C1196A0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702134"/>
            <a:ext cx="10896600" cy="517065"/>
          </a:xfrm>
        </p:spPr>
        <p:txBody>
          <a:bodyPr/>
          <a:lstStyle>
            <a:lvl1pPr>
              <a:defRPr b="1" i="0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</a:lstStyle>
          <a:p>
            <a:r>
              <a:rPr lang="en-US" dirty="0"/>
              <a:t>Insert slide title</a:t>
            </a:r>
          </a:p>
        </p:txBody>
      </p:sp>
    </p:spTree>
    <p:extLst>
      <p:ext uri="{BB962C8B-B14F-4D97-AF65-F5344CB8AC3E}">
        <p14:creationId xmlns:p14="http://schemas.microsoft.com/office/powerpoint/2010/main" val="21192457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5D868577-B206-C94D-AA90-90C71CB8AC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r="4479"/>
          <a:stretch/>
        </p:blipFill>
        <p:spPr>
          <a:xfrm>
            <a:off x="0" y="0"/>
            <a:ext cx="11645900" cy="685800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5926B1D-2681-6D40-953A-D41E624A21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69900" y="1104900"/>
            <a:ext cx="10210800" cy="46482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4FC3DB9-D22E-37C1-8603-44F3A55AA5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65200" y="3125519"/>
            <a:ext cx="9080500" cy="603563"/>
          </a:xfrm>
        </p:spPr>
        <p:txBody>
          <a:bodyPr anchor="ctr" anchorCtr="0"/>
          <a:lstStyle>
            <a:lvl1pPr>
              <a:defRPr sz="4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section header slide title</a:t>
            </a:r>
          </a:p>
        </p:txBody>
      </p:sp>
    </p:spTree>
    <p:extLst>
      <p:ext uri="{BB962C8B-B14F-4D97-AF65-F5344CB8AC3E}">
        <p14:creationId xmlns:p14="http://schemas.microsoft.com/office/powerpoint/2010/main" val="28924274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="1" i="0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</a:lstStyle>
          <a:p>
            <a:r>
              <a:rPr lang="en-US" dirty="0"/>
              <a:t>Insert slide title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CB19960-C592-024C-8B94-896ABF102E5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0" y="6528435"/>
            <a:ext cx="4460516" cy="344710"/>
          </a:xfrm>
        </p:spPr>
        <p:txBody>
          <a:bodyPr wrap="none" tIns="64008" bIns="64008"/>
          <a:lstStyle/>
          <a:p>
            <a:r>
              <a:rPr lang="en-US" dirty="0"/>
              <a:t>Insert presentation topic or department/unit name</a:t>
            </a:r>
          </a:p>
        </p:txBody>
      </p:sp>
    </p:spTree>
    <p:extLst>
      <p:ext uri="{BB962C8B-B14F-4D97-AF65-F5344CB8AC3E}">
        <p14:creationId xmlns:p14="http://schemas.microsoft.com/office/powerpoint/2010/main" val="14203618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621CCA-1EB8-EE46-B4BA-5F3D9757544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0" y="6528435"/>
            <a:ext cx="4460516" cy="344710"/>
          </a:xfrm>
        </p:spPr>
        <p:txBody>
          <a:bodyPr wrap="none" tIns="64008" bIns="64008"/>
          <a:lstStyle/>
          <a:p>
            <a:r>
              <a:rPr lang="en-US" dirty="0"/>
              <a:t>Insert presentation topic or department/unit name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941FB28-7881-67A2-3E03-9832EF556D0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-213392"/>
            <a:ext cx="10896600" cy="213392"/>
          </a:xfrm>
        </p:spPr>
        <p:txBody>
          <a:bodyPr/>
          <a:lstStyle>
            <a:lvl1pPr>
              <a:defRPr sz="1200" b="0" i="0">
                <a:latin typeface="Red Hat Display" panose="02010303040201060303" pitchFamily="2" charset="0"/>
                <a:ea typeface="Red Hat Display" panose="02010303040201060303" pitchFamily="2" charset="0"/>
                <a:cs typeface="Red Hat Display" panose="02010303040201060303" pitchFamily="2" charset="0"/>
              </a:defRPr>
            </a:lvl1pPr>
          </a:lstStyle>
          <a:p>
            <a:r>
              <a:rPr lang="en-US" dirty="0"/>
              <a:t>Blank Slide</a:t>
            </a:r>
          </a:p>
        </p:txBody>
      </p:sp>
    </p:spTree>
    <p:extLst>
      <p:ext uri="{BB962C8B-B14F-4D97-AF65-F5344CB8AC3E}">
        <p14:creationId xmlns:p14="http://schemas.microsoft.com/office/powerpoint/2010/main" val="6495042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805A38DE-B4F5-9E44-95BA-B520170514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-9939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UW–Madison logo with white text on a red background">
            <a:extLst>
              <a:ext uri="{FF2B5EF4-FFF2-40B4-BE49-F238E27FC236}">
                <a16:creationId xmlns:a16="http://schemas.microsoft.com/office/drawing/2014/main" id="{FD11A7E0-5739-204C-9014-DB43944F2DC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557092" y="2911281"/>
            <a:ext cx="3077817" cy="103543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343DB41-0E0D-3DA2-7A76-C0187BC8FD0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-223331"/>
            <a:ext cx="10896600" cy="213392"/>
          </a:xfrm>
        </p:spPr>
        <p:txBody>
          <a:bodyPr/>
          <a:lstStyle>
            <a:lvl1pPr>
              <a:defRPr sz="1200" b="0" i="0">
                <a:latin typeface="Red Hat Display" panose="02010303040201060303" pitchFamily="2" charset="0"/>
                <a:ea typeface="Red Hat Display" panose="02010303040201060303" pitchFamily="2" charset="0"/>
                <a:cs typeface="Red Hat Display" panose="02010303040201060303" pitchFamily="2" charset="0"/>
              </a:defRPr>
            </a:lvl1pPr>
          </a:lstStyle>
          <a:p>
            <a:r>
              <a:rPr lang="en-US" dirty="0"/>
              <a:t>Red Closing Slide</a:t>
            </a:r>
          </a:p>
        </p:txBody>
      </p:sp>
    </p:spTree>
    <p:extLst>
      <p:ext uri="{BB962C8B-B14F-4D97-AF65-F5344CB8AC3E}">
        <p14:creationId xmlns:p14="http://schemas.microsoft.com/office/powerpoint/2010/main" val="7978358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805A38DE-B4F5-9E44-95BA-B520170514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-9939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UW–Madison logo with white text on a red background">
            <a:extLst>
              <a:ext uri="{FF2B5EF4-FFF2-40B4-BE49-F238E27FC236}">
                <a16:creationId xmlns:a16="http://schemas.microsoft.com/office/drawing/2014/main" id="{FD11A7E0-5739-204C-9014-DB43944F2DC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557092" y="2911281"/>
            <a:ext cx="3077817" cy="103543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27DB89E-70AA-E4A2-9190-47A86DFC3F8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-223331"/>
            <a:ext cx="10896600" cy="213392"/>
          </a:xfrm>
        </p:spPr>
        <p:txBody>
          <a:bodyPr/>
          <a:lstStyle>
            <a:lvl1pPr>
              <a:defRPr sz="1200" b="0" i="0">
                <a:latin typeface="Red Hat Display" panose="02010303040201060303" pitchFamily="2" charset="0"/>
                <a:ea typeface="Red Hat Display" panose="02010303040201060303" pitchFamily="2" charset="0"/>
                <a:cs typeface="Red Hat Display" panose="02010303040201060303" pitchFamily="2" charset="0"/>
              </a:defRPr>
            </a:lvl1pPr>
          </a:lstStyle>
          <a:p>
            <a:r>
              <a:rPr lang="en-US" dirty="0"/>
              <a:t>Black Closing slide</a:t>
            </a:r>
          </a:p>
        </p:txBody>
      </p:sp>
    </p:spTree>
    <p:extLst>
      <p:ext uri="{BB962C8B-B14F-4D97-AF65-F5344CB8AC3E}">
        <p14:creationId xmlns:p14="http://schemas.microsoft.com/office/powerpoint/2010/main" val="10526158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680455"/>
            <a:ext cx="10896600" cy="517065"/>
          </a:xfrm>
          <a:prstGeom prst="rect">
            <a:avLst/>
          </a:prstGeom>
        </p:spPr>
        <p:txBody>
          <a:bodyPr vert="horz" wrap="square" lIns="0" tIns="45720" rIns="91440" bIns="0" rtlCol="0" anchor="b" anchorCtr="0">
            <a:sp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24000"/>
            <a:ext cx="10896600" cy="1775358"/>
          </a:xfrm>
          <a:prstGeom prst="rect">
            <a:avLst/>
          </a:prstGeom>
        </p:spPr>
        <p:txBody>
          <a:bodyPr vert="horz" wrap="square" lIns="0" tIns="45720" rIns="91440" bIns="45720" rtlCol="0">
            <a:sp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0" y="6543580"/>
            <a:ext cx="1116106" cy="314420"/>
          </a:xfrm>
          <a:prstGeom prst="rect">
            <a:avLst/>
          </a:prstGeom>
          <a:solidFill>
            <a:schemeClr val="accent1"/>
          </a:solidFill>
        </p:spPr>
        <p:txBody>
          <a:bodyPr vert="horz" wrap="square" lIns="274320" tIns="45720" rIns="274320" bIns="45720" rtlCol="0" anchor="ctr">
            <a:spAutoFit/>
          </a:bodyPr>
          <a:lstStyle>
            <a:lvl1pPr algn="l">
              <a:defRPr sz="1400">
                <a:solidFill>
                  <a:schemeClr val="bg1"/>
                </a:solidFill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</a:lstStyle>
          <a:p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60EB5E6-54D5-9945-8BFD-BD46E27944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647553" y="0"/>
            <a:ext cx="57064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UW–Madison crest logo in red">
            <a:extLst>
              <a:ext uri="{FF2B5EF4-FFF2-40B4-BE49-F238E27FC236}">
                <a16:creationId xmlns:a16="http://schemas.microsoft.com/office/drawing/2014/main" id="{52794618-AA7B-F040-BD0B-B97556AA7FE3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11704812" y="222225"/>
            <a:ext cx="456122" cy="716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54791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75" r:id="rId3"/>
    <p:sldLayoutId id="2147483676" r:id="rId4"/>
    <p:sldLayoutId id="2147483672" r:id="rId5"/>
    <p:sldLayoutId id="2147483673" r:id="rId6"/>
    <p:sldLayoutId id="2147483663" r:id="rId7"/>
    <p:sldLayoutId id="2147483666" r:id="rId8"/>
    <p:sldLayoutId id="2147483667" r:id="rId9"/>
    <p:sldLayoutId id="2147483677" r:id="rId10"/>
    <p:sldLayoutId id="2147483678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400" b="1" i="0" kern="1200">
          <a:solidFill>
            <a:schemeClr val="tx1">
              <a:lumMod val="90000"/>
              <a:lumOff val="10000"/>
            </a:schemeClr>
          </a:solidFill>
          <a:latin typeface="Red Hat Display" panose="02010303040201060303" pitchFamily="2" charset="0"/>
          <a:ea typeface="Red Hat Display" panose="02010303040201060303" pitchFamily="2" charset="0"/>
          <a:cs typeface="Red Hat Display" panose="02010303040201060303" pitchFamily="2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600" kern="1200">
          <a:solidFill>
            <a:schemeClr val="tx1">
              <a:lumMod val="90000"/>
              <a:lumOff val="10000"/>
            </a:schemeClr>
          </a:solidFill>
          <a:latin typeface="Red Hat Text" panose="02010303040201060303" pitchFamily="2" charset="0"/>
          <a:ea typeface="Red Hat Text" panose="02010303040201060303" pitchFamily="2" charset="0"/>
          <a:cs typeface="Red Hat Text" panose="02010303040201060303" pitchFamily="2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100" kern="1200">
          <a:solidFill>
            <a:schemeClr val="tx1">
              <a:lumMod val="90000"/>
              <a:lumOff val="10000"/>
            </a:schemeClr>
          </a:solidFill>
          <a:latin typeface="Red Hat Text" panose="02010303040201060303" pitchFamily="2" charset="0"/>
          <a:ea typeface="Red Hat Text" panose="02010303040201060303" pitchFamily="2" charset="0"/>
          <a:cs typeface="Red Hat Text" panose="02010303040201060303" pitchFamily="2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>
              <a:lumMod val="90000"/>
              <a:lumOff val="10000"/>
            </a:schemeClr>
          </a:solidFill>
          <a:latin typeface="Red Hat Text" panose="02010303040201060303" pitchFamily="2" charset="0"/>
          <a:ea typeface="Red Hat Text" panose="02010303040201060303" pitchFamily="2" charset="0"/>
          <a:cs typeface="Red Hat Text" panose="02010303040201060303" pitchFamily="2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90000"/>
              <a:lumOff val="10000"/>
            </a:schemeClr>
          </a:solidFill>
          <a:latin typeface="Red Hat Text" panose="02010303040201060303" pitchFamily="2" charset="0"/>
          <a:ea typeface="Red Hat Text" panose="02010303040201060303" pitchFamily="2" charset="0"/>
          <a:cs typeface="Red Hat Text" panose="02010303040201060303" pitchFamily="2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90000"/>
              <a:lumOff val="10000"/>
            </a:schemeClr>
          </a:solidFill>
          <a:latin typeface="Red Hat Text" panose="02010303040201060303" pitchFamily="2" charset="0"/>
          <a:ea typeface="Red Hat Text" panose="02010303040201060303" pitchFamily="2" charset="0"/>
          <a:cs typeface="Red Hat Text" panose="02010303040201060303" pitchFamily="2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72" userDrawn="1">
          <p15:clr>
            <a:srgbClr val="F26B43"/>
          </p15:clr>
        </p15:guide>
        <p15:guide id="2" pos="72" userDrawn="1">
          <p15:clr>
            <a:srgbClr val="F26B43"/>
          </p15:clr>
        </p15:guide>
        <p15:guide id="3" pos="7608" userDrawn="1">
          <p15:clr>
            <a:srgbClr val="F26B43"/>
          </p15:clr>
        </p15:guide>
        <p15:guide id="4" orient="horz" pos="4248" userDrawn="1">
          <p15:clr>
            <a:srgbClr val="F26B43"/>
          </p15:clr>
        </p15:guide>
        <p15:guide id="5" pos="288" userDrawn="1">
          <p15:clr>
            <a:srgbClr val="F26B43"/>
          </p15:clr>
        </p15:guide>
        <p15:guide id="6" orient="horz" pos="768" userDrawn="1">
          <p15:clr>
            <a:srgbClr val="F26B43"/>
          </p15:clr>
        </p15:guide>
        <p15:guide id="7" orient="horz" pos="960" userDrawn="1">
          <p15:clr>
            <a:srgbClr val="F26B43"/>
          </p15:clr>
        </p15:guide>
        <p15:guide id="8" orient="horz" pos="1152" userDrawn="1">
          <p15:clr>
            <a:srgbClr val="F26B43"/>
          </p15:clr>
        </p15:guide>
        <p15:guide id="9" orient="horz" pos="3888" userDrawn="1">
          <p15:clr>
            <a:srgbClr val="F26B43"/>
          </p15:clr>
        </p15:guide>
        <p15:guide id="10" pos="96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Relationship Id="rId9" Type="http://schemas.openxmlformats.org/officeDocument/2006/relationships/image" Target="../media/image14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10" Type="http://schemas.openxmlformats.org/officeDocument/2006/relationships/image" Target="../media/image22.png"/><Relationship Id="rId4" Type="http://schemas.openxmlformats.org/officeDocument/2006/relationships/image" Target="../media/image16.png"/><Relationship Id="rId9" Type="http://schemas.openxmlformats.org/officeDocument/2006/relationships/image" Target="../media/image2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7" Type="http://schemas.openxmlformats.org/officeDocument/2006/relationships/image" Target="../media/image3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9EACD601-E669-A4D5-E968-7C550AE9F6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9" y="2399916"/>
            <a:ext cx="7530353" cy="627864"/>
          </a:xfrm>
        </p:spPr>
        <p:txBody>
          <a:bodyPr/>
          <a:lstStyle/>
          <a:p>
            <a:r>
              <a:rPr lang="en-US" dirty="0"/>
              <a:t>Week 6 Updates Shapiro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8AF5AA5-6B7D-494F-9865-F7AB9EBC7A3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By Evan Johns </a:t>
            </a:r>
          </a:p>
        </p:txBody>
      </p:sp>
    </p:spTree>
    <p:extLst>
      <p:ext uri="{BB962C8B-B14F-4D97-AF65-F5344CB8AC3E}">
        <p14:creationId xmlns:p14="http://schemas.microsoft.com/office/powerpoint/2010/main" val="35413896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E6B03B-F4E6-6BB1-9BB8-395673A572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B2032591-2CD9-C506-8B34-17CA655504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 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A8C291C-9AF7-6C0C-EE6B-D51DB6C263F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847F83F0-282B-047D-9EFA-2A5B6F7E9638}"/>
              </a:ext>
            </a:extLst>
          </p:cNvPr>
          <p:cNvSpPr/>
          <p:nvPr/>
        </p:nvSpPr>
        <p:spPr>
          <a:xfrm>
            <a:off x="300067" y="1643818"/>
            <a:ext cx="6767611" cy="393087"/>
          </a:xfrm>
          <a:prstGeom prst="roundRect">
            <a:avLst/>
          </a:prstGeom>
          <a:solidFill>
            <a:srgbClr val="EE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BF0CBFA8-FD82-F1A9-154F-61C124EE6760}"/>
              </a:ext>
            </a:extLst>
          </p:cNvPr>
          <p:cNvSpPr txBox="1">
            <a:spLocks/>
          </p:cNvSpPr>
          <p:nvPr/>
        </p:nvSpPr>
        <p:spPr>
          <a:xfrm>
            <a:off x="490045" y="1641716"/>
            <a:ext cx="10830910" cy="5112169"/>
          </a:xfrm>
          <a:prstGeom prst="rect">
            <a:avLst/>
          </a:prstGeom>
        </p:spPr>
        <p:txBody>
          <a:bodyPr vert="horz" wrap="square" lIns="0" tIns="45720" rIns="91440" bIns="45720" rtlCol="0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600" kern="1200">
                <a:solidFill>
                  <a:schemeClr val="tx1">
                    <a:lumMod val="90000"/>
                    <a:lumOff val="10000"/>
                  </a:schemeClr>
                </a:solidFill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>
                    <a:lumMod val="90000"/>
                    <a:lumOff val="10000"/>
                  </a:schemeClr>
                </a:solidFill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>
                    <a:lumMod val="90000"/>
                    <a:lumOff val="10000"/>
                  </a:schemeClr>
                </a:solidFill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90000"/>
                    <a:lumOff val="10000"/>
                  </a:schemeClr>
                </a:solidFill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90000"/>
                    <a:lumOff val="10000"/>
                  </a:schemeClr>
                </a:solidFill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Font typeface="+mj-lt"/>
              <a:buAutoNum type="arabicPeriod"/>
            </a:pPr>
            <a:r>
              <a:rPr lang="en-US" dirty="0"/>
              <a:t>Week 5 Review</a:t>
            </a:r>
          </a:p>
          <a:p>
            <a:pPr marL="971550" lvl="1" indent="-514350">
              <a:buFont typeface="+mj-lt"/>
              <a:buAutoNum type="alphaLcParenR"/>
            </a:pPr>
            <a:r>
              <a:rPr lang="en-US" dirty="0"/>
              <a:t>Radial distance decisions</a:t>
            </a:r>
          </a:p>
          <a:p>
            <a:pPr marL="971550" lvl="1" indent="-514350">
              <a:buFont typeface="+mj-lt"/>
              <a:buAutoNum type="alphaLcParenR"/>
            </a:pPr>
            <a:r>
              <a:rPr lang="en-US" dirty="0"/>
              <a:t>Delta matrix calculations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Box Plots of cells Neutrophil neighborhood</a:t>
            </a:r>
          </a:p>
          <a:p>
            <a:pPr marL="971550" lvl="1" indent="-514350">
              <a:buFont typeface="+mj-lt"/>
              <a:buAutoNum type="alphaLcParenR"/>
            </a:pPr>
            <a:r>
              <a:rPr lang="en-US" dirty="0"/>
              <a:t>Neighborhood Plot</a:t>
            </a:r>
          </a:p>
          <a:p>
            <a:pPr marL="971550" lvl="1" indent="-514350">
              <a:buFont typeface="+mj-lt"/>
              <a:buAutoNum type="alphaLcParenR"/>
            </a:pPr>
            <a:r>
              <a:rPr lang="en-US" dirty="0"/>
              <a:t>Delta Neighborhood Plot</a:t>
            </a:r>
          </a:p>
          <a:p>
            <a:pPr marL="971550" lvl="1" indent="-514350">
              <a:buFont typeface="+mj-lt"/>
              <a:buAutoNum type="alphaLcParenR"/>
            </a:pPr>
            <a:r>
              <a:rPr lang="en-US" dirty="0"/>
              <a:t>Statistical Significance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Neutrophil Distance Calculations</a:t>
            </a:r>
          </a:p>
          <a:p>
            <a:pPr marL="971550" lvl="1" indent="-514350">
              <a:buFont typeface="+mj-lt"/>
              <a:buAutoNum type="alphaLcParenR"/>
            </a:pPr>
            <a:r>
              <a:rPr lang="en-US" dirty="0"/>
              <a:t>Methodology</a:t>
            </a:r>
          </a:p>
          <a:p>
            <a:pPr marL="971550" lvl="1" indent="-514350">
              <a:buFont typeface="+mj-lt"/>
              <a:buAutoNum type="alphaLcParenR"/>
            </a:pPr>
            <a:r>
              <a:rPr lang="en-US" dirty="0"/>
              <a:t>Results</a:t>
            </a:r>
          </a:p>
          <a:p>
            <a:pPr marL="457200" lvl="1" indent="0">
              <a:buFont typeface="Arial" panose="020B0604020202020204" pitchFamily="34" charset="0"/>
              <a:buNone/>
            </a:pPr>
            <a:r>
              <a:rPr lang="en-US" dirty="0"/>
              <a:t> </a:t>
            </a:r>
          </a:p>
          <a:p>
            <a:pPr marL="971550" lvl="1" indent="-514350">
              <a:buFont typeface="+mj-lt"/>
              <a:buAutoNum type="alphaLcParenR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278687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DF2CA0-7C4B-7266-68A7-AF30FFEA91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C662B5F0-A2C9-B929-981B-53B5DF9B8A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02134"/>
            <a:ext cx="8674188" cy="517065"/>
          </a:xfrm>
        </p:spPr>
        <p:txBody>
          <a:bodyPr/>
          <a:lstStyle/>
          <a:p>
            <a:r>
              <a:rPr lang="en-US" dirty="0"/>
              <a:t>Radial Distance – Example Methodology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EDBCD3-8905-834B-4852-0385E6D940A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7" name="AutoShape 16" descr="T Cell PNG Images - CleanPNG">
            <a:extLst>
              <a:ext uri="{FF2B5EF4-FFF2-40B4-BE49-F238E27FC236}">
                <a16:creationId xmlns:a16="http://schemas.microsoft.com/office/drawing/2014/main" id="{09881E78-495E-EBD1-8C58-2E5A5BE870C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119810" y="2543671"/>
            <a:ext cx="2738996" cy="27389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6545F3DB-E0A1-88C2-FB80-A987917C9F11}"/>
              </a:ext>
            </a:extLst>
          </p:cNvPr>
          <p:cNvSpPr/>
          <p:nvPr/>
        </p:nvSpPr>
        <p:spPr>
          <a:xfrm>
            <a:off x="1534392" y="1916730"/>
            <a:ext cx="4109543" cy="3834398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2" descr="Neutrophil granulocyte - Servier Medical Art">
            <a:extLst>
              <a:ext uri="{FF2B5EF4-FFF2-40B4-BE49-F238E27FC236}">
                <a16:creationId xmlns:a16="http://schemas.microsoft.com/office/drawing/2014/main" id="{06800C16-6DE4-7655-1CEC-8B974CAB99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27230" y="3430147"/>
            <a:ext cx="653464" cy="6660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38" descr="Generated image">
            <a:extLst>
              <a:ext uri="{FF2B5EF4-FFF2-40B4-BE49-F238E27FC236}">
                <a16:creationId xmlns:a16="http://schemas.microsoft.com/office/drawing/2014/main" id="{3F70CFFB-F63B-FC16-2F42-C4D43E0A967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66" t="2443" r="9834" b="27759"/>
          <a:stretch>
            <a:fillRect/>
          </a:stretch>
        </p:blipFill>
        <p:spPr bwMode="auto">
          <a:xfrm>
            <a:off x="2141587" y="4160137"/>
            <a:ext cx="885047" cy="8075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ECE23C19-C638-14E9-F4D6-0D421C0645C9}"/>
              </a:ext>
            </a:extLst>
          </p:cNvPr>
          <p:cNvSpPr/>
          <p:nvPr/>
        </p:nvSpPr>
        <p:spPr>
          <a:xfrm>
            <a:off x="501298" y="4327659"/>
            <a:ext cx="1261920" cy="25306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CD8+ T-Cell</a:t>
            </a:r>
          </a:p>
        </p:txBody>
      </p:sp>
      <p:pic>
        <p:nvPicPr>
          <p:cNvPr id="14" name="Picture 34" descr="Cancer cell - Free healthcare and medical icons">
            <a:extLst>
              <a:ext uri="{FF2B5EF4-FFF2-40B4-BE49-F238E27FC236}">
                <a16:creationId xmlns:a16="http://schemas.microsoft.com/office/drawing/2014/main" id="{6976E069-AA8F-14A4-E3D3-258EDB4276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4233381" y="4147170"/>
            <a:ext cx="792042" cy="7920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14" descr="Neutrophil granulocyte - Servier Medical Art">
            <a:extLst>
              <a:ext uri="{FF2B5EF4-FFF2-40B4-BE49-F238E27FC236}">
                <a16:creationId xmlns:a16="http://schemas.microsoft.com/office/drawing/2014/main" id="{2B37EFA6-E25C-25FA-5211-A51D0A771B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81960" y="5019574"/>
            <a:ext cx="653464" cy="6660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4E8610B2-CB07-012B-BE6B-66C571DD783E}"/>
              </a:ext>
            </a:extLst>
          </p:cNvPr>
          <p:cNvSpPr/>
          <p:nvPr/>
        </p:nvSpPr>
        <p:spPr>
          <a:xfrm>
            <a:off x="5239033" y="4454194"/>
            <a:ext cx="1318709" cy="21940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Tumor Cell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DF29F08-C34A-BF23-749A-4AE2B55BE5EB}"/>
              </a:ext>
            </a:extLst>
          </p:cNvPr>
          <p:cNvSpPr/>
          <p:nvPr/>
        </p:nvSpPr>
        <p:spPr>
          <a:xfrm>
            <a:off x="3227230" y="3108740"/>
            <a:ext cx="659355" cy="21940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PMN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CE6FC2E-BE5F-893F-FE98-43F418836409}"/>
              </a:ext>
            </a:extLst>
          </p:cNvPr>
          <p:cNvSpPr/>
          <p:nvPr/>
        </p:nvSpPr>
        <p:spPr>
          <a:xfrm>
            <a:off x="3227230" y="5771955"/>
            <a:ext cx="659355" cy="21940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PMN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81A70A0A-FA15-E93A-1285-077C56A2CCF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01678" y="3955007"/>
            <a:ext cx="3045093" cy="2579048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C0D13CF6-2C05-53A1-FF1B-2B3B32F0AACC}"/>
              </a:ext>
            </a:extLst>
          </p:cNvPr>
          <p:cNvSpPr txBox="1"/>
          <p:nvPr/>
        </p:nvSpPr>
        <p:spPr>
          <a:xfrm>
            <a:off x="6557742" y="1636367"/>
            <a:ext cx="4546776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Note that PMN cells do not count themselves in this relationship to prevent double counting.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Everything in radius is counted equally.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15 µm is the most common value used in literature.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D17C9313-CEB5-C520-D57F-59A0759A5E8B}"/>
              </a:ext>
            </a:extLst>
          </p:cNvPr>
          <p:cNvCxnSpPr>
            <a:cxnSpLocks/>
            <a:endCxn id="9" idx="6"/>
          </p:cNvCxnSpPr>
          <p:nvPr/>
        </p:nvCxnSpPr>
        <p:spPr>
          <a:xfrm>
            <a:off x="3600844" y="3833929"/>
            <a:ext cx="204309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8FA81F9-F0A5-8B1B-1683-388FD4ECB5D5}"/>
              </a:ext>
            </a:extLst>
          </p:cNvPr>
          <p:cNvSpPr/>
          <p:nvPr/>
        </p:nvSpPr>
        <p:spPr>
          <a:xfrm>
            <a:off x="4288221" y="3556701"/>
            <a:ext cx="950812" cy="16394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15 µm</a:t>
            </a:r>
          </a:p>
        </p:txBody>
      </p:sp>
    </p:spTree>
    <p:extLst>
      <p:ext uri="{BB962C8B-B14F-4D97-AF65-F5344CB8AC3E}">
        <p14:creationId xmlns:p14="http://schemas.microsoft.com/office/powerpoint/2010/main" val="1310045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23BC14-5B7F-B4A6-2480-584307F351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3D9BEE7C-B1F1-1010-A030-D1EF96AF49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38533"/>
            <a:ext cx="10896600" cy="517065"/>
          </a:xfrm>
        </p:spPr>
        <p:txBody>
          <a:bodyPr/>
          <a:lstStyle/>
          <a:p>
            <a:r>
              <a:rPr lang="en-US" dirty="0"/>
              <a:t>Choosing Radial Distances </a:t>
            </a: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BDB565C1-5D73-F0EB-0380-29BDDA85225E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3"/>
          <a:stretch>
            <a:fillRect/>
          </a:stretch>
        </p:blipFill>
        <p:spPr>
          <a:xfrm>
            <a:off x="8954855" y="1311459"/>
            <a:ext cx="2691849" cy="2381251"/>
          </a:xfr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7663899-ED39-3A6F-78C2-F590805468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7711" y="1317994"/>
            <a:ext cx="2691849" cy="237500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C4AFE26-B745-D462-1AEE-7917DB38BF1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38036" y="1311460"/>
            <a:ext cx="2691849" cy="236999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7341CE9-0AAB-EEC0-CA71-92EBF017BC3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88237" y="4037318"/>
            <a:ext cx="2850774" cy="252778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2F201401-EDF0-5D1F-7879-69C8EECDAA1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03993" y="4037318"/>
            <a:ext cx="2815473" cy="252778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881B5B2D-4FF3-CC12-A04B-63F42CA1B3A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91660" y="4037318"/>
            <a:ext cx="2833370" cy="2555861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35CDC036-5868-20D4-5DE8-A1237FE273A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830" y="1311460"/>
            <a:ext cx="2710515" cy="238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42818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C96474-1B71-EC40-CE54-BDBD96095A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675E11AE-7D23-9AC0-C9E7-DCB4A4F865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Choosing Radial Distances - Entire Dataset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8E5EE72-9724-7B3C-FB5D-E5411C0E1D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2203" y="1683759"/>
            <a:ext cx="2258805" cy="206153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5AC36E3-01C9-3D98-5B77-01F0212091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9899" y="1683759"/>
            <a:ext cx="2204019" cy="2099066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04DE9D3E-DB56-A4F7-1EB2-6E47A5DBF03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3994" y="3968326"/>
            <a:ext cx="2204020" cy="2315381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65FD5A46-7840-3C13-22F0-236A1CDD850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54608" y="3968326"/>
            <a:ext cx="2404439" cy="2232525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DB06CB67-3F65-9B88-7661-81677824F19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16642" y="1683759"/>
            <a:ext cx="2426986" cy="2215125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5357409B-1FEA-7954-FA0F-4E679C4647A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16642" y="3968326"/>
            <a:ext cx="2448801" cy="2238228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156CC316-7FE6-3C8C-CEC6-7ECCFDC913F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057614" y="1683759"/>
            <a:ext cx="2426986" cy="2235755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EA71935C-9DCB-2179-CBAD-9F90A9837F9E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02904" y="3979593"/>
            <a:ext cx="2416408" cy="2232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33133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DFFED1-4F3E-F8CC-25A3-3B68E9F8AF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8017F4AE-3D1C-60FB-4AFA-302391AFB6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Delta Cell Interaction Percentages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7E7D7EB-A8D6-7ECC-0A44-8F2D19F54B5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0" y="6534055"/>
            <a:ext cx="4294527" cy="32316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C2156BEA-CDFB-AFF4-05C2-45CE490DBAAE}"/>
              </a:ext>
            </a:extLst>
          </p:cNvPr>
          <p:cNvSpPr/>
          <p:nvPr/>
        </p:nvSpPr>
        <p:spPr>
          <a:xfrm>
            <a:off x="393285" y="2071719"/>
            <a:ext cx="3049051" cy="35314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Neighboring Cells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74B25B2-4820-F7F5-F320-A93BC56F49A5}"/>
              </a:ext>
            </a:extLst>
          </p:cNvPr>
          <p:cNvSpPr/>
          <p:nvPr/>
        </p:nvSpPr>
        <p:spPr>
          <a:xfrm>
            <a:off x="4682556" y="2071719"/>
            <a:ext cx="3219121" cy="35314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Overall Sample Frequency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1C2C404-8ACC-B191-41CA-A27C8FCC1693}"/>
              </a:ext>
            </a:extLst>
          </p:cNvPr>
          <p:cNvSpPr/>
          <p:nvPr/>
        </p:nvSpPr>
        <p:spPr>
          <a:xfrm>
            <a:off x="3840479" y="2117981"/>
            <a:ext cx="384679" cy="26183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-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7BF3D68-B4FB-8285-B420-1EBBFF675BDA}"/>
              </a:ext>
            </a:extLst>
          </p:cNvPr>
          <p:cNvSpPr/>
          <p:nvPr/>
        </p:nvSpPr>
        <p:spPr>
          <a:xfrm>
            <a:off x="8166735" y="2105515"/>
            <a:ext cx="384679" cy="26183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=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0E27B0E-E635-F4C9-1C05-A322595C3FED}"/>
              </a:ext>
            </a:extLst>
          </p:cNvPr>
          <p:cNvSpPr/>
          <p:nvPr/>
        </p:nvSpPr>
        <p:spPr>
          <a:xfrm>
            <a:off x="8949557" y="2071719"/>
            <a:ext cx="2237654" cy="308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Delta Matrix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FAD229C0-7859-1515-35AD-E8CBC6A7698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436"/>
          <a:stretch>
            <a:fillRect/>
          </a:stretch>
        </p:blipFill>
        <p:spPr>
          <a:xfrm>
            <a:off x="4294527" y="2735966"/>
            <a:ext cx="4377989" cy="4043206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6DF9AEC9-EA93-02CA-74D1-F58317DFFC8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8268" y="2524788"/>
            <a:ext cx="3663562" cy="3273732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11A253B1-55D8-EEAE-6BC5-2C2587A8A735}"/>
              </a:ext>
            </a:extLst>
          </p:cNvPr>
          <p:cNvSpPr txBox="1"/>
          <p:nvPr/>
        </p:nvSpPr>
        <p:spPr>
          <a:xfrm>
            <a:off x="8769350" y="3072516"/>
            <a:ext cx="280034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PMN = 24.9 – 0.96 =24.16%</a:t>
            </a:r>
          </a:p>
          <a:p>
            <a:r>
              <a:rPr lang="en-US" dirty="0"/>
              <a:t>Tumor=-19.4%</a:t>
            </a:r>
          </a:p>
          <a:p>
            <a:r>
              <a:rPr lang="en-US" dirty="0"/>
              <a:t>Endo= - 8.1%</a:t>
            </a:r>
          </a:p>
          <a:p>
            <a:r>
              <a:rPr lang="en-US" dirty="0" err="1"/>
              <a:t>Etc</a:t>
            </a:r>
            <a:r>
              <a:rPr lang="en-US" dirty="0"/>
              <a:t>…..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BAB72F9D-4869-90B0-9AA1-3E5F25307E3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89974" y="6557602"/>
            <a:ext cx="4207225" cy="2215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31045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DE23CA-85EF-BC04-F529-B7581D9C7E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79BF92DD-85BE-8C65-D3BA-977B4E2375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 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16840B5-29E4-F805-E460-751273282B1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7CF5F0DA-F0D0-8D32-36DC-ECBF7C9B1010}"/>
              </a:ext>
            </a:extLst>
          </p:cNvPr>
          <p:cNvSpPr/>
          <p:nvPr/>
        </p:nvSpPr>
        <p:spPr>
          <a:xfrm>
            <a:off x="300068" y="2838607"/>
            <a:ext cx="6835929" cy="393087"/>
          </a:xfrm>
          <a:prstGeom prst="roundRect">
            <a:avLst/>
          </a:prstGeom>
          <a:solidFill>
            <a:srgbClr val="EE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E8EFB08C-46D5-5D67-34A8-B7295BF490FE}"/>
              </a:ext>
            </a:extLst>
          </p:cNvPr>
          <p:cNvSpPr txBox="1">
            <a:spLocks/>
          </p:cNvSpPr>
          <p:nvPr/>
        </p:nvSpPr>
        <p:spPr>
          <a:xfrm>
            <a:off x="490045" y="1641716"/>
            <a:ext cx="10830910" cy="5112169"/>
          </a:xfrm>
          <a:prstGeom prst="rect">
            <a:avLst/>
          </a:prstGeom>
        </p:spPr>
        <p:txBody>
          <a:bodyPr vert="horz" wrap="square" lIns="0" tIns="45720" rIns="91440" bIns="45720" rtlCol="0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600" kern="1200">
                <a:solidFill>
                  <a:schemeClr val="tx1">
                    <a:lumMod val="90000"/>
                    <a:lumOff val="10000"/>
                  </a:schemeClr>
                </a:solidFill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>
                    <a:lumMod val="90000"/>
                    <a:lumOff val="10000"/>
                  </a:schemeClr>
                </a:solidFill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>
                    <a:lumMod val="90000"/>
                    <a:lumOff val="10000"/>
                  </a:schemeClr>
                </a:solidFill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90000"/>
                    <a:lumOff val="10000"/>
                  </a:schemeClr>
                </a:solidFill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90000"/>
                    <a:lumOff val="10000"/>
                  </a:schemeClr>
                </a:solidFill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Font typeface="+mj-lt"/>
              <a:buAutoNum type="arabicPeriod"/>
            </a:pPr>
            <a:r>
              <a:rPr lang="en-US" dirty="0"/>
              <a:t>Week 5 Review</a:t>
            </a:r>
          </a:p>
          <a:p>
            <a:pPr marL="971550" lvl="1" indent="-514350">
              <a:buFont typeface="+mj-lt"/>
              <a:buAutoNum type="alphaLcParenR"/>
            </a:pPr>
            <a:r>
              <a:rPr lang="en-US" dirty="0"/>
              <a:t>Radial distance decisions</a:t>
            </a:r>
          </a:p>
          <a:p>
            <a:pPr marL="971550" lvl="1" indent="-514350">
              <a:buFont typeface="+mj-lt"/>
              <a:buAutoNum type="alphaLcParenR"/>
            </a:pPr>
            <a:r>
              <a:rPr lang="en-US" dirty="0"/>
              <a:t>Delta matrix calculations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Box Plots of cells Neutrophil neighborhood</a:t>
            </a:r>
          </a:p>
          <a:p>
            <a:pPr marL="971550" lvl="1" indent="-514350">
              <a:buFont typeface="+mj-lt"/>
              <a:buAutoNum type="alphaLcParenR"/>
            </a:pPr>
            <a:r>
              <a:rPr lang="en-US" dirty="0"/>
              <a:t>Neighborhood Plot</a:t>
            </a:r>
          </a:p>
          <a:p>
            <a:pPr marL="971550" lvl="1" indent="-514350">
              <a:buFont typeface="+mj-lt"/>
              <a:buAutoNum type="alphaLcParenR"/>
            </a:pPr>
            <a:r>
              <a:rPr lang="en-US" dirty="0"/>
              <a:t>Delta Neighborhood Plot</a:t>
            </a:r>
          </a:p>
          <a:p>
            <a:pPr marL="971550" lvl="1" indent="-514350">
              <a:buFont typeface="+mj-lt"/>
              <a:buAutoNum type="alphaLcParenR"/>
            </a:pPr>
            <a:r>
              <a:rPr lang="en-US" dirty="0"/>
              <a:t>Statistical Significance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Neutrophil Distance Calculations</a:t>
            </a:r>
          </a:p>
          <a:p>
            <a:pPr marL="971550" lvl="1" indent="-514350">
              <a:buFont typeface="+mj-lt"/>
              <a:buAutoNum type="alphaLcParenR"/>
            </a:pPr>
            <a:r>
              <a:rPr lang="en-US" dirty="0"/>
              <a:t>Methodology</a:t>
            </a:r>
          </a:p>
          <a:p>
            <a:pPr marL="971550" lvl="1" indent="-514350">
              <a:buFont typeface="+mj-lt"/>
              <a:buAutoNum type="alphaLcParenR"/>
            </a:pPr>
            <a:r>
              <a:rPr lang="en-US" dirty="0"/>
              <a:t>Results</a:t>
            </a:r>
          </a:p>
          <a:p>
            <a:pPr marL="457200" lvl="1" indent="0">
              <a:buFont typeface="Arial" panose="020B0604020202020204" pitchFamily="34" charset="0"/>
              <a:buNone/>
            </a:pPr>
            <a:r>
              <a:rPr lang="en-US" dirty="0"/>
              <a:t> </a:t>
            </a:r>
          </a:p>
          <a:p>
            <a:pPr marL="971550" lvl="1" indent="-514350">
              <a:buFont typeface="+mj-lt"/>
              <a:buAutoNum type="alphaLcParenR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927405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274C1E-7DD1-26CA-C70E-04C2D40084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07C3E36F-F7C6-14B5-5C7B-2B6A63A741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85069"/>
            <a:ext cx="10896600" cy="517065"/>
          </a:xfrm>
        </p:spPr>
        <p:txBody>
          <a:bodyPr/>
          <a:lstStyle/>
          <a:p>
            <a:r>
              <a:rPr lang="en-US" dirty="0"/>
              <a:t>Box Plot of Cellular Neighborhood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28A4331-9CD4-AFE9-735F-4BEB910DBD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1139" y="702134"/>
            <a:ext cx="10634995" cy="6020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48089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5A4B6E-8BA6-46A3-239C-17B8FDDCD5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75FF4C5-250B-7C00-62A4-D997A1F3B2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85069"/>
            <a:ext cx="10896600" cy="517065"/>
          </a:xfrm>
        </p:spPr>
        <p:txBody>
          <a:bodyPr/>
          <a:lstStyle/>
          <a:p>
            <a:r>
              <a:rPr lang="en-US" dirty="0"/>
              <a:t>Box Plot of Delta Cellular Neighborhood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FF35213-BF2A-164E-350E-0E0B80402F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02134"/>
            <a:ext cx="10400803" cy="58734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912987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05AD96-D9E2-39D4-FD5C-4618B49058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32291"/>
            <a:ext cx="10896600" cy="517065"/>
          </a:xfrm>
        </p:spPr>
        <p:txBody>
          <a:bodyPr/>
          <a:lstStyle/>
          <a:p>
            <a:r>
              <a:rPr lang="en-US" dirty="0"/>
              <a:t>Statistical Significance (Two Tailed T Test)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A1DF298-DCF6-4A14-FE15-75334416B1CA}"/>
              </a:ext>
            </a:extLst>
          </p:cNvPr>
          <p:cNvSpPr/>
          <p:nvPr/>
        </p:nvSpPr>
        <p:spPr>
          <a:xfrm>
            <a:off x="6968359" y="1147773"/>
            <a:ext cx="2844098" cy="5170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Delta with overall frequency Matrix R vs NR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47E3CB4-4A6F-AD54-AD37-666CDB652D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19256" y="1950820"/>
            <a:ext cx="2850252" cy="4205046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E21B0A48-E204-3EA5-AAB3-B4186851D0CD}"/>
              </a:ext>
            </a:extLst>
          </p:cNvPr>
          <p:cNvSpPr/>
          <p:nvPr/>
        </p:nvSpPr>
        <p:spPr>
          <a:xfrm>
            <a:off x="2096729" y="1350651"/>
            <a:ext cx="2475271" cy="5170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Cellular Frequency Matrix R vs NR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AD6A659-AC2B-9F9E-13E9-DA64CE7F35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9236" y="1867716"/>
            <a:ext cx="2903221" cy="4351021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2F5AFF74-B782-44C8-148F-B56F37189B80}"/>
              </a:ext>
            </a:extLst>
          </p:cNvPr>
          <p:cNvSpPr/>
          <p:nvPr/>
        </p:nvSpPr>
        <p:spPr>
          <a:xfrm>
            <a:off x="6968359" y="5590409"/>
            <a:ext cx="2844098" cy="239636"/>
          </a:xfrm>
          <a:prstGeom prst="rect">
            <a:avLst/>
          </a:prstGeom>
          <a:noFill/>
          <a:ln>
            <a:solidFill>
              <a:srgbClr val="EE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35CCA53-20FE-5678-BEB1-DF9559C1A5A5}"/>
              </a:ext>
            </a:extLst>
          </p:cNvPr>
          <p:cNvSpPr/>
          <p:nvPr/>
        </p:nvSpPr>
        <p:spPr>
          <a:xfrm>
            <a:off x="6968359" y="2822027"/>
            <a:ext cx="2844098" cy="239636"/>
          </a:xfrm>
          <a:prstGeom prst="rect">
            <a:avLst/>
          </a:prstGeom>
          <a:noFill/>
          <a:ln>
            <a:solidFill>
              <a:srgbClr val="EE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452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896C07-D417-68FE-784D-A649565F3A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20AAC-4A15-7588-5A50-D1C66185CB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2263" y="290872"/>
            <a:ext cx="11707474" cy="517065"/>
          </a:xfrm>
        </p:spPr>
        <p:txBody>
          <a:bodyPr/>
          <a:lstStyle/>
          <a:p>
            <a:r>
              <a:rPr lang="en-US" dirty="0"/>
              <a:t>Select Box Plot Neighborhood Delta (Radius = 15 µm)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92F2F9A-3061-59E1-9B96-30DE90CF1D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837240"/>
            <a:ext cx="10598547" cy="429124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7706B1C-EE8F-2D9E-AB60-2EF6A1273806}"/>
              </a:ext>
            </a:extLst>
          </p:cNvPr>
          <p:cNvSpPr txBox="1"/>
          <p:nvPr/>
        </p:nvSpPr>
        <p:spPr>
          <a:xfrm>
            <a:off x="744133" y="4741580"/>
            <a:ext cx="10598546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Takeaways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Non-Responders have fewer CD8 T-cells than responders but are significantly more likely to interact with neutrophils relative to their frequency. (p=0.036) at 15-micron radius.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Non-Responder neutrophils are also significantly more likely to interact with Treg cells than their frequency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No notable difference of neutrophil interaction with CD4 and DCs between NR and R groups.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Note: DCs and </a:t>
            </a:r>
            <a:r>
              <a:rPr lang="en-US" dirty="0" err="1"/>
              <a:t>B_cells</a:t>
            </a:r>
            <a:r>
              <a:rPr lang="en-US" dirty="0"/>
              <a:t> are more common in responders but don’t interact with </a:t>
            </a:r>
            <a:r>
              <a:rPr lang="en-US" dirty="0" err="1"/>
              <a:t>pmns</a:t>
            </a:r>
            <a:r>
              <a:rPr lang="en-US" dirty="0"/>
              <a:t> more than responders. </a:t>
            </a:r>
          </a:p>
        </p:txBody>
      </p:sp>
    </p:spTree>
    <p:extLst>
      <p:ext uri="{BB962C8B-B14F-4D97-AF65-F5344CB8AC3E}">
        <p14:creationId xmlns:p14="http://schemas.microsoft.com/office/powerpoint/2010/main" val="21893687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09A1D2-818D-DB90-432B-A8CA5418CF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6C9ADD-BD3B-2645-51DC-4F1EBC3566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2263" y="290872"/>
            <a:ext cx="11707474" cy="517065"/>
          </a:xfrm>
        </p:spPr>
        <p:txBody>
          <a:bodyPr/>
          <a:lstStyle/>
          <a:p>
            <a:r>
              <a:rPr lang="en-US" dirty="0"/>
              <a:t>Select Box Plot Neighborhood Delta (Radius = 15 µm)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3178701-B4B8-E710-8DAB-F9310FDFABB2}"/>
              </a:ext>
            </a:extLst>
          </p:cNvPr>
          <p:cNvSpPr txBox="1"/>
          <p:nvPr/>
        </p:nvSpPr>
        <p:spPr>
          <a:xfrm>
            <a:off x="668458" y="4880317"/>
            <a:ext cx="945931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Takeaways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Higher variation in neutrophil and tumor cells interactions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Responders have higher neutrophil tumor interactions relative to overall frequency. Data is not significant (p=0.13) at 15-micron radius.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Neutrophils clustering is slightly more common in non-responders, but variation is high (p=0.63) at 15-micron radius.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F305212-3F9B-EE73-CB02-EF81EDB775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6037" y="984405"/>
            <a:ext cx="8484805" cy="3895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36207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239934-7DAA-A7BC-A33C-F716860A3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E6DFA1-B69F-64C4-BC23-CCDD1DF35B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32291"/>
            <a:ext cx="10896600" cy="517065"/>
          </a:xfrm>
        </p:spPr>
        <p:txBody>
          <a:bodyPr/>
          <a:lstStyle/>
          <a:p>
            <a:r>
              <a:rPr lang="en-US" dirty="0"/>
              <a:t>Statistical Significance (Two Tailed T Test)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9BF37D0-905D-42E7-2BB8-E0F830B13B3C}"/>
              </a:ext>
            </a:extLst>
          </p:cNvPr>
          <p:cNvSpPr/>
          <p:nvPr/>
        </p:nvSpPr>
        <p:spPr>
          <a:xfrm>
            <a:off x="3228587" y="1911074"/>
            <a:ext cx="4427219" cy="3460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Delta with overall frequency Matrix R vs NR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02705704-54B1-4EC0-E9B6-1E8E2DB5B9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28587" y="2998954"/>
            <a:ext cx="2461057" cy="3688356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517E5FED-2A8A-14E2-6742-870503273646}"/>
              </a:ext>
            </a:extLst>
          </p:cNvPr>
          <p:cNvSpPr/>
          <p:nvPr/>
        </p:nvSpPr>
        <p:spPr>
          <a:xfrm>
            <a:off x="3973070" y="2522464"/>
            <a:ext cx="1275549" cy="2919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PMN&gt;25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3227FFF-A3F1-874D-823E-3ED977C6B2DB}"/>
              </a:ext>
            </a:extLst>
          </p:cNvPr>
          <p:cNvSpPr/>
          <p:nvPr/>
        </p:nvSpPr>
        <p:spPr>
          <a:xfrm>
            <a:off x="1085878" y="2522465"/>
            <a:ext cx="1275549" cy="2919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PMN&gt;1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215A564-B3C6-4EA1-61B4-B2DA6D8A026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4583" y="2877424"/>
            <a:ext cx="2615897" cy="384807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DB8AAE5-27F7-D823-5D2C-16A8E03D632F}"/>
              </a:ext>
            </a:extLst>
          </p:cNvPr>
          <p:cNvSpPr/>
          <p:nvPr/>
        </p:nvSpPr>
        <p:spPr>
          <a:xfrm>
            <a:off x="9273398" y="2522461"/>
            <a:ext cx="1275549" cy="2919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PMN&gt;75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0D65FB57-7CB6-6B79-2F18-9A6F0FF3A58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642" y="2867347"/>
            <a:ext cx="2553063" cy="3628367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EFFE458B-A89A-2AD4-35D6-5DA7B34B2603}"/>
              </a:ext>
            </a:extLst>
          </p:cNvPr>
          <p:cNvSpPr/>
          <p:nvPr/>
        </p:nvSpPr>
        <p:spPr>
          <a:xfrm>
            <a:off x="6789317" y="2522462"/>
            <a:ext cx="1275549" cy="2919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PMN&gt;50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D3B81F70-C88F-4105-33E9-26A259E6101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72561" y="2837353"/>
            <a:ext cx="2779164" cy="36883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162835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E12D2B-8249-4CCD-91CC-F803290490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8C9B82-BA6B-4F15-CA62-F4EA5495E9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32291"/>
            <a:ext cx="10896600" cy="517065"/>
          </a:xfrm>
        </p:spPr>
        <p:txBody>
          <a:bodyPr/>
          <a:lstStyle/>
          <a:p>
            <a:r>
              <a:rPr lang="en-US" dirty="0"/>
              <a:t>Statistical Significance (Two Tailed T Test)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F7B9A5E-10C7-17B0-77D5-819DEB327BF8}"/>
              </a:ext>
            </a:extLst>
          </p:cNvPr>
          <p:cNvSpPr/>
          <p:nvPr/>
        </p:nvSpPr>
        <p:spPr>
          <a:xfrm>
            <a:off x="3408907" y="1933514"/>
            <a:ext cx="5374186" cy="34302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Delta with overall frequency Matrix R vs NR (PMN&gt;25)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074A15B-D75E-A23B-FD60-875AFE237832}"/>
              </a:ext>
            </a:extLst>
          </p:cNvPr>
          <p:cNvSpPr/>
          <p:nvPr/>
        </p:nvSpPr>
        <p:spPr>
          <a:xfrm>
            <a:off x="3069825" y="2522464"/>
            <a:ext cx="1702676" cy="2919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Radius = 15 µm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EBA6DE1-876F-83D6-4EF3-C5E597F15F44}"/>
              </a:ext>
            </a:extLst>
          </p:cNvPr>
          <p:cNvSpPr/>
          <p:nvPr/>
        </p:nvSpPr>
        <p:spPr>
          <a:xfrm>
            <a:off x="459548" y="2522465"/>
            <a:ext cx="1702676" cy="2919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Radius = 10 µm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08F84AE-148F-A779-F19C-F53A66574DA9}"/>
              </a:ext>
            </a:extLst>
          </p:cNvPr>
          <p:cNvSpPr/>
          <p:nvPr/>
        </p:nvSpPr>
        <p:spPr>
          <a:xfrm>
            <a:off x="7910890" y="2516139"/>
            <a:ext cx="1702676" cy="2919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Radius = 30 µm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54D14FB-9C90-6E7A-AD8B-743CC0777A93}"/>
              </a:ext>
            </a:extLst>
          </p:cNvPr>
          <p:cNvSpPr/>
          <p:nvPr/>
        </p:nvSpPr>
        <p:spPr>
          <a:xfrm>
            <a:off x="5461177" y="2522463"/>
            <a:ext cx="1651454" cy="2919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Radius = 20 µm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156FD2C-F1B1-5564-0DD3-7D0EC9BFC8F0}"/>
              </a:ext>
            </a:extLst>
          </p:cNvPr>
          <p:cNvSpPr/>
          <p:nvPr/>
        </p:nvSpPr>
        <p:spPr>
          <a:xfrm>
            <a:off x="10166567" y="2522465"/>
            <a:ext cx="1702676" cy="2919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Radius = 45 µm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824496D-7AD2-0D4A-E63D-0527C2F82D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27" y="2907160"/>
            <a:ext cx="2347685" cy="3736173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F9716479-AF3F-4D00-7EF5-8699D280B1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83235" y="2953005"/>
            <a:ext cx="2441326" cy="373617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246D69F9-83A2-EF61-B72C-D1CF634634B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24561" y="2915926"/>
            <a:ext cx="2468053" cy="3827861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72CC69CC-484E-37AF-6305-E392F0D6EEF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92614" y="2915926"/>
            <a:ext cx="2550948" cy="3836627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C61FFC3F-6D00-5996-C6F4-58007680788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08765" y="2907159"/>
            <a:ext cx="2418280" cy="36828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796923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0B0256-1D60-C50B-9C87-42C922668B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E97D6ACE-1CA9-23B8-929D-EC68532282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High CD8 and PMN interactions in non responders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4494600-9682-4D94-7DA2-27AB4AC2C97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CEF7F1B-15D2-5C1B-9402-42EDD2B07D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95" y="1828084"/>
            <a:ext cx="4563845" cy="3343457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5F6DA745-5E96-7007-68D7-589E41146F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47945" y="1751959"/>
            <a:ext cx="4453336" cy="3503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195932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EB564C-AA16-98A8-F129-50F6DDF8E7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2579F4D1-7EE4-9072-D6F4-C69C89A61D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 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D27684D-15C6-C0FA-346C-E08F59CE9D0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57A9B831-B69B-A8B0-D93C-AA05FFDA6C54}"/>
              </a:ext>
            </a:extLst>
          </p:cNvPr>
          <p:cNvSpPr/>
          <p:nvPr/>
        </p:nvSpPr>
        <p:spPr>
          <a:xfrm>
            <a:off x="300067" y="4366408"/>
            <a:ext cx="6835929" cy="393087"/>
          </a:xfrm>
          <a:prstGeom prst="roundRect">
            <a:avLst/>
          </a:prstGeom>
          <a:solidFill>
            <a:srgbClr val="EE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E3476F5-EC2F-4E5F-815E-FEE6A86AA99F}"/>
              </a:ext>
            </a:extLst>
          </p:cNvPr>
          <p:cNvSpPr txBox="1">
            <a:spLocks/>
          </p:cNvSpPr>
          <p:nvPr/>
        </p:nvSpPr>
        <p:spPr>
          <a:xfrm>
            <a:off x="490045" y="1641716"/>
            <a:ext cx="10830910" cy="5112169"/>
          </a:xfrm>
          <a:prstGeom prst="rect">
            <a:avLst/>
          </a:prstGeom>
        </p:spPr>
        <p:txBody>
          <a:bodyPr vert="horz" wrap="square" lIns="0" tIns="45720" rIns="91440" bIns="45720" rtlCol="0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600" kern="1200">
                <a:solidFill>
                  <a:schemeClr val="tx1">
                    <a:lumMod val="90000"/>
                    <a:lumOff val="10000"/>
                  </a:schemeClr>
                </a:solidFill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>
                    <a:lumMod val="90000"/>
                    <a:lumOff val="10000"/>
                  </a:schemeClr>
                </a:solidFill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>
                    <a:lumMod val="90000"/>
                    <a:lumOff val="10000"/>
                  </a:schemeClr>
                </a:solidFill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90000"/>
                    <a:lumOff val="10000"/>
                  </a:schemeClr>
                </a:solidFill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90000"/>
                    <a:lumOff val="10000"/>
                  </a:schemeClr>
                </a:solidFill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Font typeface="+mj-lt"/>
              <a:buAutoNum type="arabicPeriod"/>
            </a:pPr>
            <a:r>
              <a:rPr lang="en-US" dirty="0"/>
              <a:t>Week 5 Review</a:t>
            </a:r>
          </a:p>
          <a:p>
            <a:pPr marL="971550" lvl="1" indent="-514350">
              <a:buFont typeface="+mj-lt"/>
              <a:buAutoNum type="alphaLcParenR"/>
            </a:pPr>
            <a:r>
              <a:rPr lang="en-US" dirty="0"/>
              <a:t>Radial distance decisions</a:t>
            </a:r>
          </a:p>
          <a:p>
            <a:pPr marL="971550" lvl="1" indent="-514350">
              <a:buFont typeface="+mj-lt"/>
              <a:buAutoNum type="alphaLcParenR"/>
            </a:pPr>
            <a:r>
              <a:rPr lang="en-US" dirty="0"/>
              <a:t>Delta matrix calculations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Box Plots of cells Neutrophil neighborhood</a:t>
            </a:r>
          </a:p>
          <a:p>
            <a:pPr marL="971550" lvl="1" indent="-514350">
              <a:buFont typeface="+mj-lt"/>
              <a:buAutoNum type="alphaLcParenR"/>
            </a:pPr>
            <a:r>
              <a:rPr lang="en-US" dirty="0"/>
              <a:t>Neighborhood Plot</a:t>
            </a:r>
          </a:p>
          <a:p>
            <a:pPr marL="971550" lvl="1" indent="-514350">
              <a:buFont typeface="+mj-lt"/>
              <a:buAutoNum type="alphaLcParenR"/>
            </a:pPr>
            <a:r>
              <a:rPr lang="en-US" dirty="0"/>
              <a:t>Delta Neighborhood Plot</a:t>
            </a:r>
          </a:p>
          <a:p>
            <a:pPr marL="971550" lvl="1" indent="-514350">
              <a:buFont typeface="+mj-lt"/>
              <a:buAutoNum type="alphaLcParenR"/>
            </a:pPr>
            <a:r>
              <a:rPr lang="en-US" dirty="0"/>
              <a:t>Statistical Significance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Neutrophil Distance Calculations</a:t>
            </a:r>
          </a:p>
          <a:p>
            <a:pPr marL="971550" lvl="1" indent="-514350">
              <a:buFont typeface="+mj-lt"/>
              <a:buAutoNum type="alphaLcParenR"/>
            </a:pPr>
            <a:r>
              <a:rPr lang="en-US" dirty="0"/>
              <a:t>Methodology</a:t>
            </a:r>
          </a:p>
          <a:p>
            <a:pPr marL="971550" lvl="1" indent="-514350">
              <a:buFont typeface="+mj-lt"/>
              <a:buAutoNum type="alphaLcParenR"/>
            </a:pPr>
            <a:r>
              <a:rPr lang="en-US" dirty="0"/>
              <a:t>Results</a:t>
            </a:r>
          </a:p>
          <a:p>
            <a:pPr marL="457200" lvl="1" indent="0">
              <a:buFont typeface="Arial" panose="020B0604020202020204" pitchFamily="34" charset="0"/>
              <a:buNone/>
            </a:pPr>
            <a:r>
              <a:rPr lang="en-US" dirty="0"/>
              <a:t> </a:t>
            </a:r>
          </a:p>
          <a:p>
            <a:pPr marL="971550" lvl="1" indent="-514350">
              <a:buFont typeface="+mj-lt"/>
              <a:buAutoNum type="alphaLcParenR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6498593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492F42-9927-2BB5-DE9B-4E47627D16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EADD2C53-2833-F24F-18E6-4E498BBEFB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04981"/>
            <a:ext cx="10896600" cy="517065"/>
          </a:xfrm>
        </p:spPr>
        <p:txBody>
          <a:bodyPr/>
          <a:lstStyle/>
          <a:p>
            <a:r>
              <a:rPr lang="en-US" dirty="0"/>
              <a:t>PMN Distance Methodology – Example 1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1D85200-EA3B-FFF5-04D5-94AD04F133A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83E8D52-9202-EB2C-8417-02C52C7B735F}"/>
              </a:ext>
            </a:extLst>
          </p:cNvPr>
          <p:cNvSpPr/>
          <p:nvPr/>
        </p:nvSpPr>
        <p:spPr>
          <a:xfrm>
            <a:off x="878723" y="1914225"/>
            <a:ext cx="2838844" cy="32316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Minimum Distance Method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766F83D-D384-5EB9-CAE0-81D5C263D196}"/>
              </a:ext>
            </a:extLst>
          </p:cNvPr>
          <p:cNvSpPr/>
          <p:nvPr/>
        </p:nvSpPr>
        <p:spPr>
          <a:xfrm>
            <a:off x="5421182" y="1810808"/>
            <a:ext cx="2124027" cy="5170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Least Distance Pairwise Method </a:t>
            </a:r>
          </a:p>
        </p:txBody>
      </p:sp>
      <p:pic>
        <p:nvPicPr>
          <p:cNvPr id="6" name="Picture 2" descr="Neutrophil granulocyte - Servier Medical Art">
            <a:extLst>
              <a:ext uri="{FF2B5EF4-FFF2-40B4-BE49-F238E27FC236}">
                <a16:creationId xmlns:a16="http://schemas.microsoft.com/office/drawing/2014/main" id="{690000B4-95B3-9ECA-B663-42BD395AAC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995" y="2246757"/>
            <a:ext cx="445712" cy="4542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2" descr="Neutrophil granulocyte - Servier Medical Art">
            <a:extLst>
              <a:ext uri="{FF2B5EF4-FFF2-40B4-BE49-F238E27FC236}">
                <a16:creationId xmlns:a16="http://schemas.microsoft.com/office/drawing/2014/main" id="{D04541F9-9FE5-99F5-E420-53E73640A5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73524" y="5354263"/>
            <a:ext cx="445712" cy="4542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2" descr="Neutrophil granulocyte - Servier Medical Art">
            <a:extLst>
              <a:ext uri="{FF2B5EF4-FFF2-40B4-BE49-F238E27FC236}">
                <a16:creationId xmlns:a16="http://schemas.microsoft.com/office/drawing/2014/main" id="{BF0F93A0-8D49-919B-81D3-65D5CA61DBD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37818" y="4408186"/>
            <a:ext cx="445712" cy="4542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2" descr="Neutrophil granulocyte - Servier Medical Art">
            <a:extLst>
              <a:ext uri="{FF2B5EF4-FFF2-40B4-BE49-F238E27FC236}">
                <a16:creationId xmlns:a16="http://schemas.microsoft.com/office/drawing/2014/main" id="{415F3ECD-2F28-1DB0-3BC3-41C4823D68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69966" y="3598384"/>
            <a:ext cx="445712" cy="4542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34" descr="Cancer cell - Free healthcare and medical icons">
            <a:extLst>
              <a:ext uri="{FF2B5EF4-FFF2-40B4-BE49-F238E27FC236}">
                <a16:creationId xmlns:a16="http://schemas.microsoft.com/office/drawing/2014/main" id="{44C81E7E-93E5-6D64-9990-99AC064374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848094" y="3291230"/>
            <a:ext cx="540232" cy="5402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34" descr="Cancer cell - Free healthcare and medical icons">
            <a:extLst>
              <a:ext uri="{FF2B5EF4-FFF2-40B4-BE49-F238E27FC236}">
                <a16:creationId xmlns:a16="http://schemas.microsoft.com/office/drawing/2014/main" id="{64DC1F6D-7EBA-92E3-0AA1-6D801B9A6E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3041604" y="3390029"/>
            <a:ext cx="540232" cy="5402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34" descr="Cancer cell - Free healthcare and medical icons">
            <a:extLst>
              <a:ext uri="{FF2B5EF4-FFF2-40B4-BE49-F238E27FC236}">
                <a16:creationId xmlns:a16="http://schemas.microsoft.com/office/drawing/2014/main" id="{1853EAAA-223B-785A-339E-3BEB949446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1715272" y="4632404"/>
            <a:ext cx="540232" cy="5402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34" descr="Cancer cell - Free healthcare and medical icons">
            <a:extLst>
              <a:ext uri="{FF2B5EF4-FFF2-40B4-BE49-F238E27FC236}">
                <a16:creationId xmlns:a16="http://schemas.microsoft.com/office/drawing/2014/main" id="{4561A4F2-C26D-AAC8-DD52-17383CF956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1903408" y="2489784"/>
            <a:ext cx="540232" cy="5402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34" descr="Cancer cell - Free healthcare and medical icons">
            <a:extLst>
              <a:ext uri="{FF2B5EF4-FFF2-40B4-BE49-F238E27FC236}">
                <a16:creationId xmlns:a16="http://schemas.microsoft.com/office/drawing/2014/main" id="{3D7E0C7F-2113-F1A0-ABA1-AD2752258E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3640694" y="5381450"/>
            <a:ext cx="540232" cy="5402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9FE8B6A-B996-69BA-105B-AF37F19FF864}"/>
              </a:ext>
            </a:extLst>
          </p:cNvPr>
          <p:cNvCxnSpPr/>
          <p:nvPr/>
        </p:nvCxnSpPr>
        <p:spPr>
          <a:xfrm flipH="1" flipV="1">
            <a:off x="427756" y="2701041"/>
            <a:ext cx="466659" cy="59018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ADDDBDDF-1044-5FE1-0B9B-34411DE22C88}"/>
              </a:ext>
            </a:extLst>
          </p:cNvPr>
          <p:cNvCxnSpPr>
            <a:cxnSpLocks/>
          </p:cNvCxnSpPr>
          <p:nvPr/>
        </p:nvCxnSpPr>
        <p:spPr>
          <a:xfrm flipH="1" flipV="1">
            <a:off x="1388326" y="3674038"/>
            <a:ext cx="263360" cy="6391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C8F83782-9E92-A214-79EA-232C7639BDE3}"/>
              </a:ext>
            </a:extLst>
          </p:cNvPr>
          <p:cNvCxnSpPr>
            <a:cxnSpLocks/>
          </p:cNvCxnSpPr>
          <p:nvPr/>
        </p:nvCxnSpPr>
        <p:spPr>
          <a:xfrm flipV="1">
            <a:off x="2224048" y="4660802"/>
            <a:ext cx="395188" cy="4397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D5F71F81-3EED-B2CA-9FE2-67BCF53A600D}"/>
              </a:ext>
            </a:extLst>
          </p:cNvPr>
          <p:cNvCxnSpPr>
            <a:cxnSpLocks/>
          </p:cNvCxnSpPr>
          <p:nvPr/>
        </p:nvCxnSpPr>
        <p:spPr>
          <a:xfrm>
            <a:off x="2115678" y="5158314"/>
            <a:ext cx="139826" cy="19594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7" name="Picture 2" descr="Neutrophil granulocyte - Servier Medical Art">
            <a:extLst>
              <a:ext uri="{FF2B5EF4-FFF2-40B4-BE49-F238E27FC236}">
                <a16:creationId xmlns:a16="http://schemas.microsoft.com/office/drawing/2014/main" id="{374446D3-9B11-19BE-4F52-20E5B12B52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09823" y="2534373"/>
            <a:ext cx="445712" cy="4542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8" name="Picture 2" descr="Neutrophil granulocyte - Servier Medical Art">
            <a:extLst>
              <a:ext uri="{FF2B5EF4-FFF2-40B4-BE49-F238E27FC236}">
                <a16:creationId xmlns:a16="http://schemas.microsoft.com/office/drawing/2014/main" id="{98C71C0A-441F-B57E-FF9E-D8B5061E17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01216" y="5624379"/>
            <a:ext cx="445712" cy="4542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9" name="Picture 2" descr="Neutrophil granulocyte - Servier Medical Art">
            <a:extLst>
              <a:ext uri="{FF2B5EF4-FFF2-40B4-BE49-F238E27FC236}">
                <a16:creationId xmlns:a16="http://schemas.microsoft.com/office/drawing/2014/main" id="{92045AA5-0A4A-3CFF-909F-2D20171832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65510" y="4678302"/>
            <a:ext cx="445712" cy="4542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" name="Picture 2" descr="Neutrophil granulocyte - Servier Medical Art">
            <a:extLst>
              <a:ext uri="{FF2B5EF4-FFF2-40B4-BE49-F238E27FC236}">
                <a16:creationId xmlns:a16="http://schemas.microsoft.com/office/drawing/2014/main" id="{07049CFB-DF72-46E9-6D3A-7301E756C8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97658" y="3868500"/>
            <a:ext cx="445712" cy="4542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1" name="Picture 34" descr="Cancer cell - Free healthcare and medical icons">
            <a:extLst>
              <a:ext uri="{FF2B5EF4-FFF2-40B4-BE49-F238E27FC236}">
                <a16:creationId xmlns:a16="http://schemas.microsoft.com/office/drawing/2014/main" id="{40EB981B-5831-1F73-4272-9DCF4C8625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5075786" y="3561346"/>
            <a:ext cx="540232" cy="5402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2" name="Picture 34" descr="Cancer cell - Free healthcare and medical icons">
            <a:extLst>
              <a:ext uri="{FF2B5EF4-FFF2-40B4-BE49-F238E27FC236}">
                <a16:creationId xmlns:a16="http://schemas.microsoft.com/office/drawing/2014/main" id="{1C7BADFA-A651-0AC2-EAB0-275D287F4F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7269296" y="3660145"/>
            <a:ext cx="540232" cy="5402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3" name="Picture 34" descr="Cancer cell - Free healthcare and medical icons">
            <a:extLst>
              <a:ext uri="{FF2B5EF4-FFF2-40B4-BE49-F238E27FC236}">
                <a16:creationId xmlns:a16="http://schemas.microsoft.com/office/drawing/2014/main" id="{CDACBD64-1357-419C-C5F2-9DF0FEEC96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5942964" y="4902520"/>
            <a:ext cx="540232" cy="5402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4" name="Picture 34" descr="Cancer cell - Free healthcare and medical icons">
            <a:extLst>
              <a:ext uri="{FF2B5EF4-FFF2-40B4-BE49-F238E27FC236}">
                <a16:creationId xmlns:a16="http://schemas.microsoft.com/office/drawing/2014/main" id="{A8F00A5A-1A09-1815-6110-07CC0204B9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6131100" y="2759900"/>
            <a:ext cx="540232" cy="5402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5" name="Picture 34" descr="Cancer cell - Free healthcare and medical icons">
            <a:extLst>
              <a:ext uri="{FF2B5EF4-FFF2-40B4-BE49-F238E27FC236}">
                <a16:creationId xmlns:a16="http://schemas.microsoft.com/office/drawing/2014/main" id="{D9E1D67F-58CE-39A9-E1C5-5E777B219F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7868386" y="5651566"/>
            <a:ext cx="540232" cy="5402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F3DE979-E7E6-4767-2117-DCC487ADCE4B}"/>
              </a:ext>
            </a:extLst>
          </p:cNvPr>
          <p:cNvCxnSpPr/>
          <p:nvPr/>
        </p:nvCxnSpPr>
        <p:spPr>
          <a:xfrm flipH="1" flipV="1">
            <a:off x="4655448" y="2971157"/>
            <a:ext cx="466659" cy="590189"/>
          </a:xfrm>
          <a:prstGeom prst="straightConnector1">
            <a:avLst/>
          </a:prstGeom>
          <a:ln>
            <a:solidFill>
              <a:srgbClr val="0070C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DFA60CFA-1430-5F61-AD04-EFA32B62DEEA}"/>
              </a:ext>
            </a:extLst>
          </p:cNvPr>
          <p:cNvCxnSpPr>
            <a:cxnSpLocks/>
          </p:cNvCxnSpPr>
          <p:nvPr/>
        </p:nvCxnSpPr>
        <p:spPr>
          <a:xfrm flipH="1">
            <a:off x="6211690" y="3358988"/>
            <a:ext cx="99287" cy="471226"/>
          </a:xfrm>
          <a:prstGeom prst="straightConnector1">
            <a:avLst/>
          </a:prstGeom>
          <a:ln>
            <a:solidFill>
              <a:srgbClr val="0070C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A802C71D-9A69-13A1-3D39-1328E13BC81E}"/>
              </a:ext>
            </a:extLst>
          </p:cNvPr>
          <p:cNvCxnSpPr>
            <a:cxnSpLocks/>
          </p:cNvCxnSpPr>
          <p:nvPr/>
        </p:nvCxnSpPr>
        <p:spPr>
          <a:xfrm flipV="1">
            <a:off x="7310646" y="4200377"/>
            <a:ext cx="100576" cy="432027"/>
          </a:xfrm>
          <a:prstGeom prst="straightConnector1">
            <a:avLst/>
          </a:prstGeom>
          <a:ln>
            <a:solidFill>
              <a:srgbClr val="0070C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0E55959F-37E0-0AF0-CE6F-1650081C4605}"/>
              </a:ext>
            </a:extLst>
          </p:cNvPr>
          <p:cNvCxnSpPr>
            <a:cxnSpLocks/>
          </p:cNvCxnSpPr>
          <p:nvPr/>
        </p:nvCxnSpPr>
        <p:spPr>
          <a:xfrm>
            <a:off x="6343370" y="5428430"/>
            <a:ext cx="139826" cy="195949"/>
          </a:xfrm>
          <a:prstGeom prst="straightConnector1">
            <a:avLst/>
          </a:prstGeom>
          <a:ln>
            <a:solidFill>
              <a:srgbClr val="0070C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Rectangle 41">
            <a:extLst>
              <a:ext uri="{FF2B5EF4-FFF2-40B4-BE49-F238E27FC236}">
                <a16:creationId xmlns:a16="http://schemas.microsoft.com/office/drawing/2014/main" id="{293E52D3-A3A8-4B1E-0A4E-0F20D4E22BAE}"/>
              </a:ext>
            </a:extLst>
          </p:cNvPr>
          <p:cNvSpPr/>
          <p:nvPr/>
        </p:nvSpPr>
        <p:spPr>
          <a:xfrm>
            <a:off x="33994" y="1751694"/>
            <a:ext cx="4176323" cy="457958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1897763B-7137-370D-3C24-5A424925F905}"/>
              </a:ext>
            </a:extLst>
          </p:cNvPr>
          <p:cNvSpPr/>
          <p:nvPr/>
        </p:nvSpPr>
        <p:spPr>
          <a:xfrm>
            <a:off x="4255208" y="1751693"/>
            <a:ext cx="4176323" cy="457958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25E6509-2C2F-B6F3-32EA-87932FC09515}"/>
              </a:ext>
            </a:extLst>
          </p:cNvPr>
          <p:cNvSpPr txBox="1"/>
          <p:nvPr/>
        </p:nvSpPr>
        <p:spPr>
          <a:xfrm>
            <a:off x="8431532" y="1751694"/>
            <a:ext cx="3222338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Minimum Distance Method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Finds shortest distance between each PMN and each target cell</a:t>
            </a:r>
          </a:p>
          <a:p>
            <a:endParaRPr lang="en-US" dirty="0"/>
          </a:p>
          <a:p>
            <a:r>
              <a:rPr lang="en-US" dirty="0"/>
              <a:t>Least Distance Pairwise Method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Creates one-one pairs between PMN and target.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Limited to lesser cell counts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ex: ex if there is 4 PMN cells and 5 target cells there will be only 4 pairs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Uses the Hungarian Algorithm to find least sum of distances  </a:t>
            </a:r>
          </a:p>
        </p:txBody>
      </p:sp>
    </p:spTree>
    <p:extLst>
      <p:ext uri="{BB962C8B-B14F-4D97-AF65-F5344CB8AC3E}">
        <p14:creationId xmlns:p14="http://schemas.microsoft.com/office/powerpoint/2010/main" val="258338847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20A16E-200B-5670-8EEE-6BDDCA0465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E4549228-3313-7489-D862-C410C6FD9F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04981"/>
            <a:ext cx="10896600" cy="517065"/>
          </a:xfrm>
        </p:spPr>
        <p:txBody>
          <a:bodyPr/>
          <a:lstStyle/>
          <a:p>
            <a:r>
              <a:rPr lang="en-US" dirty="0"/>
              <a:t>PMN Distance Methodology – Example 2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560AD0-A774-870A-F2DC-8D0CC0ADDE2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0DA5A0E-4404-1EF7-52D3-7177EFC5EB59}"/>
              </a:ext>
            </a:extLst>
          </p:cNvPr>
          <p:cNvSpPr/>
          <p:nvPr/>
        </p:nvSpPr>
        <p:spPr>
          <a:xfrm>
            <a:off x="878723" y="1914225"/>
            <a:ext cx="2838844" cy="32316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Minimum Distance Method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D5BEAA7-DAEB-417C-C61A-3A9E6E7057C9}"/>
              </a:ext>
            </a:extLst>
          </p:cNvPr>
          <p:cNvSpPr/>
          <p:nvPr/>
        </p:nvSpPr>
        <p:spPr>
          <a:xfrm>
            <a:off x="5421182" y="1810808"/>
            <a:ext cx="2124027" cy="5170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Least Distance Pairwise Method 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02A921FD-D785-CECF-918A-1B12B2039723}"/>
              </a:ext>
            </a:extLst>
          </p:cNvPr>
          <p:cNvSpPr/>
          <p:nvPr/>
        </p:nvSpPr>
        <p:spPr>
          <a:xfrm>
            <a:off x="33994" y="1751694"/>
            <a:ext cx="4176323" cy="457958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27A880CB-9EC0-3957-C7BC-58DC6578D362}"/>
              </a:ext>
            </a:extLst>
          </p:cNvPr>
          <p:cNvSpPr/>
          <p:nvPr/>
        </p:nvSpPr>
        <p:spPr>
          <a:xfrm>
            <a:off x="4255208" y="1751693"/>
            <a:ext cx="4176323" cy="457958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38" descr="Generated image">
            <a:extLst>
              <a:ext uri="{FF2B5EF4-FFF2-40B4-BE49-F238E27FC236}">
                <a16:creationId xmlns:a16="http://schemas.microsoft.com/office/drawing/2014/main" id="{AFF6BF84-802D-CF3D-F4B9-9EA940D6FCF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66" t="2443" r="9834" b="27759"/>
          <a:stretch>
            <a:fillRect/>
          </a:stretch>
        </p:blipFill>
        <p:spPr bwMode="auto">
          <a:xfrm>
            <a:off x="751158" y="2994572"/>
            <a:ext cx="446555" cy="4074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2" descr="Neutrophil granulocyte - Servier Medical Art">
            <a:extLst>
              <a:ext uri="{FF2B5EF4-FFF2-40B4-BE49-F238E27FC236}">
                <a16:creationId xmlns:a16="http://schemas.microsoft.com/office/drawing/2014/main" id="{0F014FC7-1C59-6863-6F29-E553AB55DB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697" y="3791099"/>
            <a:ext cx="385580" cy="3929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2" descr="Neutrophil granulocyte - Servier Medical Art">
            <a:extLst>
              <a:ext uri="{FF2B5EF4-FFF2-40B4-BE49-F238E27FC236}">
                <a16:creationId xmlns:a16="http://schemas.microsoft.com/office/drawing/2014/main" id="{A81B73D7-C440-FCEB-8539-06A2D7B4D1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33584" y="3263535"/>
            <a:ext cx="385580" cy="3929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38" descr="Generated image">
            <a:extLst>
              <a:ext uri="{FF2B5EF4-FFF2-40B4-BE49-F238E27FC236}">
                <a16:creationId xmlns:a16="http://schemas.microsoft.com/office/drawing/2014/main" id="{7D9834C0-0B6E-BF0F-46DB-9C743FD8D8D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66" t="2443" r="9834" b="27759"/>
          <a:stretch>
            <a:fillRect/>
          </a:stretch>
        </p:blipFill>
        <p:spPr bwMode="auto">
          <a:xfrm>
            <a:off x="2272005" y="2524371"/>
            <a:ext cx="446555" cy="4074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" name="Picture 38" descr="Generated image">
            <a:extLst>
              <a:ext uri="{FF2B5EF4-FFF2-40B4-BE49-F238E27FC236}">
                <a16:creationId xmlns:a16="http://schemas.microsoft.com/office/drawing/2014/main" id="{5D62F70E-62E5-4C7C-608E-6E6279DD3DD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66" t="2443" r="9834" b="27759"/>
          <a:stretch>
            <a:fillRect/>
          </a:stretch>
        </p:blipFill>
        <p:spPr bwMode="auto">
          <a:xfrm>
            <a:off x="1782339" y="4500749"/>
            <a:ext cx="446555" cy="4074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Picture 2" descr="Neutrophil granulocyte - Servier Medical Art">
            <a:extLst>
              <a:ext uri="{FF2B5EF4-FFF2-40B4-BE49-F238E27FC236}">
                <a16:creationId xmlns:a16="http://schemas.microsoft.com/office/drawing/2014/main" id="{0F124F04-9A32-A1EA-6DC5-1BB6DA384B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8004" y="5453582"/>
            <a:ext cx="385580" cy="3929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5" name="Picture 2" descr="Neutrophil granulocyte - Servier Medical Art">
            <a:extLst>
              <a:ext uri="{FF2B5EF4-FFF2-40B4-BE49-F238E27FC236}">
                <a16:creationId xmlns:a16="http://schemas.microsoft.com/office/drawing/2014/main" id="{5EA74109-A5EE-C214-680B-706383AAED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47594" y="5429779"/>
            <a:ext cx="385580" cy="3929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6" name="Picture 2" descr="Neutrophil granulocyte - Servier Medical Art">
            <a:extLst>
              <a:ext uri="{FF2B5EF4-FFF2-40B4-BE49-F238E27FC236}">
                <a16:creationId xmlns:a16="http://schemas.microsoft.com/office/drawing/2014/main" id="{711C18BA-510E-FC2F-6C4E-7B9D1804A4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65640" y="5060586"/>
            <a:ext cx="385580" cy="3929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0" name="Picture 2" descr="Neutrophil granulocyte - Servier Medical Art">
            <a:extLst>
              <a:ext uri="{FF2B5EF4-FFF2-40B4-BE49-F238E27FC236}">
                <a16:creationId xmlns:a16="http://schemas.microsoft.com/office/drawing/2014/main" id="{F5624245-7D9B-8E3B-4ABB-3A256C2037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1487" y="4576514"/>
            <a:ext cx="385580" cy="3929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E8D7DF7C-3DD4-C387-98CF-FA16E9DB39AB}"/>
              </a:ext>
            </a:extLst>
          </p:cNvPr>
          <p:cNvCxnSpPr/>
          <p:nvPr/>
        </p:nvCxnSpPr>
        <p:spPr>
          <a:xfrm flipV="1">
            <a:off x="624314" y="3392132"/>
            <a:ext cx="252753" cy="39299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A444E8DB-848B-83A9-40CA-2E5C117A6FE4}"/>
              </a:ext>
            </a:extLst>
          </p:cNvPr>
          <p:cNvCxnSpPr>
            <a:cxnSpLocks/>
          </p:cNvCxnSpPr>
          <p:nvPr/>
        </p:nvCxnSpPr>
        <p:spPr>
          <a:xfrm flipH="1" flipV="1">
            <a:off x="1107912" y="3280505"/>
            <a:ext cx="309470" cy="14650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03242BFB-56CE-E72E-84B7-74A6DE0B139D}"/>
              </a:ext>
            </a:extLst>
          </p:cNvPr>
          <p:cNvCxnSpPr>
            <a:stCxn id="40" idx="3"/>
          </p:cNvCxnSpPr>
          <p:nvPr/>
        </p:nvCxnSpPr>
        <p:spPr>
          <a:xfrm flipV="1">
            <a:off x="877067" y="4705111"/>
            <a:ext cx="875828" cy="6790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82E514A1-4676-DC1F-49E3-4E72715171F8}"/>
              </a:ext>
            </a:extLst>
          </p:cNvPr>
          <p:cNvCxnSpPr/>
          <p:nvPr/>
        </p:nvCxnSpPr>
        <p:spPr>
          <a:xfrm flipV="1">
            <a:off x="1387366" y="4833064"/>
            <a:ext cx="479271" cy="62051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5512C49D-48F9-9EEC-8FC5-2DC6103342C8}"/>
              </a:ext>
            </a:extLst>
          </p:cNvPr>
          <p:cNvCxnSpPr/>
          <p:nvPr/>
        </p:nvCxnSpPr>
        <p:spPr>
          <a:xfrm flipH="1" flipV="1">
            <a:off x="2122155" y="4833064"/>
            <a:ext cx="373127" cy="62051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A31738E5-EEEE-E373-6368-E5186DEB85F4}"/>
              </a:ext>
            </a:extLst>
          </p:cNvPr>
          <p:cNvCxnSpPr>
            <a:endCxn id="22" idx="3"/>
          </p:cNvCxnSpPr>
          <p:nvPr/>
        </p:nvCxnSpPr>
        <p:spPr>
          <a:xfrm flipH="1" flipV="1">
            <a:off x="2228894" y="4704468"/>
            <a:ext cx="1409787" cy="39363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5" name="Picture 38" descr="Generated image">
            <a:extLst>
              <a:ext uri="{FF2B5EF4-FFF2-40B4-BE49-F238E27FC236}">
                <a16:creationId xmlns:a16="http://schemas.microsoft.com/office/drawing/2014/main" id="{C92CF7AC-E13E-17AA-5A42-1357D8C4078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66" t="2443" r="9834" b="27759"/>
          <a:stretch>
            <a:fillRect/>
          </a:stretch>
        </p:blipFill>
        <p:spPr bwMode="auto">
          <a:xfrm>
            <a:off x="5013007" y="2994572"/>
            <a:ext cx="446555" cy="4074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6" name="Picture 2" descr="Neutrophil granulocyte - Servier Medical Art">
            <a:extLst>
              <a:ext uri="{FF2B5EF4-FFF2-40B4-BE49-F238E27FC236}">
                <a16:creationId xmlns:a16="http://schemas.microsoft.com/office/drawing/2014/main" id="{7176D302-DC54-B580-AC47-1F7E8FAAA5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60546" y="3791099"/>
            <a:ext cx="385580" cy="3929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7" name="Picture 2" descr="Neutrophil granulocyte - Servier Medical Art">
            <a:extLst>
              <a:ext uri="{FF2B5EF4-FFF2-40B4-BE49-F238E27FC236}">
                <a16:creationId xmlns:a16="http://schemas.microsoft.com/office/drawing/2014/main" id="{3FD4F1E2-EFEF-534F-9CD7-3FBA290CE1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95433" y="3263535"/>
            <a:ext cx="385580" cy="3929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8" name="Picture 38" descr="Generated image">
            <a:extLst>
              <a:ext uri="{FF2B5EF4-FFF2-40B4-BE49-F238E27FC236}">
                <a16:creationId xmlns:a16="http://schemas.microsoft.com/office/drawing/2014/main" id="{A94D9EF3-FFC6-D559-8EFB-0F5CC0F6069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66" t="2443" r="9834" b="27759"/>
          <a:stretch>
            <a:fillRect/>
          </a:stretch>
        </p:blipFill>
        <p:spPr bwMode="auto">
          <a:xfrm>
            <a:off x="6533854" y="2524371"/>
            <a:ext cx="446555" cy="4074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9" name="Picture 38" descr="Generated image">
            <a:extLst>
              <a:ext uri="{FF2B5EF4-FFF2-40B4-BE49-F238E27FC236}">
                <a16:creationId xmlns:a16="http://schemas.microsoft.com/office/drawing/2014/main" id="{243E4A2F-35F9-F931-4D0A-69300BA2B9F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66" t="2443" r="9834" b="27759"/>
          <a:stretch>
            <a:fillRect/>
          </a:stretch>
        </p:blipFill>
        <p:spPr bwMode="auto">
          <a:xfrm>
            <a:off x="6044188" y="4500749"/>
            <a:ext cx="446555" cy="4074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0" name="Picture 2" descr="Neutrophil granulocyte - Servier Medical Art">
            <a:extLst>
              <a:ext uri="{FF2B5EF4-FFF2-40B4-BE49-F238E27FC236}">
                <a16:creationId xmlns:a16="http://schemas.microsoft.com/office/drawing/2014/main" id="{8C50B497-36C3-653E-9738-30187C5A60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09853" y="5453582"/>
            <a:ext cx="385580" cy="3929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" name="Picture 2" descr="Neutrophil granulocyte - Servier Medical Art">
            <a:extLst>
              <a:ext uri="{FF2B5EF4-FFF2-40B4-BE49-F238E27FC236}">
                <a16:creationId xmlns:a16="http://schemas.microsoft.com/office/drawing/2014/main" id="{BC1AAA14-5527-20CE-4947-50869CE764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09443" y="5429779"/>
            <a:ext cx="385580" cy="3929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2" name="Picture 2" descr="Neutrophil granulocyte - Servier Medical Art">
            <a:extLst>
              <a:ext uri="{FF2B5EF4-FFF2-40B4-BE49-F238E27FC236}">
                <a16:creationId xmlns:a16="http://schemas.microsoft.com/office/drawing/2014/main" id="{8F22FC82-7BAF-56AC-B228-876A80E549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27489" y="5060586"/>
            <a:ext cx="385580" cy="3929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3" name="Picture 2" descr="Neutrophil granulocyte - Servier Medical Art">
            <a:extLst>
              <a:ext uri="{FF2B5EF4-FFF2-40B4-BE49-F238E27FC236}">
                <a16:creationId xmlns:a16="http://schemas.microsoft.com/office/drawing/2014/main" id="{D030D32D-3F20-6E8D-946D-42C507409C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53336" y="4576514"/>
            <a:ext cx="385580" cy="3929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D11C1F01-788B-E231-1538-0BA596EA5AA1}"/>
              </a:ext>
            </a:extLst>
          </p:cNvPr>
          <p:cNvCxnSpPr/>
          <p:nvPr/>
        </p:nvCxnSpPr>
        <p:spPr>
          <a:xfrm flipV="1">
            <a:off x="4886163" y="3392132"/>
            <a:ext cx="252753" cy="392996"/>
          </a:xfrm>
          <a:prstGeom prst="straightConnector1">
            <a:avLst/>
          </a:prstGeom>
          <a:ln>
            <a:solidFill>
              <a:srgbClr val="0070C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43B09BD6-C7B3-31E9-ADA2-F37F8A5F0813}"/>
              </a:ext>
            </a:extLst>
          </p:cNvPr>
          <p:cNvCxnSpPr>
            <a:cxnSpLocks/>
          </p:cNvCxnSpPr>
          <p:nvPr/>
        </p:nvCxnSpPr>
        <p:spPr>
          <a:xfrm flipH="1">
            <a:off x="6081013" y="2844099"/>
            <a:ext cx="489554" cy="454542"/>
          </a:xfrm>
          <a:prstGeom prst="straightConnector1">
            <a:avLst/>
          </a:prstGeom>
          <a:ln>
            <a:solidFill>
              <a:srgbClr val="0070C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2DCA0F4C-74B4-3654-664D-D095F2666A43}"/>
              </a:ext>
            </a:extLst>
          </p:cNvPr>
          <p:cNvCxnSpPr>
            <a:cxnSpLocks/>
          </p:cNvCxnSpPr>
          <p:nvPr/>
        </p:nvCxnSpPr>
        <p:spPr>
          <a:xfrm flipH="1" flipV="1">
            <a:off x="6384004" y="4852179"/>
            <a:ext cx="373127" cy="601403"/>
          </a:xfrm>
          <a:prstGeom prst="straightConnector1">
            <a:avLst/>
          </a:prstGeom>
          <a:ln>
            <a:solidFill>
              <a:srgbClr val="0070C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Right Brace 83">
            <a:extLst>
              <a:ext uri="{FF2B5EF4-FFF2-40B4-BE49-F238E27FC236}">
                <a16:creationId xmlns:a16="http://schemas.microsoft.com/office/drawing/2014/main" id="{1213BD66-1AFE-651A-204D-FA0816E845E4}"/>
              </a:ext>
            </a:extLst>
          </p:cNvPr>
          <p:cNvSpPr/>
          <p:nvPr/>
        </p:nvSpPr>
        <p:spPr>
          <a:xfrm rot="6433529">
            <a:off x="5379447" y="3306900"/>
            <a:ext cx="210261" cy="392996"/>
          </a:xfrm>
          <a:prstGeom prst="rightBrac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3BC75A34-9221-15FF-C8B5-90F5C2FF3602}"/>
              </a:ext>
            </a:extLst>
          </p:cNvPr>
          <p:cNvCxnSpPr>
            <a:cxnSpLocks/>
            <a:stCxn id="84" idx="1"/>
          </p:cNvCxnSpPr>
          <p:nvPr/>
        </p:nvCxnSpPr>
        <p:spPr>
          <a:xfrm>
            <a:off x="5453445" y="3603813"/>
            <a:ext cx="3230839" cy="926315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TextBox 87">
            <a:extLst>
              <a:ext uri="{FF2B5EF4-FFF2-40B4-BE49-F238E27FC236}">
                <a16:creationId xmlns:a16="http://schemas.microsoft.com/office/drawing/2014/main" id="{30D3FDB2-43CD-DECD-3353-28470E2A1AC1}"/>
              </a:ext>
            </a:extLst>
          </p:cNvPr>
          <p:cNvSpPr txBox="1"/>
          <p:nvPr/>
        </p:nvSpPr>
        <p:spPr>
          <a:xfrm>
            <a:off x="8797159" y="4452182"/>
            <a:ext cx="234683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Minimizing total distance means that the shortest distance isn’t necessarily used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634A78BC-8A6E-7C42-BCEE-0092D01A673C}"/>
              </a:ext>
            </a:extLst>
          </p:cNvPr>
          <p:cNvSpPr txBox="1"/>
          <p:nvPr/>
        </p:nvSpPr>
        <p:spPr>
          <a:xfrm>
            <a:off x="8558375" y="1776859"/>
            <a:ext cx="272965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 cases when target cells are much fewer than PMN cells the least distance pairwise method produces shorter distance values</a:t>
            </a:r>
          </a:p>
        </p:txBody>
      </p:sp>
    </p:spTree>
    <p:extLst>
      <p:ext uri="{BB962C8B-B14F-4D97-AF65-F5344CB8AC3E}">
        <p14:creationId xmlns:p14="http://schemas.microsoft.com/office/powerpoint/2010/main" val="53474234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378D91-012F-A256-2B3C-B6E7051BE9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B00065BA-B7C0-D459-FFB0-D191857D81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PMN Distance to Immune and tumor cells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CD4E3FE-8D5F-F29F-79D5-714FEF91099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5440E71-0637-8554-89B5-4DF29A3F6395}"/>
              </a:ext>
            </a:extLst>
          </p:cNvPr>
          <p:cNvSpPr txBox="1"/>
          <p:nvPr/>
        </p:nvSpPr>
        <p:spPr>
          <a:xfrm>
            <a:off x="7699879" y="1765738"/>
            <a:ext cx="3935073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dirty="0"/>
              <a:t>No large differences in general. There are a lot of confounding factors. 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dirty="0"/>
              <a:t>The neighborhood and delta analysis produce similar analysis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Non responders have closer distances to CD8, Treg cells which aligns with the neighborhood analysis despite </a:t>
            </a:r>
            <a:r>
              <a:rPr lang="en-US" b="1" dirty="0"/>
              <a:t>higher CD8, Treg frequency</a:t>
            </a:r>
            <a:r>
              <a:rPr lang="en-US" dirty="0"/>
              <a:t> in responder groups.</a:t>
            </a:r>
          </a:p>
          <a:p>
            <a:pPr marL="342900" indent="-342900">
              <a:buFont typeface="+mj-lt"/>
              <a:buAutoNum type="arabicPeriod"/>
            </a:pPr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247BF2F4-0A20-4D74-8AE8-AC89C0408E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3298" y="1853655"/>
            <a:ext cx="7386670" cy="952636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6AD6F03D-C559-F165-F160-1CB1CB0940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3298" y="2992194"/>
            <a:ext cx="7386670" cy="963261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6C730F57-00B9-AD29-0BDD-11CEEBDED7B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3299" y="4141358"/>
            <a:ext cx="7386670" cy="9482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844730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7831C99-7466-5707-AAF8-25B3E4A5A8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777230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AAC6385-5A31-7159-5739-3C4DB571C4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DFC03825-6AD4-BA2A-66DA-FCF759FC3B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686F22-615A-5F08-D6AB-B0568666834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1408D4DC-42AB-12EC-3F02-0945E64A609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7200" y="1643818"/>
            <a:ext cx="10830910" cy="4512048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610410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UW-Madison 2">
      <a:dk1>
        <a:srgbClr val="202020"/>
      </a:dk1>
      <a:lt1>
        <a:srgbClr val="FFFFFF"/>
      </a:lt1>
      <a:dk2>
        <a:srgbClr val="101010"/>
      </a:dk2>
      <a:lt2>
        <a:srgbClr val="DADFE1"/>
      </a:lt2>
      <a:accent1>
        <a:srgbClr val="C5050C"/>
      </a:accent1>
      <a:accent2>
        <a:srgbClr val="8DD3CE"/>
      </a:accent2>
      <a:accent3>
        <a:srgbClr val="FCCB51"/>
      </a:accent3>
      <a:accent4>
        <a:srgbClr val="ADADAD"/>
      </a:accent4>
      <a:accent5>
        <a:srgbClr val="006992"/>
      </a:accent5>
      <a:accent6>
        <a:srgbClr val="432E4F"/>
      </a:accent6>
      <a:hlink>
        <a:srgbClr val="0479A8"/>
      </a:hlink>
      <a:folHlink>
        <a:srgbClr val="0479A8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UW-Madison-data-RedHat-16_9" id="{39149448-8F7A-FF49-B9B1-924C8F85E517}" vid="{49B34611-19B4-3D48-B648-24C73EA204B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UW-Madison-data-RedHat-16_9</Template>
  <TotalTime>10614</TotalTime>
  <Words>805</Words>
  <Application>Microsoft Office PowerPoint</Application>
  <PresentationFormat>Widescreen</PresentationFormat>
  <Paragraphs>134</Paragraphs>
  <Slides>21</Slides>
  <Notes>21</Notes>
  <HiddenSlides>1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6" baseType="lpstr">
      <vt:lpstr>Arial</vt:lpstr>
      <vt:lpstr>Calibri</vt:lpstr>
      <vt:lpstr>Red Hat Display</vt:lpstr>
      <vt:lpstr>Red Hat Text</vt:lpstr>
      <vt:lpstr>Office Theme</vt:lpstr>
      <vt:lpstr>Week 6 Updates Shapiro</vt:lpstr>
      <vt:lpstr>Agenda </vt:lpstr>
      <vt:lpstr>Radial Distance – Example Methodology</vt:lpstr>
      <vt:lpstr>Choosing Radial Distances </vt:lpstr>
      <vt:lpstr>Choosing Radial Distances - Entire Dataset</vt:lpstr>
      <vt:lpstr>Delta Cell Interaction Percentages</vt:lpstr>
      <vt:lpstr>Agenda </vt:lpstr>
      <vt:lpstr>Box Plot of Cellular Neighborhood</vt:lpstr>
      <vt:lpstr>Box Plot of Delta Cellular Neighborhood</vt:lpstr>
      <vt:lpstr>Statistical Significance (Two Tailed T Test)</vt:lpstr>
      <vt:lpstr>Select Box Plot Neighborhood Delta (Radius = 15 µm)</vt:lpstr>
      <vt:lpstr>Select Box Plot Neighborhood Delta (Radius = 15 µm)</vt:lpstr>
      <vt:lpstr>Statistical Significance (Two Tailed T Test)</vt:lpstr>
      <vt:lpstr>Statistical Significance (Two Tailed T Test)</vt:lpstr>
      <vt:lpstr>High CD8 and PMN interactions in non responders</vt:lpstr>
      <vt:lpstr>Agenda </vt:lpstr>
      <vt:lpstr>PMN Distance Methodology – Example 1</vt:lpstr>
      <vt:lpstr>PMN Distance Methodology – Example 2</vt:lpstr>
      <vt:lpstr>PMN Distance to Immune and tumor cells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Evan Johns</dc:creator>
  <cp:lastModifiedBy>Evan Johns</cp:lastModifiedBy>
  <cp:revision>16</cp:revision>
  <dcterms:created xsi:type="dcterms:W3CDTF">2025-06-03T19:55:18Z</dcterms:created>
  <dcterms:modified xsi:type="dcterms:W3CDTF">2025-07-21T15:41:50Z</dcterms:modified>
</cp:coreProperties>
</file>