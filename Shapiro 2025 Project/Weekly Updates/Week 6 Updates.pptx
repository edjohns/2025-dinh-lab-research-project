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64" r:id="rId2"/>
    <p:sldId id="308" r:id="rId3"/>
    <p:sldId id="296" r:id="rId4"/>
    <p:sldId id="302" r:id="rId5"/>
    <p:sldId id="304" r:id="rId6"/>
    <p:sldId id="306" r:id="rId7"/>
    <p:sldId id="305" r:id="rId8"/>
    <p:sldId id="307" r:id="rId9"/>
    <p:sldId id="288" r:id="rId10"/>
    <p:sldId id="291" r:id="rId11"/>
    <p:sldId id="293" r:id="rId12"/>
    <p:sldId id="295" r:id="rId13"/>
    <p:sldId id="298" r:id="rId14"/>
    <p:sldId id="297" r:id="rId15"/>
    <p:sldId id="299" r:id="rId16"/>
    <p:sldId id="300" r:id="rId17"/>
    <p:sldId id="301" r:id="rId18"/>
    <p:sldId id="289" r:id="rId19"/>
    <p:sldId id="267" r:id="rId20"/>
    <p:sldId id="30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79"/>
    <p:restoredTop sz="96327"/>
  </p:normalViewPr>
  <p:slideViewPr>
    <p:cSldViewPr snapToGrid="0" snapToObjects="1">
      <p:cViewPr>
        <p:scale>
          <a:sx n="150" d="100"/>
          <a:sy n="150" d="100"/>
        </p:scale>
        <p:origin x="192" y="1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C56D-A55E-4D77-4A20-2F357A05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5520E-AC78-288A-A318-B825E44B5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999F0-5810-538D-5B25-F13981EEC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4959A-C76D-EB4E-13F4-E3599C0F6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59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AD0AB-6FFF-0FE2-542B-7E6DE929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B95AAB-6C35-A2A4-C081-C346FBF22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E9687-9AB4-2EE9-75F9-561B22552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1618E-2F0F-B6F8-537D-79996BC10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94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1D86C-3F85-1751-B494-C57CBF672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8471F-7EDE-870C-7534-60E2B2A69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DA0D41-0A9A-CB92-735A-A0C30BC45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5F37B-23C9-2800-C0BB-A48DD43F3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2060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4015D-6EC2-73AA-4048-9F86FD8F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F3674-77B6-A08F-F55F-D7FD63D40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52F42-CCD8-DC86-C083-60EA1505D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6112A-CCCD-8FAE-6472-2033A58BC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972C-1403-7096-0109-DAF7FD952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600C9-81B4-7C8B-F9B8-9B45B49AE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2DE33-DE05-8D56-E073-AAE2FBAAD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489E3-0035-1D19-D9F6-095DCE53F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8401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4AA4-55D7-1B97-25C1-7A89A58B7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28EB2-90D2-78D2-817E-F5D06B51E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8CE49-6A8A-2B22-C9F0-CE454B51B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E2009-C772-D9B0-B832-D44FC6A7E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42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25366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615211" y="2082006"/>
            <a:ext cx="4546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B3476-18EC-2DAA-24B0-7C3D7D04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5181E4-CDCF-A972-E070-8709FD423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4B2F91-048D-6934-54AA-BCF1D611F1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E9E0A2-C19F-D476-C818-8BB7A197EA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637645"/>
          </a:xfrm>
        </p:spPr>
        <p:txBody>
          <a:bodyPr/>
          <a:lstStyle/>
          <a:p>
            <a:r>
              <a:rPr lang="en-US" dirty="0"/>
              <a:t>No set standard threshold, 15 µm is the most common one that I saw</a:t>
            </a:r>
          </a:p>
          <a:p>
            <a:r>
              <a:rPr lang="en-US" dirty="0"/>
              <a:t>Likely would need to validate that any findings are present or at least suggested in the 10 – 25 µm range. </a:t>
            </a:r>
          </a:p>
          <a:p>
            <a:r>
              <a:rPr lang="en-US" dirty="0"/>
              <a:t>An alternative method would be to use the “</a:t>
            </a:r>
            <a:r>
              <a:rPr lang="en-US" dirty="0" err="1"/>
              <a:t>delaunay</a:t>
            </a:r>
            <a:r>
              <a:rPr lang="en-US" dirty="0"/>
              <a:t>”. This matches each PMN to 6 cells. Similar number of matches ~10 microns.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51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Radial Colocalization Methodology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AA8755-B8FC-9A76-4EC7-A68A58FDB635}"/>
              </a:ext>
            </a:extLst>
          </p:cNvPr>
          <p:cNvSpPr/>
          <p:nvPr/>
        </p:nvSpPr>
        <p:spPr>
          <a:xfrm>
            <a:off x="1485933" y="1428405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Neutrophil granulocyte - Servier Medical Art">
            <a:extLst>
              <a:ext uri="{FF2B5EF4-FFF2-40B4-BE49-F238E27FC236}">
                <a16:creationId xmlns:a16="http://schemas.microsoft.com/office/drawing/2014/main" id="{75F53F84-29CB-9040-AC06-7A33324D5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4346" y="305675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8" descr="Generated image">
            <a:extLst>
              <a:ext uri="{FF2B5EF4-FFF2-40B4-BE49-F238E27FC236}">
                <a16:creationId xmlns:a16="http://schemas.microsoft.com/office/drawing/2014/main" id="{42B159A6-BB06-84C2-7075-44A8090E18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058858" y="4251927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8" descr="Generated image">
            <a:extLst>
              <a:ext uri="{FF2B5EF4-FFF2-40B4-BE49-F238E27FC236}">
                <a16:creationId xmlns:a16="http://schemas.microsoft.com/office/drawing/2014/main" id="{6947747E-A97A-CCD2-381E-D9B164BF67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912488" y="5517665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7DECED5C-7A11-61A7-9BDC-8B47B0F6B3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329886" y="297012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27F6FAA-120B-88F7-99DA-833BE2A2376F}"/>
              </a:ext>
            </a:extLst>
          </p:cNvPr>
          <p:cNvSpPr/>
          <p:nvPr/>
        </p:nvSpPr>
        <p:spPr>
          <a:xfrm>
            <a:off x="1942040" y="26268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F70A4E7-7F3F-F3FB-B2DD-C41547CE5331}"/>
              </a:ext>
            </a:extLst>
          </p:cNvPr>
          <p:cNvCxnSpPr>
            <a:cxnSpLocks/>
          </p:cNvCxnSpPr>
          <p:nvPr/>
        </p:nvCxnSpPr>
        <p:spPr>
          <a:xfrm flipH="1">
            <a:off x="2510094" y="3409854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594656-8220-85B0-B7FA-C32C8AFDFA0F}"/>
              </a:ext>
            </a:extLst>
          </p:cNvPr>
          <p:cNvCxnSpPr>
            <a:cxnSpLocks/>
          </p:cNvCxnSpPr>
          <p:nvPr/>
        </p:nvCxnSpPr>
        <p:spPr>
          <a:xfrm flipH="1">
            <a:off x="2912488" y="3183813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C140F5-474E-3D19-48ED-1A3B7F4017A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3214323" y="3562254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F23AE4-C141-2D69-F016-908B396F1E6C}"/>
              </a:ext>
            </a:extLst>
          </p:cNvPr>
          <p:cNvSpPr/>
          <p:nvPr/>
        </p:nvSpPr>
        <p:spPr>
          <a:xfrm>
            <a:off x="1138812" y="3938955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9C1C-FECE-DDC9-81BB-3F1312A6ECB4}"/>
              </a:ext>
            </a:extLst>
          </p:cNvPr>
          <p:cNvSpPr/>
          <p:nvPr/>
        </p:nvSpPr>
        <p:spPr>
          <a:xfrm>
            <a:off x="3622931" y="5526682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B0CDAA-EA03-67AD-9CB6-692C5B0ABFBA}"/>
              </a:ext>
            </a:extLst>
          </p:cNvPr>
          <p:cNvCxnSpPr>
            <a:cxnSpLocks/>
            <a:endCxn id="6" idx="6"/>
          </p:cNvCxnSpPr>
          <p:nvPr/>
        </p:nvCxnSpPr>
        <p:spPr>
          <a:xfrm>
            <a:off x="3622931" y="3345604"/>
            <a:ext cx="197254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6DA843-84AE-AF9A-C39D-24447E9B8164}"/>
              </a:ext>
            </a:extLst>
          </p:cNvPr>
          <p:cNvCxnSpPr>
            <a:cxnSpLocks/>
          </p:cNvCxnSpPr>
          <p:nvPr/>
        </p:nvCxnSpPr>
        <p:spPr>
          <a:xfrm flipV="1">
            <a:off x="4460516" y="2188254"/>
            <a:ext cx="1315168" cy="1128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FA8133D-2459-6637-AF4F-323B548C90C0}"/>
              </a:ext>
            </a:extLst>
          </p:cNvPr>
          <p:cNvSpPr/>
          <p:nvPr/>
        </p:nvSpPr>
        <p:spPr>
          <a:xfrm>
            <a:off x="5934141" y="2030599"/>
            <a:ext cx="2081048" cy="233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21-micron diameter</a:t>
            </a:r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A32CC-E9C5-9403-E64C-9E3064C7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FFBB32-96EA-00C2-713E-C628E2055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 Micron PMN-Cell Type Notable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125E85-5493-8B8D-08FD-CA8046B282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130216F-E9E6-0AF4-EAB5-771218E86F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04563" y="1479162"/>
            <a:ext cx="3619762" cy="3243452"/>
          </a:xfrm>
        </p:spPr>
        <p:txBody>
          <a:bodyPr/>
          <a:lstStyle/>
          <a:p>
            <a:r>
              <a:rPr lang="en-US" dirty="0"/>
              <a:t>In non-responder groups</a:t>
            </a:r>
          </a:p>
          <a:p>
            <a:pPr lvl="1"/>
            <a:r>
              <a:rPr lang="en-US" dirty="0"/>
              <a:t>More neutrophil clustering</a:t>
            </a:r>
          </a:p>
          <a:p>
            <a:pPr lvl="1"/>
            <a:r>
              <a:rPr lang="en-US" dirty="0"/>
              <a:t>Marginally higher neutrophil-tumor </a:t>
            </a:r>
            <a:r>
              <a:rPr lang="en-US" dirty="0" err="1"/>
              <a:t>iteractions</a:t>
            </a:r>
            <a:endParaRPr lang="en-US" dirty="0"/>
          </a:p>
          <a:p>
            <a:r>
              <a:rPr lang="en-US" dirty="0"/>
              <a:t>Overall variation not huge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FE064C-AF3B-D955-43E7-B4F586ED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8" y="1483517"/>
            <a:ext cx="3781121" cy="48514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815AD1-E151-769D-921D-141C4D3EB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5969" y="1483517"/>
            <a:ext cx="3855641" cy="474651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889C08-FE37-40A9-BD5C-12B6163647CD}"/>
              </a:ext>
            </a:extLst>
          </p:cNvPr>
          <p:cNvSpPr/>
          <p:nvPr/>
        </p:nvSpPr>
        <p:spPr>
          <a:xfrm>
            <a:off x="1109892" y="1305655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A8DBA4-0D6F-EB44-EA7A-14A04C02F914}"/>
              </a:ext>
            </a:extLst>
          </p:cNvPr>
          <p:cNvSpPr/>
          <p:nvPr/>
        </p:nvSpPr>
        <p:spPr>
          <a:xfrm>
            <a:off x="4856830" y="1264849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1955072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DA28DE-31CD-797A-9559-0C229A021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12"/>
          <a:stretch>
            <a:fillRect/>
          </a:stretch>
        </p:blipFill>
        <p:spPr>
          <a:xfrm>
            <a:off x="77119" y="2596609"/>
            <a:ext cx="3865981" cy="3204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C4864-43E9-10C5-3886-286CA1AC3F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372"/>
          <a:stretch>
            <a:fillRect/>
          </a:stretch>
        </p:blipFill>
        <p:spPr>
          <a:xfrm>
            <a:off x="4460516" y="2505038"/>
            <a:ext cx="4063570" cy="329591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</p:spTree>
    <p:extLst>
      <p:ext uri="{BB962C8B-B14F-4D97-AF65-F5344CB8AC3E}">
        <p14:creationId xmlns:p14="http://schemas.microsoft.com/office/powerpoint/2010/main" val="1835200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F0C9C-0BF3-3343-5513-17DBD31C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6B021D8-D6B1-350E-AC12-8BFE0903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Matrix compared to overall frequency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917C21-51B0-C037-0253-BA3E6EED79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7DBD000-9BDD-0201-5C69-E296DE672F0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800778" y="1643818"/>
            <a:ext cx="3487332" cy="4901855"/>
          </a:xfrm>
        </p:spPr>
        <p:txBody>
          <a:bodyPr/>
          <a:lstStyle/>
          <a:p>
            <a:r>
              <a:rPr lang="en-US" dirty="0"/>
              <a:t>Compared to overall cellular frequency responders were </a:t>
            </a:r>
            <a:r>
              <a:rPr lang="en-US" b="1" dirty="0"/>
              <a:t>more likely to be near tumor cells than non-responders.</a:t>
            </a:r>
            <a:r>
              <a:rPr lang="en-US" dirty="0"/>
              <a:t> </a:t>
            </a:r>
          </a:p>
          <a:p>
            <a:r>
              <a:rPr lang="en-US" b="1" dirty="0"/>
              <a:t>CD8 and CD4 numbers are similar. </a:t>
            </a:r>
            <a:r>
              <a:rPr lang="en-US" dirty="0"/>
              <a:t>Correcting for overall cell numbers removes the closer association found in the neighborhood analysis in week 4.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62E548-A333-39CD-77C6-56E17607A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41" y="1597388"/>
            <a:ext cx="3609639" cy="45120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89B26E-23F5-493F-5BC1-CF60CE1C6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580" y="1595244"/>
            <a:ext cx="3663619" cy="45606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F3DC2B8-58F8-3D5C-8B94-11DBF705B8A5}"/>
              </a:ext>
            </a:extLst>
          </p:cNvPr>
          <p:cNvSpPr/>
          <p:nvPr/>
        </p:nvSpPr>
        <p:spPr>
          <a:xfrm>
            <a:off x="1109892" y="1372466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D53968-F369-1B57-ACAD-8B13F6520320}"/>
              </a:ext>
            </a:extLst>
          </p:cNvPr>
          <p:cNvSpPr/>
          <p:nvPr/>
        </p:nvSpPr>
        <p:spPr>
          <a:xfrm>
            <a:off x="4856830" y="1331660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367320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7087D-A57A-35EA-2500-1FCB466B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681-651F-452B-F02D-A09B5BEFE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15474-5734-90C4-C0A0-D13EC55D8A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AF73362-A564-B3A6-F9BF-01A6904A66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387081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1 patients with higher PMN colocalization had better response rates than those who did not. (64% vs 46%). </a:t>
            </a:r>
          </a:p>
          <a:p>
            <a:pPr lvl="1"/>
            <a:r>
              <a:rPr lang="en-US" dirty="0"/>
              <a:t>They were located closer to tumor cells and farther from immune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72D82-0F90-D1E7-1ADA-BE9905028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2268"/>
            <a:ext cx="5733160" cy="35372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FE04DA-DEED-12C3-2D68-7B5B8DDC7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26" y="5289856"/>
            <a:ext cx="8992062" cy="105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1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43DB-3C36-C4E6-A3E7-FC26C35A3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62354-4178-E8F5-CCC8-1D39DF7659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9915AEF-1F46-AB2C-B4D5-E5C622E058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229602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0 patients with higher PMN colocalization had better response rates than those who did not.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3C57A9-7417-F9A6-87C1-8DA80D638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67" y="1317999"/>
            <a:ext cx="6004531" cy="37584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6AD7D1-8B26-A8FB-F5FD-FBB460CC4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21" y="5175297"/>
            <a:ext cx="6178275" cy="90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27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E3ADF-9921-1571-27E0-BC2DD4A3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30DE326-E014-E963-0AAA-F4E62BC07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4314"/>
            <a:ext cx="8674188" cy="594885"/>
          </a:xfrm>
        </p:spPr>
        <p:txBody>
          <a:bodyPr/>
          <a:lstStyle/>
          <a:p>
            <a:r>
              <a:rPr lang="en-US" dirty="0"/>
              <a:t>Distance Calculations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E3AD-7021-9829-9569-2CE01DC660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Neutrophil granulocyte - Servier Medical Art">
            <a:extLst>
              <a:ext uri="{FF2B5EF4-FFF2-40B4-BE49-F238E27FC236}">
                <a16:creationId xmlns:a16="http://schemas.microsoft.com/office/drawing/2014/main" id="{ABDCA048-DE87-93AE-2860-116A4BE18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943" y="342234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26C4F9C-069B-54D3-7637-D433F1E946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910C446B-1230-1799-F836-B9F9155A93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6003" y="2609193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AutoShape 18" descr="T Cell Illustration">
            <a:extLst>
              <a:ext uri="{FF2B5EF4-FFF2-40B4-BE49-F238E27FC236}">
                <a16:creationId xmlns:a16="http://schemas.microsoft.com/office/drawing/2014/main" id="{6846E232-CA40-42C6-FB94-A8E54CA9D2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2913468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04FB5719-4677-DFFC-9389-694B6F837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58" name="Picture 34" descr="Cancer cell - Free healthcare and medical icons">
            <a:extLst>
              <a:ext uri="{FF2B5EF4-FFF2-40B4-BE49-F238E27FC236}">
                <a16:creationId xmlns:a16="http://schemas.microsoft.com/office/drawing/2014/main" id="{2807CC16-47B4-429E-AC06-BE55261EF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37155" y="2913468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4" descr="Cancer cell - Free healthcare and medical icons">
            <a:extLst>
              <a:ext uri="{FF2B5EF4-FFF2-40B4-BE49-F238E27FC236}">
                <a16:creationId xmlns:a16="http://schemas.microsoft.com/office/drawing/2014/main" id="{78269A20-5B0E-A7F5-F376-88F80283A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75598" y="3257683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34" descr="Cancer cell - Free healthcare and medical icons">
            <a:extLst>
              <a:ext uri="{FF2B5EF4-FFF2-40B4-BE49-F238E27FC236}">
                <a16:creationId xmlns:a16="http://schemas.microsoft.com/office/drawing/2014/main" id="{3FBE0F8B-5AFD-1911-6F19-BB0A91DF1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47664" y="35532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34" descr="Cancer cell - Free healthcare and medical icons">
            <a:extLst>
              <a:ext uri="{FF2B5EF4-FFF2-40B4-BE49-F238E27FC236}">
                <a16:creationId xmlns:a16="http://schemas.microsoft.com/office/drawing/2014/main" id="{7389A13E-C194-CFE7-E091-74C8B6F05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88199" y="320696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34" descr="Cancer cell - Free healthcare and medical icons">
            <a:extLst>
              <a:ext uri="{FF2B5EF4-FFF2-40B4-BE49-F238E27FC236}">
                <a16:creationId xmlns:a16="http://schemas.microsoft.com/office/drawing/2014/main" id="{86327B38-E83C-F64F-DC5F-63CC69E85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90149" y="371882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C547A884-45AF-9159-D6EA-2A11F6A3B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77537" y="2631002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B2EB8E17-6DC2-D0B2-FB9C-096052697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294421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9A5618EB-4A1E-03A0-1568-C5B61037B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34290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AE661E4-ABCF-BBB5-87B0-6A4A659691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32105" y="20181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AutoShape 18" descr="T Cell Illustration">
            <a:extLst>
              <a:ext uri="{FF2B5EF4-FFF2-40B4-BE49-F238E27FC236}">
                <a16:creationId xmlns:a16="http://schemas.microsoft.com/office/drawing/2014/main" id="{C153176E-63D9-AF7D-7595-677270FC68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1654984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830F8888-BB51-B960-A2D0-FBD22E79C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21705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9" name="Picture 34" descr="Cancer cell - Free healthcare and medical icons">
            <a:extLst>
              <a:ext uri="{FF2B5EF4-FFF2-40B4-BE49-F238E27FC236}">
                <a16:creationId xmlns:a16="http://schemas.microsoft.com/office/drawing/2014/main" id="{D37F332D-A41E-806E-0081-140A1E689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125660" y="16549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4" descr="Cancer cell - Free healthcare and medical icons">
            <a:extLst>
              <a:ext uri="{FF2B5EF4-FFF2-40B4-BE49-F238E27FC236}">
                <a16:creationId xmlns:a16="http://schemas.microsoft.com/office/drawing/2014/main" id="{6DF86A4D-31C3-6A3F-1F9D-AB72AB141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4103" y="199919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34" descr="Cancer cell - Free healthcare and medical icons">
            <a:extLst>
              <a:ext uri="{FF2B5EF4-FFF2-40B4-BE49-F238E27FC236}">
                <a16:creationId xmlns:a16="http://schemas.microsoft.com/office/drawing/2014/main" id="{91F9C3F1-F4B1-BFA1-DAC5-56F8272B5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76704" y="19484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34" descr="Cancer cell - Free healthcare and medical icons">
            <a:extLst>
              <a:ext uri="{FF2B5EF4-FFF2-40B4-BE49-F238E27FC236}">
                <a16:creationId xmlns:a16="http://schemas.microsoft.com/office/drawing/2014/main" id="{63C2B980-9BCA-1AFD-3FC2-7E43A34EA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168572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34" descr="Cancer cell - Free healthcare and medical icons">
            <a:extLst>
              <a:ext uri="{FF2B5EF4-FFF2-40B4-BE49-F238E27FC236}">
                <a16:creationId xmlns:a16="http://schemas.microsoft.com/office/drawing/2014/main" id="{B688C3CC-0289-840A-6030-B861C169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217051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03B723C-F44F-5C08-17B0-02E28AF35383}"/>
              </a:ext>
            </a:extLst>
          </p:cNvPr>
          <p:cNvCxnSpPr>
            <a:cxnSpLocks/>
          </p:cNvCxnSpPr>
          <p:nvPr/>
        </p:nvCxnSpPr>
        <p:spPr>
          <a:xfrm flipH="1" flipV="1">
            <a:off x="2382841" y="2559663"/>
            <a:ext cx="1486470" cy="9174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6251B74-0A2D-6709-6125-4650A3A1356E}"/>
              </a:ext>
            </a:extLst>
          </p:cNvPr>
          <p:cNvCxnSpPr/>
          <p:nvPr/>
        </p:nvCxnSpPr>
        <p:spPr>
          <a:xfrm>
            <a:off x="4460516" y="3581400"/>
            <a:ext cx="4331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41ECD6EF-8D44-E8F4-D04C-EBB0E5B5B8F7}"/>
              </a:ext>
            </a:extLst>
          </p:cNvPr>
          <p:cNvSpPr/>
          <p:nvPr/>
        </p:nvSpPr>
        <p:spPr>
          <a:xfrm>
            <a:off x="5304571" y="23402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1473D7-E7D0-703A-6B2D-7AC7B73B43FB}"/>
              </a:ext>
            </a:extLst>
          </p:cNvPr>
          <p:cNvCxnSpPr>
            <a:cxnSpLocks/>
          </p:cNvCxnSpPr>
          <p:nvPr/>
        </p:nvCxnSpPr>
        <p:spPr>
          <a:xfrm flipH="1" flipV="1">
            <a:off x="2535241" y="2125717"/>
            <a:ext cx="1384069" cy="13279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6F8CDC-E93A-BDEF-4860-6FFDEEE0D6EC}"/>
              </a:ext>
            </a:extLst>
          </p:cNvPr>
          <p:cNvCxnSpPr>
            <a:cxnSpLocks/>
          </p:cNvCxnSpPr>
          <p:nvPr/>
        </p:nvCxnSpPr>
        <p:spPr>
          <a:xfrm flipH="1" flipV="1">
            <a:off x="1919189" y="2322916"/>
            <a:ext cx="1917541" cy="12303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59280F9-B390-8C61-F0C4-AD00BA3FCE9F}"/>
              </a:ext>
            </a:extLst>
          </p:cNvPr>
          <p:cNvCxnSpPr>
            <a:cxnSpLocks/>
          </p:cNvCxnSpPr>
          <p:nvPr/>
        </p:nvCxnSpPr>
        <p:spPr>
          <a:xfrm flipH="1" flipV="1">
            <a:off x="1202613" y="2452327"/>
            <a:ext cx="2621803" cy="11837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2" name="Picture 38" descr="Generated image">
            <a:extLst>
              <a:ext uri="{FF2B5EF4-FFF2-40B4-BE49-F238E27FC236}">
                <a16:creationId xmlns:a16="http://schemas.microsoft.com/office/drawing/2014/main" id="{09452A9D-5E27-80BB-ECAF-90C15AEF26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476704" y="396923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38" descr="Generated image">
            <a:extLst>
              <a:ext uri="{FF2B5EF4-FFF2-40B4-BE49-F238E27FC236}">
                <a16:creationId xmlns:a16="http://schemas.microsoft.com/office/drawing/2014/main" id="{D452D3C2-2E81-7376-4980-DC8AA5CAF3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3501484" y="433667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5BBDE199-A472-2F18-166E-9ECACDB894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00666" y="5007274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8697B875-461A-2846-95DA-820579EDEC2E}"/>
              </a:ext>
            </a:extLst>
          </p:cNvPr>
          <p:cNvSpPr/>
          <p:nvPr/>
        </p:nvSpPr>
        <p:spPr>
          <a:xfrm>
            <a:off x="1884505" y="500325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4E5B38-4506-666E-BB45-1772C6C849AA}"/>
              </a:ext>
            </a:extLst>
          </p:cNvPr>
          <p:cNvCxnSpPr>
            <a:endCxn id="1062" idx="3"/>
          </p:cNvCxnSpPr>
          <p:nvPr/>
        </p:nvCxnSpPr>
        <p:spPr>
          <a:xfrm flipH="1">
            <a:off x="2080373" y="3747201"/>
            <a:ext cx="1756357" cy="49742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198353-FD7A-59D1-9E33-AB54597AA726}"/>
              </a:ext>
            </a:extLst>
          </p:cNvPr>
          <p:cNvCxnSpPr/>
          <p:nvPr/>
        </p:nvCxnSpPr>
        <p:spPr>
          <a:xfrm flipH="1">
            <a:off x="1254935" y="3823401"/>
            <a:ext cx="2614376" cy="1316158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Straight Arrow Connector 1024">
            <a:extLst>
              <a:ext uri="{FF2B5EF4-FFF2-40B4-BE49-F238E27FC236}">
                <a16:creationId xmlns:a16="http://schemas.microsoft.com/office/drawing/2014/main" id="{16EF8200-5541-5E30-F9D1-C1E5B011A555}"/>
              </a:ext>
            </a:extLst>
          </p:cNvPr>
          <p:cNvCxnSpPr>
            <a:endCxn id="57" idx="0"/>
          </p:cNvCxnSpPr>
          <p:nvPr/>
        </p:nvCxnSpPr>
        <p:spPr>
          <a:xfrm flipH="1">
            <a:off x="3803319" y="3876627"/>
            <a:ext cx="188510" cy="46004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24F4643A-92EB-1090-C2D2-E409ED97989F}"/>
              </a:ext>
            </a:extLst>
          </p:cNvPr>
          <p:cNvCxnSpPr/>
          <p:nvPr/>
        </p:nvCxnSpPr>
        <p:spPr>
          <a:xfrm>
            <a:off x="4677066" y="3581400"/>
            <a:ext cx="838764" cy="1135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249801A4-FFBC-3784-6D43-6282E4525FBF}"/>
              </a:ext>
            </a:extLst>
          </p:cNvPr>
          <p:cNvSpPr/>
          <p:nvPr/>
        </p:nvSpPr>
        <p:spPr>
          <a:xfrm>
            <a:off x="5512675" y="4764400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Tumor Cell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1D9D48D2-E21C-4F15-5A8A-95390DB9C1D6}"/>
              </a:ext>
            </a:extLst>
          </p:cNvPr>
          <p:cNvSpPr/>
          <p:nvPr/>
        </p:nvSpPr>
        <p:spPr>
          <a:xfrm>
            <a:off x="4250383" y="5415253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CD8 T-Cell</a:t>
            </a:r>
          </a:p>
        </p:txBody>
      </p:sp>
      <p:cxnSp>
        <p:nvCxnSpPr>
          <p:cNvPr id="1033" name="Straight Arrow Connector 1032">
            <a:extLst>
              <a:ext uri="{FF2B5EF4-FFF2-40B4-BE49-F238E27FC236}">
                <a16:creationId xmlns:a16="http://schemas.microsoft.com/office/drawing/2014/main" id="{8A08D3B1-9BDB-BA25-FF8F-122F97664A89}"/>
              </a:ext>
            </a:extLst>
          </p:cNvPr>
          <p:cNvCxnSpPr>
            <a:endCxn id="1031" idx="0"/>
          </p:cNvCxnSpPr>
          <p:nvPr/>
        </p:nvCxnSpPr>
        <p:spPr>
          <a:xfrm>
            <a:off x="3902943" y="4093517"/>
            <a:ext cx="1346449" cy="13217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2AD9E97-6735-326A-A567-BF6B1ACF803F}"/>
              </a:ext>
            </a:extLst>
          </p:cNvPr>
          <p:cNvSpPr txBox="1"/>
          <p:nvPr/>
        </p:nvSpPr>
        <p:spPr>
          <a:xfrm>
            <a:off x="7876452" y="1765738"/>
            <a:ext cx="35062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Finds the distance between all PMNs and specified other cell types (CD4, CD8, Treg, Tumor)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closest cell of that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the average distance to all cells of that type</a:t>
            </a:r>
          </a:p>
        </p:txBody>
      </p:sp>
    </p:spTree>
    <p:extLst>
      <p:ext uri="{BB962C8B-B14F-4D97-AF65-F5344CB8AC3E}">
        <p14:creationId xmlns:p14="http://schemas.microsoft.com/office/powerpoint/2010/main" val="1773620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4AD8596-0D16-A9BB-209A-086C04EEA92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650056" y="3320973"/>
            <a:ext cx="6788499" cy="11113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C6E84D-FA18-4A6E-C568-F7936A7E0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56" y="1957165"/>
            <a:ext cx="6788499" cy="11113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876452" y="1765738"/>
            <a:ext cx="35062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Confounding factors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Quantity of cell types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Distribution of cells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Future Directions</a:t>
            </a:r>
            <a:r>
              <a:rPr lang="en-US" dirty="0"/>
              <a:t>: weighted average interaction matrix</a:t>
            </a:r>
          </a:p>
        </p:txBody>
      </p:sp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6402-EBDA-ACBF-7479-E2638884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C16FD20-1B58-3636-C5B1-D5EA9E0F7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391" y="411958"/>
            <a:ext cx="10896600" cy="517065"/>
          </a:xfrm>
        </p:spPr>
        <p:txBody>
          <a:bodyPr/>
          <a:lstStyle/>
          <a:p>
            <a:r>
              <a:rPr lang="en-US" dirty="0"/>
              <a:t>Weighted Average Interaction Matrix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9DD324-A741-7337-5144-BA6B2CAF59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EEA3032-73D4-CCB3-B85C-21EAE51A5357}"/>
              </a:ext>
            </a:extLst>
          </p:cNvPr>
          <p:cNvSpPr/>
          <p:nvPr/>
        </p:nvSpPr>
        <p:spPr>
          <a:xfrm>
            <a:off x="6545938" y="151180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Neutrophil granulocyte - Servier Medical Art">
            <a:extLst>
              <a:ext uri="{FF2B5EF4-FFF2-40B4-BE49-F238E27FC236}">
                <a16:creationId xmlns:a16="http://schemas.microsoft.com/office/drawing/2014/main" id="{2CECCBC3-4B83-4675-0253-5519FAC52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4351" y="314015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9210E258-A65B-8C6D-FC43-F9E1140C5C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118863" y="433532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38" descr="Generated image">
            <a:extLst>
              <a:ext uri="{FF2B5EF4-FFF2-40B4-BE49-F238E27FC236}">
                <a16:creationId xmlns:a16="http://schemas.microsoft.com/office/drawing/2014/main" id="{B0932C09-F493-98AA-4FDC-BB1D3DD6F6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972493" y="560106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38" descr="Generated image">
            <a:extLst>
              <a:ext uri="{FF2B5EF4-FFF2-40B4-BE49-F238E27FC236}">
                <a16:creationId xmlns:a16="http://schemas.microsoft.com/office/drawing/2014/main" id="{1FE37BBD-A850-8A26-0E0B-A7A5B838A2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389891" y="305351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877098CF-8541-F5CE-7DC4-7FF87615F463}"/>
              </a:ext>
            </a:extLst>
          </p:cNvPr>
          <p:cNvSpPr/>
          <p:nvPr/>
        </p:nvSpPr>
        <p:spPr>
          <a:xfrm>
            <a:off x="7002045" y="2710257"/>
            <a:ext cx="188970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Weight (2.5)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BA41B7-625D-3F96-B6BB-8E062E3D2E81}"/>
              </a:ext>
            </a:extLst>
          </p:cNvPr>
          <p:cNvCxnSpPr>
            <a:cxnSpLocks/>
          </p:cNvCxnSpPr>
          <p:nvPr/>
        </p:nvCxnSpPr>
        <p:spPr>
          <a:xfrm flipH="1">
            <a:off x="7570099" y="349325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86B0117-F040-4AEB-C921-0424AA9644A7}"/>
              </a:ext>
            </a:extLst>
          </p:cNvPr>
          <p:cNvCxnSpPr>
            <a:cxnSpLocks/>
          </p:cNvCxnSpPr>
          <p:nvPr/>
        </p:nvCxnSpPr>
        <p:spPr>
          <a:xfrm flipH="1">
            <a:off x="7972493" y="326720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4F5CD7F-3ED5-B761-4773-CBF418F031FE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8274328" y="364565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5C10E5E-4435-E54F-0FD9-2EB7081EAC2E}"/>
              </a:ext>
            </a:extLst>
          </p:cNvPr>
          <p:cNvSpPr/>
          <p:nvPr/>
        </p:nvSpPr>
        <p:spPr>
          <a:xfrm>
            <a:off x="5543156" y="4030478"/>
            <a:ext cx="2075063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Lower Weight (0.6)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FFE403B-B0D3-23A9-48F2-97BAAD6376F6}"/>
              </a:ext>
            </a:extLst>
          </p:cNvPr>
          <p:cNvSpPr/>
          <p:nvPr/>
        </p:nvSpPr>
        <p:spPr>
          <a:xfrm>
            <a:off x="8682936" y="561007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70D7F84-69FF-679F-33A2-931C8663E526}"/>
              </a:ext>
            </a:extLst>
          </p:cNvPr>
          <p:cNvSpPr/>
          <p:nvPr/>
        </p:nvSpPr>
        <p:spPr>
          <a:xfrm>
            <a:off x="682705" y="142365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9" name="Picture 78" descr="Neutrophil granulocyte - Servier Medical Art">
            <a:extLst>
              <a:ext uri="{FF2B5EF4-FFF2-40B4-BE49-F238E27FC236}">
                <a16:creationId xmlns:a16="http://schemas.microsoft.com/office/drawing/2014/main" id="{D400354B-0840-8321-D8E5-C71718052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118" y="305200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38" descr="Generated image">
            <a:extLst>
              <a:ext uri="{FF2B5EF4-FFF2-40B4-BE49-F238E27FC236}">
                <a16:creationId xmlns:a16="http://schemas.microsoft.com/office/drawing/2014/main" id="{1B43D1B9-FE3A-E657-46D8-D42DED4186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255630" y="424717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38" descr="Generated image">
            <a:extLst>
              <a:ext uri="{FF2B5EF4-FFF2-40B4-BE49-F238E27FC236}">
                <a16:creationId xmlns:a16="http://schemas.microsoft.com/office/drawing/2014/main" id="{9F194E9D-228D-60E1-6E27-110FA59D98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09260" y="551291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38" descr="Generated image">
            <a:extLst>
              <a:ext uri="{FF2B5EF4-FFF2-40B4-BE49-F238E27FC236}">
                <a16:creationId xmlns:a16="http://schemas.microsoft.com/office/drawing/2014/main" id="{EC554060-2563-DB37-D169-B0D0CD56E1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526658" y="296536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D3BCE50A-0EF1-0884-D4C7-8CF9436A5085}"/>
              </a:ext>
            </a:extLst>
          </p:cNvPr>
          <p:cNvSpPr/>
          <p:nvPr/>
        </p:nvSpPr>
        <p:spPr>
          <a:xfrm>
            <a:off x="1138812" y="2622107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CE6D3EF-5B87-2C21-8E5C-8D556ABE76A6}"/>
              </a:ext>
            </a:extLst>
          </p:cNvPr>
          <p:cNvCxnSpPr>
            <a:cxnSpLocks/>
          </p:cNvCxnSpPr>
          <p:nvPr/>
        </p:nvCxnSpPr>
        <p:spPr>
          <a:xfrm flipH="1">
            <a:off x="1706866" y="340510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B8AF816-6D51-33C8-3A6F-1EC5A9796F6A}"/>
              </a:ext>
            </a:extLst>
          </p:cNvPr>
          <p:cNvCxnSpPr>
            <a:cxnSpLocks/>
          </p:cNvCxnSpPr>
          <p:nvPr/>
        </p:nvCxnSpPr>
        <p:spPr>
          <a:xfrm flipH="1">
            <a:off x="2109260" y="317905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485AA3F-2EA0-18CD-20B2-F53A84D71AF5}"/>
              </a:ext>
            </a:extLst>
          </p:cNvPr>
          <p:cNvCxnSpPr>
            <a:cxnSpLocks/>
            <a:endCxn id="81" idx="0"/>
          </p:cNvCxnSpPr>
          <p:nvPr/>
        </p:nvCxnSpPr>
        <p:spPr>
          <a:xfrm flipH="1">
            <a:off x="2411095" y="355750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0A9A877-6268-DF56-55B5-70BD5645157A}"/>
              </a:ext>
            </a:extLst>
          </p:cNvPr>
          <p:cNvSpPr/>
          <p:nvPr/>
        </p:nvSpPr>
        <p:spPr>
          <a:xfrm>
            <a:off x="335584" y="3934201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55974A6-DE24-2CB4-A582-58F3580F2FA6}"/>
              </a:ext>
            </a:extLst>
          </p:cNvPr>
          <p:cNvSpPr/>
          <p:nvPr/>
        </p:nvSpPr>
        <p:spPr>
          <a:xfrm>
            <a:off x="2819703" y="552192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698A45D-E9F6-BF5E-009B-6A40AF4A097E}"/>
              </a:ext>
            </a:extLst>
          </p:cNvPr>
          <p:cNvSpPr/>
          <p:nvPr/>
        </p:nvSpPr>
        <p:spPr>
          <a:xfrm>
            <a:off x="1658532" y="1046830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Current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BC120A1-7D06-6FFA-D1E4-2B1EAF4D8995}"/>
              </a:ext>
            </a:extLst>
          </p:cNvPr>
          <p:cNvSpPr/>
          <p:nvPr/>
        </p:nvSpPr>
        <p:spPr>
          <a:xfrm>
            <a:off x="7509332" y="1085628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Proposed</a:t>
            </a:r>
          </a:p>
        </p:txBody>
      </p:sp>
    </p:spTree>
    <p:extLst>
      <p:ext uri="{BB962C8B-B14F-4D97-AF65-F5344CB8AC3E}">
        <p14:creationId xmlns:p14="http://schemas.microsoft.com/office/powerpoint/2010/main" val="164057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6638-CFC9-29AA-B2D8-B7730B69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65DF7-25F9-5ED2-0A7D-979FEDE0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Directions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32924-7525-7575-5546-5CC8AE6469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555C5F6-97F6-5DAE-CC1A-A88C557B93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47148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Look for tumor-PMN interactions on genes found in Lit review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mRNA: STAT3, IL10, </a:t>
            </a:r>
            <a:r>
              <a:rPr lang="en-US" b="1" dirty="0"/>
              <a:t>PDCD1, CD274, PDCD1LG2</a:t>
            </a: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Protein: PD1, PDL1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Question: Could expression of these genes along the border predict response status?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Distance weighted function for colocalization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Cells within ~30 um get some weight. So, a cell 5 um away gets more weight than a cell ~30 um away instead. Currently all cells within radius/top 6 have equal weight.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Subdivide and compare within samples (grids mentioned last week)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Mapping protein to mRNA.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Will only be feasible for some samples. 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025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5127</TotalTime>
  <Words>720</Words>
  <Application>Microsoft Office PowerPoint</Application>
  <PresentationFormat>Widescreen</PresentationFormat>
  <Paragraphs>108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Red Hat Display</vt:lpstr>
      <vt:lpstr>Red Hat Text</vt:lpstr>
      <vt:lpstr>Office Theme</vt:lpstr>
      <vt:lpstr>Week 6 Updates Shapiro</vt:lpstr>
      <vt:lpstr>Radial Distance – Example Methodology</vt:lpstr>
      <vt:lpstr>Choosing Radial Distances </vt:lpstr>
      <vt:lpstr>Choosing Radial Distances - Entire Dataset</vt:lpstr>
      <vt:lpstr>Choosing Radial Distance</vt:lpstr>
      <vt:lpstr>Delta Cell Interaction Percentages</vt:lpstr>
      <vt:lpstr>Box Plot of Cellular Neighborhood</vt:lpstr>
      <vt:lpstr>Box Plot of Delta Cellular Neighborhood</vt:lpstr>
      <vt:lpstr>Radial Colocalization Methodology </vt:lpstr>
      <vt:lpstr>21 Micron PMN-Cell Type Notable Findings</vt:lpstr>
      <vt:lpstr>Delta Cell Interaction Percentages</vt:lpstr>
      <vt:lpstr>Delta Matrix compared to overall frequency</vt:lpstr>
      <vt:lpstr>K Means Clustering – Delta Neighborhood</vt:lpstr>
      <vt:lpstr>K Means Clustering – Delta Neighborhood</vt:lpstr>
      <vt:lpstr>Distance Calculations Methodology</vt:lpstr>
      <vt:lpstr>PMN Distance to Immune and tumor cells</vt:lpstr>
      <vt:lpstr>Weighted Average Interaction Matrix</vt:lpstr>
      <vt:lpstr>Further Directions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9</cp:revision>
  <dcterms:created xsi:type="dcterms:W3CDTF">2025-06-03T19:55:18Z</dcterms:created>
  <dcterms:modified xsi:type="dcterms:W3CDTF">2025-06-26T22:00:49Z</dcterms:modified>
</cp:coreProperties>
</file>