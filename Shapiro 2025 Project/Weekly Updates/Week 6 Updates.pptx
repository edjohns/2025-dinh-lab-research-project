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sldIdLst>
    <p:sldId id="264" r:id="rId2"/>
    <p:sldId id="308" r:id="rId3"/>
    <p:sldId id="296" r:id="rId4"/>
    <p:sldId id="302" r:id="rId5"/>
    <p:sldId id="304" r:id="rId6"/>
    <p:sldId id="305" r:id="rId7"/>
    <p:sldId id="306" r:id="rId8"/>
    <p:sldId id="307" r:id="rId9"/>
    <p:sldId id="312" r:id="rId10"/>
    <p:sldId id="315" r:id="rId11"/>
    <p:sldId id="316" r:id="rId12"/>
    <p:sldId id="313" r:id="rId13"/>
    <p:sldId id="314" r:id="rId14"/>
    <p:sldId id="311" r:id="rId15"/>
    <p:sldId id="317" r:id="rId16"/>
    <p:sldId id="318" r:id="rId17"/>
    <p:sldId id="300" r:id="rId18"/>
    <p:sldId id="267" r:id="rId19"/>
    <p:sldId id="30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979"/>
    <p:restoredTop sz="96327"/>
  </p:normalViewPr>
  <p:slideViewPr>
    <p:cSldViewPr snapToGrid="0" snapToObjects="1">
      <p:cViewPr varScale="1">
        <p:scale>
          <a:sx n="152" d="100"/>
          <a:sy n="152" d="100"/>
        </p:scale>
        <p:origin x="156" y="1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C56D-A55E-4D77-4A20-2F357A05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5520E-AC78-288A-A318-B825E44B5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999F0-5810-538D-5B25-F13981EEC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4959A-C76D-EB4E-13F4-E3599C0F6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59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921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B13B-16E5-7631-2938-0F6C76865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56858-97C3-8FC6-2ED8-72D27B264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ED93C-A76F-4887-E381-A77868D77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08E99-19C1-7B42-1425-62E309CD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7577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delta matrix has far more significant values in general. This is because it removes a lot of variation caused by the overall prevalences of cells.</a:t>
            </a:r>
          </a:p>
          <a:p>
            <a:endParaRPr lang="en-US" dirty="0"/>
          </a:p>
          <a:p>
            <a:r>
              <a:rPr lang="en-US" dirty="0"/>
              <a:t>A positive value of t-statistic indicates that they are more common in responder groups.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3D370-371D-7537-BD63-87C6807CB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CD47D-415C-B7FE-629B-E9FB24F64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CECD4-6049-DB3F-C1F8-F116BAEBC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73FD4-86A2-9720-F8A7-303142100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27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2048F-B0CC-DF28-B82A-EEDB921F3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15ED-BC2E-D769-3EB7-0F2429E73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313BE-BE47-4A05-2104-4B13C313A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9E84B7-9211-668A-3DDA-32925DC674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4825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A1E74-7162-A78A-780E-B3CA942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BD965-5CAA-8682-6756-38293B989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13E6E-7D2D-5048-44E5-BBE23F31D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2536D-3003-1F8B-D46E-F75619646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9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852B8-4262-8D0B-4AEF-EE9C9654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9D9AD-CEFA-5D36-108D-77E71FBA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67AC6-F968-D60F-8598-5AED791F83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C4F54-ACC7-F43A-30F5-680D67239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140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95500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557742" y="1636367"/>
            <a:ext cx="45467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Everything in radius is counted equally.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 µm is the most common value used in literature.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17C9313-CEB5-C520-D57F-59A0759A5E8B}"/>
              </a:ext>
            </a:extLst>
          </p:cNvPr>
          <p:cNvCxnSpPr>
            <a:cxnSpLocks/>
            <a:endCxn id="9" idx="6"/>
          </p:cNvCxnSpPr>
          <p:nvPr/>
        </p:nvCxnSpPr>
        <p:spPr>
          <a:xfrm>
            <a:off x="3600844" y="3833929"/>
            <a:ext cx="204309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FA81F9-F0A5-8B1B-1683-388FD4ECB5D5}"/>
              </a:ext>
            </a:extLst>
          </p:cNvPr>
          <p:cNvSpPr/>
          <p:nvPr/>
        </p:nvSpPr>
        <p:spPr>
          <a:xfrm>
            <a:off x="4288221" y="3556701"/>
            <a:ext cx="950812" cy="1639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15 µm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38533"/>
            <a:ext cx="10896600" cy="517065"/>
          </a:xfrm>
        </p:spPr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B3476-18EC-2DAA-24B0-7C3D7D04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5181E4-CDCF-A972-E070-8709FD423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4B2F91-048D-6934-54AA-BCF1D611F1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E9E0A2-C19F-D476-C818-8BB7A197EA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637645"/>
          </a:xfrm>
        </p:spPr>
        <p:txBody>
          <a:bodyPr/>
          <a:lstStyle/>
          <a:p>
            <a:r>
              <a:rPr lang="en-US" dirty="0"/>
              <a:t>No set standard threshold, 15 µm is the most common one that I saw</a:t>
            </a:r>
          </a:p>
          <a:p>
            <a:r>
              <a:rPr lang="en-US" dirty="0"/>
              <a:t>Likely would need to validate that any findings are present or at least suggested in the 10 – 25 µm range. </a:t>
            </a:r>
          </a:p>
          <a:p>
            <a:r>
              <a:rPr lang="en-US" dirty="0"/>
              <a:t>An alternative method would be to use the “</a:t>
            </a:r>
            <a:r>
              <a:rPr lang="en-US" dirty="0" err="1"/>
              <a:t>delaunay</a:t>
            </a:r>
            <a:r>
              <a:rPr lang="en-US" dirty="0"/>
              <a:t>”. This matches each PMN to 6 cells. Similar number of matches ~10 microns.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51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AD96-D9E2-39D4-FD5C-4618B4905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1DF298-DCF6-4A14-FE15-75334416B1CA}"/>
              </a:ext>
            </a:extLst>
          </p:cNvPr>
          <p:cNvSpPr/>
          <p:nvPr/>
        </p:nvSpPr>
        <p:spPr>
          <a:xfrm>
            <a:off x="6968359" y="1147773"/>
            <a:ext cx="2844098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7E3CB4-4A6F-AD54-AD37-666CDB652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256" y="1950820"/>
            <a:ext cx="2850252" cy="420504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21B0A48-E204-3EA5-AAB3-B4186851D0CD}"/>
              </a:ext>
            </a:extLst>
          </p:cNvPr>
          <p:cNvSpPr/>
          <p:nvPr/>
        </p:nvSpPr>
        <p:spPr>
          <a:xfrm>
            <a:off x="2096729" y="1350651"/>
            <a:ext cx="2475271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Cellular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D6A659-AC2B-9F9E-13E9-DA64CE7F3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236" y="1867716"/>
            <a:ext cx="2903221" cy="4351021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B6A96A-FE00-657C-0C2B-728454E19DB3}"/>
              </a:ext>
            </a:extLst>
          </p:cNvPr>
          <p:cNvCxnSpPr/>
          <p:nvPr/>
        </p:nvCxnSpPr>
        <p:spPr>
          <a:xfrm>
            <a:off x="7598979" y="3001754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A423CEE-3EF7-33DF-2DBB-DAE1AA135E92}"/>
              </a:ext>
            </a:extLst>
          </p:cNvPr>
          <p:cNvCxnSpPr/>
          <p:nvPr/>
        </p:nvCxnSpPr>
        <p:spPr>
          <a:xfrm>
            <a:off x="7598979" y="2744251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3D8367D-8ECD-13C0-0BB0-4FFC033BD56E}"/>
              </a:ext>
            </a:extLst>
          </p:cNvPr>
          <p:cNvCxnSpPr/>
          <p:nvPr/>
        </p:nvCxnSpPr>
        <p:spPr>
          <a:xfrm>
            <a:off x="7644174" y="3344392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A74D9D-D99A-CB3F-BF30-5B0065C65F60}"/>
              </a:ext>
            </a:extLst>
          </p:cNvPr>
          <p:cNvCxnSpPr/>
          <p:nvPr/>
        </p:nvCxnSpPr>
        <p:spPr>
          <a:xfrm>
            <a:off x="7644174" y="5811170"/>
            <a:ext cx="211888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45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882390" y="19918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2705704-54B1-4EC0-E9B6-1E8E2DB5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1504" y="2877424"/>
            <a:ext cx="2461057" cy="368835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3973070" y="2522464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1085878" y="2522465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15A564-B3C6-4EA1-61B4-B2DA6D8A0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83" y="2877424"/>
            <a:ext cx="2615897" cy="38480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DB8AAE5-27F7-D823-5D2C-16A8E03D632F}"/>
              </a:ext>
            </a:extLst>
          </p:cNvPr>
          <p:cNvSpPr/>
          <p:nvPr/>
        </p:nvSpPr>
        <p:spPr>
          <a:xfrm>
            <a:off x="9273398" y="2522461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PMN&gt;75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65FB57-7CB6-6B79-2F18-9A6F0FF3A5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642" y="2867347"/>
            <a:ext cx="2553063" cy="362836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6789317" y="2522462"/>
            <a:ext cx="1275549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PMN&gt;50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B81F70-C88F-4105-33E9-26A259E61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2561" y="2837353"/>
            <a:ext cx="2779164" cy="368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D2B-8249-4CCD-91CC-F80329049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C9B82-BA6B-4F15-CA62-F4EA5495E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7B9A5E-10C7-17B0-77D5-819DEB327BF8}"/>
              </a:ext>
            </a:extLst>
          </p:cNvPr>
          <p:cNvSpPr/>
          <p:nvPr/>
        </p:nvSpPr>
        <p:spPr>
          <a:xfrm>
            <a:off x="3408907" y="1933514"/>
            <a:ext cx="5374186" cy="3430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 (PMN&gt;25)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74A15B-D75E-A23B-FD60-875AFE237832}"/>
              </a:ext>
            </a:extLst>
          </p:cNvPr>
          <p:cNvSpPr/>
          <p:nvPr/>
        </p:nvSpPr>
        <p:spPr>
          <a:xfrm>
            <a:off x="3069825" y="2522464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15 µm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BA6DE1-876F-83D6-4EF3-C5E597F15F44}"/>
              </a:ext>
            </a:extLst>
          </p:cNvPr>
          <p:cNvSpPr/>
          <p:nvPr/>
        </p:nvSpPr>
        <p:spPr>
          <a:xfrm>
            <a:off x="459548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µm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8F84AE-148F-A779-F19C-F53A66574DA9}"/>
              </a:ext>
            </a:extLst>
          </p:cNvPr>
          <p:cNvSpPr/>
          <p:nvPr/>
        </p:nvSpPr>
        <p:spPr>
          <a:xfrm>
            <a:off x="7910890" y="2516139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30 µm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4D14FB-9C90-6E7A-AD8B-743CC0777A93}"/>
              </a:ext>
            </a:extLst>
          </p:cNvPr>
          <p:cNvSpPr/>
          <p:nvPr/>
        </p:nvSpPr>
        <p:spPr>
          <a:xfrm>
            <a:off x="5461177" y="2522463"/>
            <a:ext cx="1651454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20 µm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6FD2C-F1B1-5564-0DD3-7D0EC9BFC8F0}"/>
              </a:ext>
            </a:extLst>
          </p:cNvPr>
          <p:cNvSpPr/>
          <p:nvPr/>
        </p:nvSpPr>
        <p:spPr>
          <a:xfrm>
            <a:off x="10166567" y="2522465"/>
            <a:ext cx="170267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45 µm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4496D-7AD2-0D4A-E63D-0527C2F82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7" y="2907160"/>
            <a:ext cx="2347685" cy="37361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716479-AF3F-4D00-7EF5-8699D280B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235" y="2953005"/>
            <a:ext cx="2441326" cy="3736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6D69F9-83A2-EF61-B72C-D1CF634634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561" y="2915926"/>
            <a:ext cx="2468053" cy="3827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2CC69CC-484E-37AF-6305-E392F0D6E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92614" y="2915926"/>
            <a:ext cx="2550948" cy="38366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1FFC3F-6D00-5996-C6F4-5800768078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8765" y="2907159"/>
            <a:ext cx="2418280" cy="368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6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3879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5157790"/>
            <a:ext cx="94593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NRs have fewer CD8 T-cells than Rs but are significantly more likely to interact with them relative to their frequency.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B0256-1D60-C50B-9C87-42C92266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7D6ACE-1CA9-23B8-929D-EC685322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CD8 and PMN interactions in non responders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494600-9682-4D94-7DA2-27AB4AC2C9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EF7F1B-15D2-5C1B-9402-42EDD2B07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5" y="1828084"/>
            <a:ext cx="4563845" cy="33434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F6DA745-5E96-7007-68D7-589E41146F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945" y="1751959"/>
            <a:ext cx="4453336" cy="350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59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0326-2802-031A-BCE9-20018D38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7088C0-9A56-4A7F-0350-0FB091A5D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High PMN Colocalization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439F2F-85A8-9B0D-142E-75E745063A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C3F3E7-3932-2CB6-4084-C0F4F364D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6" y="2324937"/>
            <a:ext cx="3901132" cy="30252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16584C-5112-D1C8-05BE-10DD97656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7348" y="2324938"/>
            <a:ext cx="4032161" cy="302527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9790AE4-80A1-61FA-8BF4-D494695C5642}"/>
              </a:ext>
            </a:extLst>
          </p:cNvPr>
          <p:cNvSpPr/>
          <p:nvPr/>
        </p:nvSpPr>
        <p:spPr>
          <a:xfrm>
            <a:off x="318463" y="2036905"/>
            <a:ext cx="2544554" cy="2081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 TMA1 Core 21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1871-A3E1-AC35-A79B-7A9FD548A15A}"/>
              </a:ext>
            </a:extLst>
          </p:cNvPr>
          <p:cNvSpPr/>
          <p:nvPr/>
        </p:nvSpPr>
        <p:spPr>
          <a:xfrm>
            <a:off x="4210444" y="2025393"/>
            <a:ext cx="2732690" cy="2081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Non-Responder TMA1 Core 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423A61-BFF5-E5E6-45CB-1FAFBFC7E78F}"/>
              </a:ext>
            </a:extLst>
          </p:cNvPr>
          <p:cNvSpPr txBox="1"/>
          <p:nvPr/>
        </p:nvSpPr>
        <p:spPr>
          <a:xfrm>
            <a:off x="8046719" y="2020186"/>
            <a:ext cx="307743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Both responder and non responder can have high neutrophil clustering. This is more common in the non-responder samples.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935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92F42-9927-2BB5-DE9B-4E47627D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DD2C53-2833-F24F-18E6-4E498BBEF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D85200-EA3B-FFF5-04D5-94AD04F133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3E8D52-9202-EB2C-8417-02C52C7B735F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66F83D-D384-5EB9-CAE0-81D5C263D196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pic>
        <p:nvPicPr>
          <p:cNvPr id="6" name="Picture 2" descr="Neutrophil granulocyte - Servier Medical Art">
            <a:extLst>
              <a:ext uri="{FF2B5EF4-FFF2-40B4-BE49-F238E27FC236}">
                <a16:creationId xmlns:a16="http://schemas.microsoft.com/office/drawing/2014/main" id="{690000B4-95B3-9ECA-B663-42BD395A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95" y="2246757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Neutrophil granulocyte - Servier Medical Art">
            <a:extLst>
              <a:ext uri="{FF2B5EF4-FFF2-40B4-BE49-F238E27FC236}">
                <a16:creationId xmlns:a16="http://schemas.microsoft.com/office/drawing/2014/main" id="{D04541F9-9FE5-99F5-E420-53E73640A5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3524" y="535426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Neutrophil granulocyte - Servier Medical Art">
            <a:extLst>
              <a:ext uri="{FF2B5EF4-FFF2-40B4-BE49-F238E27FC236}">
                <a16:creationId xmlns:a16="http://schemas.microsoft.com/office/drawing/2014/main" id="{BF0F93A0-8D49-919B-81D3-65D5CA61D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818" y="4408186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415F3ECD-2F28-1DB0-3BC3-41C4823D6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966" y="3598384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4" descr="Cancer cell - Free healthcare and medical icons">
            <a:extLst>
              <a:ext uri="{FF2B5EF4-FFF2-40B4-BE49-F238E27FC236}">
                <a16:creationId xmlns:a16="http://schemas.microsoft.com/office/drawing/2014/main" id="{44C81E7E-93E5-6D64-9990-99AC06437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48094" y="329123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34" descr="Cancer cell - Free healthcare and medical icons">
            <a:extLst>
              <a:ext uri="{FF2B5EF4-FFF2-40B4-BE49-F238E27FC236}">
                <a16:creationId xmlns:a16="http://schemas.microsoft.com/office/drawing/2014/main" id="{64DC1F6D-7EBA-92E3-0AA1-6D801B9A6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041604" y="339002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4" descr="Cancer cell - Free healthcare and medical icons">
            <a:extLst>
              <a:ext uri="{FF2B5EF4-FFF2-40B4-BE49-F238E27FC236}">
                <a16:creationId xmlns:a16="http://schemas.microsoft.com/office/drawing/2014/main" id="{1853EAAA-223B-785A-339E-3BEB94944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715272" y="463240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34" descr="Cancer cell - Free healthcare and medical icons">
            <a:extLst>
              <a:ext uri="{FF2B5EF4-FFF2-40B4-BE49-F238E27FC236}">
                <a16:creationId xmlns:a16="http://schemas.microsoft.com/office/drawing/2014/main" id="{4561A4F2-C26D-AAC8-DD52-17383CF95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03408" y="24897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4" descr="Cancer cell - Free healthcare and medical icons">
            <a:extLst>
              <a:ext uri="{FF2B5EF4-FFF2-40B4-BE49-F238E27FC236}">
                <a16:creationId xmlns:a16="http://schemas.microsoft.com/office/drawing/2014/main" id="{3D7E0C7F-2113-F1A0-ABA1-AD2752258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40694" y="538145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FE8B6A-B996-69BA-105B-AF37F19FF864}"/>
              </a:ext>
            </a:extLst>
          </p:cNvPr>
          <p:cNvCxnSpPr/>
          <p:nvPr/>
        </p:nvCxnSpPr>
        <p:spPr>
          <a:xfrm flipH="1" flipV="1">
            <a:off x="427756" y="2701041"/>
            <a:ext cx="466659" cy="5901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DDBDDF-1044-5FE1-0B9B-34411DE22C88}"/>
              </a:ext>
            </a:extLst>
          </p:cNvPr>
          <p:cNvCxnSpPr>
            <a:cxnSpLocks/>
          </p:cNvCxnSpPr>
          <p:nvPr/>
        </p:nvCxnSpPr>
        <p:spPr>
          <a:xfrm flipH="1" flipV="1">
            <a:off x="1388326" y="3674038"/>
            <a:ext cx="263360" cy="63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F83782-9E92-A214-79EA-232C7639BDE3}"/>
              </a:ext>
            </a:extLst>
          </p:cNvPr>
          <p:cNvCxnSpPr>
            <a:cxnSpLocks/>
          </p:cNvCxnSpPr>
          <p:nvPr/>
        </p:nvCxnSpPr>
        <p:spPr>
          <a:xfrm flipV="1">
            <a:off x="2224048" y="4660802"/>
            <a:ext cx="395188" cy="439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5F71F81-3EED-B2CA-9FE2-67BCF53A600D}"/>
              </a:ext>
            </a:extLst>
          </p:cNvPr>
          <p:cNvCxnSpPr>
            <a:cxnSpLocks/>
          </p:cNvCxnSpPr>
          <p:nvPr/>
        </p:nvCxnSpPr>
        <p:spPr>
          <a:xfrm>
            <a:off x="2115678" y="5158314"/>
            <a:ext cx="139826" cy="1959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" descr="Neutrophil granulocyte - Servier Medical Art">
            <a:extLst>
              <a:ext uri="{FF2B5EF4-FFF2-40B4-BE49-F238E27FC236}">
                <a16:creationId xmlns:a16="http://schemas.microsoft.com/office/drawing/2014/main" id="{374446D3-9B11-19BE-4F52-20E5B12B5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823" y="253437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Neutrophil granulocyte - Servier Medical Art">
            <a:extLst>
              <a:ext uri="{FF2B5EF4-FFF2-40B4-BE49-F238E27FC236}">
                <a16:creationId xmlns:a16="http://schemas.microsoft.com/office/drawing/2014/main" id="{98C71C0A-441F-B57E-FF9E-D8B5061E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1216" y="562437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Neutrophil granulocyte - Servier Medical Art">
            <a:extLst>
              <a:ext uri="{FF2B5EF4-FFF2-40B4-BE49-F238E27FC236}">
                <a16:creationId xmlns:a16="http://schemas.microsoft.com/office/drawing/2014/main" id="{92045AA5-0A4A-3CFF-909F-2D2017183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510" y="4678302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Neutrophil granulocyte - Servier Medical Art">
            <a:extLst>
              <a:ext uri="{FF2B5EF4-FFF2-40B4-BE49-F238E27FC236}">
                <a16:creationId xmlns:a16="http://schemas.microsoft.com/office/drawing/2014/main" id="{07049CFB-DF72-46E9-6D3A-7301E756C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7658" y="3868500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40EB981B-5831-1F73-4272-9DCF4C862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075786" y="356134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1C7BADFA-A651-0AC2-EAB0-275D287F4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269296" y="366014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CDACBD64-1357-419C-C5F2-9DF0FEEC9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2964" y="490252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34" descr="Cancer cell - Free healthcare and medical icons">
            <a:extLst>
              <a:ext uri="{FF2B5EF4-FFF2-40B4-BE49-F238E27FC236}">
                <a16:creationId xmlns:a16="http://schemas.microsoft.com/office/drawing/2014/main" id="{A8F00A5A-1A09-1815-6110-07CC0204B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1100" y="27599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34" descr="Cancer cell - Free healthcare and medical icons">
            <a:extLst>
              <a:ext uri="{FF2B5EF4-FFF2-40B4-BE49-F238E27FC236}">
                <a16:creationId xmlns:a16="http://schemas.microsoft.com/office/drawing/2014/main" id="{D9E1D67F-58CE-39A9-E1C5-5E777B2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868386" y="565156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3DE979-E7E6-4767-2117-DCC487ADCE4B}"/>
              </a:ext>
            </a:extLst>
          </p:cNvPr>
          <p:cNvCxnSpPr/>
          <p:nvPr/>
        </p:nvCxnSpPr>
        <p:spPr>
          <a:xfrm flipH="1" flipV="1">
            <a:off x="4655448" y="2971157"/>
            <a:ext cx="466659" cy="59018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FA60CFA-1430-5F61-AD04-EFA32B62DEEA}"/>
              </a:ext>
            </a:extLst>
          </p:cNvPr>
          <p:cNvCxnSpPr>
            <a:cxnSpLocks/>
          </p:cNvCxnSpPr>
          <p:nvPr/>
        </p:nvCxnSpPr>
        <p:spPr>
          <a:xfrm flipH="1">
            <a:off x="6211690" y="3358988"/>
            <a:ext cx="99287" cy="47122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02C71D-9A69-13A1-3D39-1328E13BC81E}"/>
              </a:ext>
            </a:extLst>
          </p:cNvPr>
          <p:cNvCxnSpPr>
            <a:cxnSpLocks/>
          </p:cNvCxnSpPr>
          <p:nvPr/>
        </p:nvCxnSpPr>
        <p:spPr>
          <a:xfrm flipV="1">
            <a:off x="7310646" y="4200377"/>
            <a:ext cx="100576" cy="432027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E55959F-37E0-0AF0-CE6F-1650081C4605}"/>
              </a:ext>
            </a:extLst>
          </p:cNvPr>
          <p:cNvCxnSpPr>
            <a:cxnSpLocks/>
          </p:cNvCxnSpPr>
          <p:nvPr/>
        </p:nvCxnSpPr>
        <p:spPr>
          <a:xfrm>
            <a:off x="6343370" y="5428430"/>
            <a:ext cx="139826" cy="195949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293E52D3-A3A8-4B1E-0A4E-0F20D4E22BAE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897763B-7137-370D-3C24-5A424925F905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5E6509-2C2F-B6F3-32EA-87932FC09515}"/>
              </a:ext>
            </a:extLst>
          </p:cNvPr>
          <p:cNvSpPr txBox="1"/>
          <p:nvPr/>
        </p:nvSpPr>
        <p:spPr>
          <a:xfrm>
            <a:off x="8431532" y="1751694"/>
            <a:ext cx="322233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Minimum Distance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shortest distance between each PMN and each target cell</a:t>
            </a:r>
          </a:p>
          <a:p>
            <a:endParaRPr lang="en-US" dirty="0"/>
          </a:p>
          <a:p>
            <a:r>
              <a:rPr lang="en-US" dirty="0"/>
              <a:t>Least Distance Pairwise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one-one pairs between PMN and target.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Limited to lesser cell counts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ex: ex if there is 4 PMN cells and 5 target cells there will be only 4 pairs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the Hungarian Algorithm to find least sum of distances  </a:t>
            </a:r>
          </a:p>
        </p:txBody>
      </p:sp>
    </p:spTree>
    <p:extLst>
      <p:ext uri="{BB962C8B-B14F-4D97-AF65-F5344CB8AC3E}">
        <p14:creationId xmlns:p14="http://schemas.microsoft.com/office/powerpoint/2010/main" val="2583388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A16E-200B-5670-8EEE-6BDDCA04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549228-3313-7489-D862-C410C6FD9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04981"/>
            <a:ext cx="10896600" cy="517065"/>
          </a:xfrm>
        </p:spPr>
        <p:txBody>
          <a:bodyPr/>
          <a:lstStyle/>
          <a:p>
            <a:r>
              <a:rPr lang="en-US" dirty="0"/>
              <a:t>PMN Distance Methodology – 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60AD0-A774-870A-F2DC-8D0CC0ADDE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DA5A0E-4404-1EF7-52D3-7177EFC5EB59}"/>
              </a:ext>
            </a:extLst>
          </p:cNvPr>
          <p:cNvSpPr/>
          <p:nvPr/>
        </p:nvSpPr>
        <p:spPr>
          <a:xfrm>
            <a:off x="878723" y="1914225"/>
            <a:ext cx="2838844" cy="3231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Minimum Distance Method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5BEAA7-DAEB-417C-C61A-3A9E6E7057C9}"/>
              </a:ext>
            </a:extLst>
          </p:cNvPr>
          <p:cNvSpPr/>
          <p:nvPr/>
        </p:nvSpPr>
        <p:spPr>
          <a:xfrm>
            <a:off x="5421182" y="1810808"/>
            <a:ext cx="2124027" cy="517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Distance Pairwise Method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2A921FD-D785-CECF-918A-1B12B2039723}"/>
              </a:ext>
            </a:extLst>
          </p:cNvPr>
          <p:cNvSpPr/>
          <p:nvPr/>
        </p:nvSpPr>
        <p:spPr>
          <a:xfrm>
            <a:off x="33994" y="1751694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7A880CB-9EC0-3957-C7BC-58DC6578D362}"/>
              </a:ext>
            </a:extLst>
          </p:cNvPr>
          <p:cNvSpPr/>
          <p:nvPr/>
        </p:nvSpPr>
        <p:spPr>
          <a:xfrm>
            <a:off x="4255208" y="1751693"/>
            <a:ext cx="4176323" cy="45795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8" descr="Generated image">
            <a:extLst>
              <a:ext uri="{FF2B5EF4-FFF2-40B4-BE49-F238E27FC236}">
                <a16:creationId xmlns:a16="http://schemas.microsoft.com/office/drawing/2014/main" id="{AFF6BF84-802D-CF3D-F4B9-9EA940D6F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51158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Neutrophil granulocyte - Servier Medical Art">
            <a:extLst>
              <a:ext uri="{FF2B5EF4-FFF2-40B4-BE49-F238E27FC236}">
                <a16:creationId xmlns:a16="http://schemas.microsoft.com/office/drawing/2014/main" id="{0F014FC7-1C59-6863-6F29-E553AB55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697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Neutrophil granulocyte - Servier Medical Art">
            <a:extLst>
              <a:ext uri="{FF2B5EF4-FFF2-40B4-BE49-F238E27FC236}">
                <a16:creationId xmlns:a16="http://schemas.microsoft.com/office/drawing/2014/main" id="{A81B73D7-C440-FCEB-8539-06A2D7B4D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584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38" descr="Generated image">
            <a:extLst>
              <a:ext uri="{FF2B5EF4-FFF2-40B4-BE49-F238E27FC236}">
                <a16:creationId xmlns:a16="http://schemas.microsoft.com/office/drawing/2014/main" id="{7D9834C0-0B6E-BF0F-46DB-9C743FD8D8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272005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38" descr="Generated image">
            <a:extLst>
              <a:ext uri="{FF2B5EF4-FFF2-40B4-BE49-F238E27FC236}">
                <a16:creationId xmlns:a16="http://schemas.microsoft.com/office/drawing/2014/main" id="{5D62F70E-62E5-4C7C-608E-6E6279DD3D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782339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Neutrophil granulocyte - Servier Medical Art">
            <a:extLst>
              <a:ext uri="{FF2B5EF4-FFF2-40B4-BE49-F238E27FC236}">
                <a16:creationId xmlns:a16="http://schemas.microsoft.com/office/drawing/2014/main" id="{0F124F04-9A32-A1EA-6DC5-1BB6DA384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004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Neutrophil granulocyte - Servier Medical Art">
            <a:extLst>
              <a:ext uri="{FF2B5EF4-FFF2-40B4-BE49-F238E27FC236}">
                <a16:creationId xmlns:a16="http://schemas.microsoft.com/office/drawing/2014/main" id="{5EA74109-A5EE-C214-680B-706383AAED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7594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Neutrophil granulocyte - Servier Medical Art">
            <a:extLst>
              <a:ext uri="{FF2B5EF4-FFF2-40B4-BE49-F238E27FC236}">
                <a16:creationId xmlns:a16="http://schemas.microsoft.com/office/drawing/2014/main" id="{711C18BA-510E-FC2F-6C4E-7B9D1804A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5640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Neutrophil granulocyte - Servier Medical Art">
            <a:extLst>
              <a:ext uri="{FF2B5EF4-FFF2-40B4-BE49-F238E27FC236}">
                <a16:creationId xmlns:a16="http://schemas.microsoft.com/office/drawing/2014/main" id="{F5624245-7D9B-8E3B-4ABB-3A256C203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487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8D7DF7C-3DD4-C387-98CF-FA16E9DB39AB}"/>
              </a:ext>
            </a:extLst>
          </p:cNvPr>
          <p:cNvCxnSpPr/>
          <p:nvPr/>
        </p:nvCxnSpPr>
        <p:spPr>
          <a:xfrm flipV="1">
            <a:off x="624314" y="3392132"/>
            <a:ext cx="252753" cy="3929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44E8DB-848B-83A9-40CA-2E5C117A6FE4}"/>
              </a:ext>
            </a:extLst>
          </p:cNvPr>
          <p:cNvCxnSpPr>
            <a:cxnSpLocks/>
          </p:cNvCxnSpPr>
          <p:nvPr/>
        </p:nvCxnSpPr>
        <p:spPr>
          <a:xfrm flipH="1" flipV="1">
            <a:off x="1107912" y="3280505"/>
            <a:ext cx="309470" cy="1465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3242BFB-56CE-E72E-84B7-74A6DE0B139D}"/>
              </a:ext>
            </a:extLst>
          </p:cNvPr>
          <p:cNvCxnSpPr>
            <a:stCxn id="40" idx="3"/>
          </p:cNvCxnSpPr>
          <p:nvPr/>
        </p:nvCxnSpPr>
        <p:spPr>
          <a:xfrm flipV="1">
            <a:off x="877067" y="4705111"/>
            <a:ext cx="875828" cy="679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2E514A1-4676-DC1F-49E3-4E72715171F8}"/>
              </a:ext>
            </a:extLst>
          </p:cNvPr>
          <p:cNvCxnSpPr/>
          <p:nvPr/>
        </p:nvCxnSpPr>
        <p:spPr>
          <a:xfrm flipV="1">
            <a:off x="1387366" y="4833064"/>
            <a:ext cx="479271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512C49D-48F9-9EEC-8FC5-2DC6103342C8}"/>
              </a:ext>
            </a:extLst>
          </p:cNvPr>
          <p:cNvCxnSpPr/>
          <p:nvPr/>
        </p:nvCxnSpPr>
        <p:spPr>
          <a:xfrm flipH="1" flipV="1">
            <a:off x="2122155" y="4833064"/>
            <a:ext cx="373127" cy="6205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1738E5-EEEE-E373-6368-E5186DEB85F4}"/>
              </a:ext>
            </a:extLst>
          </p:cNvPr>
          <p:cNvCxnSpPr>
            <a:endCxn id="22" idx="3"/>
          </p:cNvCxnSpPr>
          <p:nvPr/>
        </p:nvCxnSpPr>
        <p:spPr>
          <a:xfrm flipH="1" flipV="1">
            <a:off x="2228894" y="4704468"/>
            <a:ext cx="1409787" cy="3936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Picture 38" descr="Generated image">
            <a:extLst>
              <a:ext uri="{FF2B5EF4-FFF2-40B4-BE49-F238E27FC236}">
                <a16:creationId xmlns:a16="http://schemas.microsoft.com/office/drawing/2014/main" id="{C92CF7AC-E13E-17AA-5A42-1357D8C407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5013007" y="2994572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6" name="Picture 2" descr="Neutrophil granulocyte - Servier Medical Art">
            <a:extLst>
              <a:ext uri="{FF2B5EF4-FFF2-40B4-BE49-F238E27FC236}">
                <a16:creationId xmlns:a16="http://schemas.microsoft.com/office/drawing/2014/main" id="{7176D302-DC54-B580-AC47-1F7E8FAAA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546" y="379109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2" descr="Neutrophil granulocyte - Servier Medical Art">
            <a:extLst>
              <a:ext uri="{FF2B5EF4-FFF2-40B4-BE49-F238E27FC236}">
                <a16:creationId xmlns:a16="http://schemas.microsoft.com/office/drawing/2014/main" id="{3FD4F1E2-EFEF-534F-9CD7-3FBA290CE1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433" y="3263535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38" descr="Generated image">
            <a:extLst>
              <a:ext uri="{FF2B5EF4-FFF2-40B4-BE49-F238E27FC236}">
                <a16:creationId xmlns:a16="http://schemas.microsoft.com/office/drawing/2014/main" id="{A94D9EF3-FFC6-D559-8EFB-0F5CC0F60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533854" y="2524371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38" descr="Generated image">
            <a:extLst>
              <a:ext uri="{FF2B5EF4-FFF2-40B4-BE49-F238E27FC236}">
                <a16:creationId xmlns:a16="http://schemas.microsoft.com/office/drawing/2014/main" id="{243E4A2F-35F9-F931-4D0A-69300BA2B9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6044188" y="4500749"/>
            <a:ext cx="446555" cy="40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2" descr="Neutrophil granulocyte - Servier Medical Art">
            <a:extLst>
              <a:ext uri="{FF2B5EF4-FFF2-40B4-BE49-F238E27FC236}">
                <a16:creationId xmlns:a16="http://schemas.microsoft.com/office/drawing/2014/main" id="{8C50B497-36C3-653E-9738-30187C5A6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53" y="5453582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2" descr="Neutrophil granulocyte - Servier Medical Art">
            <a:extLst>
              <a:ext uri="{FF2B5EF4-FFF2-40B4-BE49-F238E27FC236}">
                <a16:creationId xmlns:a16="http://schemas.microsoft.com/office/drawing/2014/main" id="{BC1AAA14-5527-20CE-4947-50869CE76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443" y="5429779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2" name="Picture 2" descr="Neutrophil granulocyte - Servier Medical Art">
            <a:extLst>
              <a:ext uri="{FF2B5EF4-FFF2-40B4-BE49-F238E27FC236}">
                <a16:creationId xmlns:a16="http://schemas.microsoft.com/office/drawing/2014/main" id="{8F22FC82-7BAF-56AC-B228-876A80E5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7489" y="5060586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" descr="Neutrophil granulocyte - Servier Medical Art">
            <a:extLst>
              <a:ext uri="{FF2B5EF4-FFF2-40B4-BE49-F238E27FC236}">
                <a16:creationId xmlns:a16="http://schemas.microsoft.com/office/drawing/2014/main" id="{D030D32D-3F20-6E8D-946D-42C507409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3336" y="4576514"/>
            <a:ext cx="385580" cy="3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D11C1F01-788B-E231-1538-0BA596EA5AA1}"/>
              </a:ext>
            </a:extLst>
          </p:cNvPr>
          <p:cNvCxnSpPr/>
          <p:nvPr/>
        </p:nvCxnSpPr>
        <p:spPr>
          <a:xfrm flipV="1">
            <a:off x="4886163" y="3392132"/>
            <a:ext cx="252753" cy="392996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3B09BD6-C7B3-31E9-ADA2-F37F8A5F0813}"/>
              </a:ext>
            </a:extLst>
          </p:cNvPr>
          <p:cNvCxnSpPr>
            <a:cxnSpLocks/>
          </p:cNvCxnSpPr>
          <p:nvPr/>
        </p:nvCxnSpPr>
        <p:spPr>
          <a:xfrm flipH="1">
            <a:off x="6081013" y="2844099"/>
            <a:ext cx="489554" cy="454542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DCA0F4C-74B4-3654-664D-D095F2666A43}"/>
              </a:ext>
            </a:extLst>
          </p:cNvPr>
          <p:cNvCxnSpPr>
            <a:cxnSpLocks/>
          </p:cNvCxnSpPr>
          <p:nvPr/>
        </p:nvCxnSpPr>
        <p:spPr>
          <a:xfrm flipH="1" flipV="1">
            <a:off x="6384004" y="4852179"/>
            <a:ext cx="373127" cy="601403"/>
          </a:xfrm>
          <a:prstGeom prst="straightConnector1">
            <a:avLst/>
          </a:prstGeom>
          <a:ln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Right Brace 83">
            <a:extLst>
              <a:ext uri="{FF2B5EF4-FFF2-40B4-BE49-F238E27FC236}">
                <a16:creationId xmlns:a16="http://schemas.microsoft.com/office/drawing/2014/main" id="{1213BD66-1AFE-651A-204D-FA0816E845E4}"/>
              </a:ext>
            </a:extLst>
          </p:cNvPr>
          <p:cNvSpPr/>
          <p:nvPr/>
        </p:nvSpPr>
        <p:spPr>
          <a:xfrm rot="6433529">
            <a:off x="5379447" y="3306900"/>
            <a:ext cx="210261" cy="392996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BC75A34-9221-15FF-C8B5-90F5C2FF3602}"/>
              </a:ext>
            </a:extLst>
          </p:cNvPr>
          <p:cNvCxnSpPr>
            <a:cxnSpLocks/>
            <a:stCxn id="84" idx="1"/>
          </p:cNvCxnSpPr>
          <p:nvPr/>
        </p:nvCxnSpPr>
        <p:spPr>
          <a:xfrm>
            <a:off x="5453445" y="3603813"/>
            <a:ext cx="3230839" cy="926315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30D3FDB2-43CD-DECD-3353-28470E2A1AC1}"/>
              </a:ext>
            </a:extLst>
          </p:cNvPr>
          <p:cNvSpPr txBox="1"/>
          <p:nvPr/>
        </p:nvSpPr>
        <p:spPr>
          <a:xfrm>
            <a:off x="8797159" y="4452182"/>
            <a:ext cx="23468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Minimizing total distance means that the shortest distance isn’t necessarily used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34A78BC-8A6E-7C42-BCEE-0092D01A673C}"/>
              </a:ext>
            </a:extLst>
          </p:cNvPr>
          <p:cNvSpPr txBox="1"/>
          <p:nvPr/>
        </p:nvSpPr>
        <p:spPr>
          <a:xfrm>
            <a:off x="8558375" y="1776859"/>
            <a:ext cx="27296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cases when target cells are much fewer than PMN cells the least distance pairwise method produces shorter distance values</a:t>
            </a:r>
          </a:p>
        </p:txBody>
      </p:sp>
    </p:spTree>
    <p:extLst>
      <p:ext uri="{BB962C8B-B14F-4D97-AF65-F5344CB8AC3E}">
        <p14:creationId xmlns:p14="http://schemas.microsoft.com/office/powerpoint/2010/main" val="534742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699879" y="1765738"/>
            <a:ext cx="393507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The neighborhood and delta analysis produce similar analysis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Non responders have closer distances to CD8, Treg cells which aligns with the neighborhood analysis despite </a:t>
            </a:r>
            <a:r>
              <a:rPr lang="en-US" b="1" dirty="0"/>
              <a:t>higher CD8, Treg frequency</a:t>
            </a:r>
            <a:r>
              <a:rPr lang="en-US" dirty="0"/>
              <a:t> in responder groups.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BF2F4-0A20-4D74-8AE8-AC89C0408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98" y="1853655"/>
            <a:ext cx="7386670" cy="9526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D6F03D-C559-F165-F160-1CB1CB0940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98" y="2992194"/>
            <a:ext cx="7386670" cy="9632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730F57-00B9-AD29-0BDD-11CEEBDED7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299" y="4141358"/>
            <a:ext cx="7386670" cy="94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6300</TotalTime>
  <Words>775</Words>
  <Application>Microsoft Office PowerPoint</Application>
  <PresentationFormat>Widescreen</PresentationFormat>
  <Paragraphs>102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Red Hat Display</vt:lpstr>
      <vt:lpstr>Red Hat Text</vt:lpstr>
      <vt:lpstr>Office Theme</vt:lpstr>
      <vt:lpstr>Week 6 Updates Shapiro</vt:lpstr>
      <vt:lpstr>Radial Distance – Example Methodology</vt:lpstr>
      <vt:lpstr>Choosing Radial Distances </vt:lpstr>
      <vt:lpstr>Choosing Radial Distances - Entire Dataset</vt:lpstr>
      <vt:lpstr>Choosing Radial Distance</vt:lpstr>
      <vt:lpstr>Box Plot of Cellular Neighborhood</vt:lpstr>
      <vt:lpstr>Delta Cell Interaction Percentages</vt:lpstr>
      <vt:lpstr>Box Plot of Delta Cellular Neighborhood</vt:lpstr>
      <vt:lpstr>Statistical Significance (Two Tailed T Test)</vt:lpstr>
      <vt:lpstr>Statistical Significance (Two Tailed T Test)</vt:lpstr>
      <vt:lpstr>Statistical Significance (Two Tailed T Test)</vt:lpstr>
      <vt:lpstr>Select Box Plot Neighborhood Delta (Radius = 15 µm)</vt:lpstr>
      <vt:lpstr>High CD8 and PMN interactions in non responders</vt:lpstr>
      <vt:lpstr>Example of High PMN Colocalization </vt:lpstr>
      <vt:lpstr>PMN Distance Methodology – Example 1</vt:lpstr>
      <vt:lpstr>PMN Distance Methodology – Example 2</vt:lpstr>
      <vt:lpstr>PMN Distance to Immune and tumor cells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13</cp:revision>
  <dcterms:created xsi:type="dcterms:W3CDTF">2025-06-03T19:55:18Z</dcterms:created>
  <dcterms:modified xsi:type="dcterms:W3CDTF">2025-07-02T15:39:24Z</dcterms:modified>
</cp:coreProperties>
</file>