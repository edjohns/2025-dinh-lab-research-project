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64" r:id="rId2"/>
    <p:sldId id="321" r:id="rId3"/>
    <p:sldId id="308" r:id="rId4"/>
    <p:sldId id="296" r:id="rId5"/>
    <p:sldId id="302" r:id="rId6"/>
    <p:sldId id="306" r:id="rId7"/>
    <p:sldId id="320" r:id="rId8"/>
    <p:sldId id="305" r:id="rId9"/>
    <p:sldId id="307" r:id="rId10"/>
    <p:sldId id="312" r:id="rId11"/>
    <p:sldId id="313" r:id="rId12"/>
    <p:sldId id="319" r:id="rId13"/>
    <p:sldId id="315" r:id="rId14"/>
    <p:sldId id="316" r:id="rId15"/>
    <p:sldId id="314" r:id="rId16"/>
    <p:sldId id="322" r:id="rId17"/>
    <p:sldId id="317" r:id="rId18"/>
    <p:sldId id="318" r:id="rId19"/>
    <p:sldId id="300" r:id="rId20"/>
    <p:sldId id="267" r:id="rId21"/>
    <p:sldId id="30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79"/>
    <p:restoredTop sz="96327"/>
  </p:normalViewPr>
  <p:slideViewPr>
    <p:cSldViewPr snapToGrid="0" snapToObjects="1">
      <p:cViewPr>
        <p:scale>
          <a:sx n="75" d="100"/>
          <a:sy n="75" d="100"/>
        </p:scale>
        <p:origin x="45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0FCF-565A-B338-45F5-9FA0CF94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3120B-407B-D3EA-876A-DE7880106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C8CB4-6061-109A-0C13-9513C1CDB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478B8-001C-CC5E-76C4-D7B078F86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20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8C57-1A5C-8841-96B4-FBA73750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283B5-37A7-9C2A-F1B5-65A62C741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44759-2460-F3F3-A805-8CE142B34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literature there does not appear to be a set standard distance used. Most use values between 10-20 um. In the Cell Reports Medicine paper on HNSCC (https://www.sciencedirect.com/science/article/pii/S2666379125001739?ref=pdf_download&amp;fr=RR-2&amp;rr=955e97c87c6cb267) they defined proximal neighbors as within 15 um. In testing different TMA FOVs showed similar values between radial distances 10-20 um. Notably the PMN cells become https://www.sciencedirect.com/science/article/pii/S2666379125001739?ref=pdf_download&amp;fr=RR-2&amp;rr=955e97c87c6cb267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D0273-57DB-FB8E-6ACB-BE8318346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5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4C7E2-8E4D-6C05-E965-BE990D26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4A89D-AC0C-07E0-6C51-D09BD1328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AF5FC-9F08-B854-6480-D1D8D5E0C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7B86B-8BA7-C596-E959-39334B814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38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6B21-67A9-403D-8557-3F44B6C9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B0546-98F7-75C9-8C5C-C87A46D73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B5D1F-0522-99BF-8591-6FBC39A1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5072-E588-1AA6-9D51-05106FE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9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6B22-9C95-FB0B-AD79-71A74E51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1CAA-9D9F-029F-1B40-26C1554A6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6395C-BE2B-93B2-5AA2-CF8CF4920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C1850-D405-D4DB-05DD-595ACFDC0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89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686F-E970-0B33-E9F9-71EF40BC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71EDB-769D-B1C6-5F42-7E358D1F1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85FBF-7E59-985C-AD05-2BEE4569D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9DF43-4C63-FA37-5B70-556A1B85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65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934F-8883-D06F-6E94-1065935A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6FFA1-2FFA-08AE-B58B-64206FD52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4960-5C5C-8261-B173-07BC64A55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7175A-3042-6A8E-A312-9FA580141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99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delta matrix has far more significant values in general. This is because it removes a lot of variation caused by the overall prevalences of cells.</a:t>
            </a:r>
          </a:p>
          <a:p>
            <a:endParaRPr lang="en-US" dirty="0"/>
          </a:p>
          <a:p>
            <a:r>
              <a:rPr lang="en-US" dirty="0"/>
              <a:t>A positive value of t-statistic indicates that they are more common in responder groups.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21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29FC-0ED6-5861-41D4-78F21D39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F4957-A095-39D9-4AE0-907354ED5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3B4E-786D-81F1-BEC5-4E74AD834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0399F-5FFB-CE48-9F3F-F9F372C77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38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B159-7F20-609B-ED74-E7261CB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F6786-CD0D-3D72-6B6F-2853FC18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8D453-3164-33DC-2509-D1C6C5BA1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8D8E-9FE0-3ED0-0520-A25D1861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6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6B13B-16E5-7631-2938-0F6C7686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56858-97C3-8FC6-2ED8-72D27B264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D93C-A76F-4887-E381-A77868D77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08E99-19C1-7B42-1425-62E309CDB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57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3D370-371D-7537-BD63-87C6807C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CD47D-415C-B7FE-629B-E9FB24F64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CECD4-6049-DB3F-C1F8-F116BAEBC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73FD4-86A2-9720-F8A7-303142100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27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8B6FD-7971-A07C-B775-0592EB71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08224-AEE9-8822-9AB9-FC4928325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E78BA-F1ED-EE46-B412-21C19134B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DBC11-FBF7-691B-AD9E-D4B414EC7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53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1E74-7162-A78A-780E-B3CA942D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BD965-5CAA-8682-6756-38293B989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13E6E-7D2D-5048-44E5-BBE23F31D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2536D-3003-1F8B-D46E-F75619646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59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52B8-4262-8D0B-4AEF-EE9C9654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9D9AD-CEFA-5D36-108D-77E71FBAA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67AC6-F968-D60F-8598-5AED791F8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C4F54-ACC7-F43A-30F5-680D67239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14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9752-A749-4AAF-4E51-72FEE170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6E58C-FD57-6202-6E73-2809D8ECC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E0B22-D1F0-70F8-81D7-2F7FC50D7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BF02C-2A1A-8CFC-6682-C95114BEB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30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E3FD-6E55-F24B-A475-247FC6D7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F8693-C447-38FE-E3A0-295EAE10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8412-9D44-B26E-9C17-39621703C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B736-CC86-D589-91B3-030B8B908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9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6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B03B-F4E6-6BB1-9BB8-395673A5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2032591-2CD9-C506-8B34-17CA6555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C291C-9AF7-6C0C-EE6B-D51DB6C26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7F83F0-282B-047D-9EFA-2A5B6F7E9638}"/>
              </a:ext>
            </a:extLst>
          </p:cNvPr>
          <p:cNvSpPr/>
          <p:nvPr/>
        </p:nvSpPr>
        <p:spPr>
          <a:xfrm>
            <a:off x="300067" y="1643818"/>
            <a:ext cx="6767611" cy="393087"/>
          </a:xfrm>
          <a:prstGeom prst="roundRect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F0CBFA8-FD82-F1A9-154F-61C124EE6760}"/>
              </a:ext>
            </a:extLst>
          </p:cNvPr>
          <p:cNvSpPr txBox="1">
            <a:spLocks/>
          </p:cNvSpPr>
          <p:nvPr/>
        </p:nvSpPr>
        <p:spPr>
          <a:xfrm>
            <a:off x="490045" y="1641716"/>
            <a:ext cx="10830910" cy="5112169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Week 5 Review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Radial distance decisions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Delta matrix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Box Plots of cells Neutrophil neighborhood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Neighborhood Plot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Delta Neighborhood Plot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Statistical Significance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Neutrophil Distance Calculations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Methodology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Results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6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8674188" cy="517065"/>
          </a:xfrm>
        </p:spPr>
        <p:txBody>
          <a:bodyPr/>
          <a:lstStyle/>
          <a:p>
            <a:r>
              <a:rPr lang="en-US" dirty="0"/>
              <a:t>Radial Distance – Example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DBCD3-8905-834B-4852-0385E6D94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9810" y="2543671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45F3DB-E0A1-88C2-FB80-A987917C9F11}"/>
              </a:ext>
            </a:extLst>
          </p:cNvPr>
          <p:cNvSpPr/>
          <p:nvPr/>
        </p:nvSpPr>
        <p:spPr>
          <a:xfrm>
            <a:off x="1534392" y="1916730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Neutrophil granulocyte - Servier Medical Art">
            <a:extLst>
              <a:ext uri="{FF2B5EF4-FFF2-40B4-BE49-F238E27FC236}">
                <a16:creationId xmlns:a16="http://schemas.microsoft.com/office/drawing/2014/main" id="{06800C16-6DE4-7655-1CEC-8B974CAB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30" y="3430147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141587" y="4160137"/>
            <a:ext cx="885047" cy="80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E23C19-C638-14E9-F4D6-0D421C0645C9}"/>
              </a:ext>
            </a:extLst>
          </p:cNvPr>
          <p:cNvSpPr/>
          <p:nvPr/>
        </p:nvSpPr>
        <p:spPr>
          <a:xfrm>
            <a:off x="501298" y="43276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4" name="Picture 34" descr="Cancer cell - Free healthcare and medical icons">
            <a:extLst>
              <a:ext uri="{FF2B5EF4-FFF2-40B4-BE49-F238E27FC236}">
                <a16:creationId xmlns:a16="http://schemas.microsoft.com/office/drawing/2014/main" id="{6976E069-AA8F-14A4-E3D3-258EDB42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33381" y="4147170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Neutrophil granulocyte - Servier Medical Art">
            <a:extLst>
              <a:ext uri="{FF2B5EF4-FFF2-40B4-BE49-F238E27FC236}">
                <a16:creationId xmlns:a16="http://schemas.microsoft.com/office/drawing/2014/main" id="{2B37EFA6-E25C-25FA-5211-A51D0A77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960" y="5019574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E8610B2-CB07-012B-BE6B-66C571DD783E}"/>
              </a:ext>
            </a:extLst>
          </p:cNvPr>
          <p:cNvSpPr/>
          <p:nvPr/>
        </p:nvSpPr>
        <p:spPr>
          <a:xfrm>
            <a:off x="5239033" y="445419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29F08-C34A-BF23-749A-4AE2B55BE5EB}"/>
              </a:ext>
            </a:extLst>
          </p:cNvPr>
          <p:cNvSpPr/>
          <p:nvPr/>
        </p:nvSpPr>
        <p:spPr>
          <a:xfrm>
            <a:off x="3227230" y="3108740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6FC2E-BE5F-893F-FE98-43F418836409}"/>
              </a:ext>
            </a:extLst>
          </p:cNvPr>
          <p:cNvSpPr/>
          <p:nvPr/>
        </p:nvSpPr>
        <p:spPr>
          <a:xfrm>
            <a:off x="3227230" y="5771955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1A70A0A-FA15-E93A-1285-077C56A2C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678" y="3955007"/>
            <a:ext cx="3045093" cy="257904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6557742" y="1636367"/>
            <a:ext cx="4546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that PMN cells do not count themselves in this relationship to prevent double counting.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Everything in radius is counted equally.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 µm is the most common value used in literature.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7C9313-CEB5-C520-D57F-59A0759A5E8B}"/>
              </a:ext>
            </a:extLst>
          </p:cNvPr>
          <p:cNvCxnSpPr>
            <a:cxnSpLocks/>
            <a:endCxn id="9" idx="6"/>
          </p:cNvCxnSpPr>
          <p:nvPr/>
        </p:nvCxnSpPr>
        <p:spPr>
          <a:xfrm>
            <a:off x="3600844" y="3833929"/>
            <a:ext cx="20430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FA81F9-F0A5-8B1B-1683-388FD4ECB5D5}"/>
              </a:ext>
            </a:extLst>
          </p:cNvPr>
          <p:cNvSpPr/>
          <p:nvPr/>
        </p:nvSpPr>
        <p:spPr>
          <a:xfrm>
            <a:off x="4288221" y="3556701"/>
            <a:ext cx="950812" cy="1639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BC14-5B7F-B4A6-2480-584307F3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9BEE7C-B1F1-1010-A030-D1EF96AF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533"/>
            <a:ext cx="10896600" cy="517065"/>
          </a:xfrm>
        </p:spPr>
        <p:txBody>
          <a:bodyPr/>
          <a:lstStyle/>
          <a:p>
            <a:r>
              <a:rPr lang="en-US" dirty="0"/>
              <a:t>Choosing Radial Distances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DB565C1-5D73-F0EB-0380-29BDDA85225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8954855" y="1311459"/>
            <a:ext cx="2691849" cy="238125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63899-ED39-3A6F-78C2-F59080546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711" y="1317994"/>
            <a:ext cx="2691849" cy="2375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AFE26-B745-D462-1AEE-7917DB38B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036" y="1311460"/>
            <a:ext cx="2691849" cy="2369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341CE9-0AAB-EEC0-CA71-92EBF017B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237" y="4037318"/>
            <a:ext cx="2850774" cy="25277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201401-EDF0-5D1F-7879-69C8EECDA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993" y="4037318"/>
            <a:ext cx="2815473" cy="25277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1B5B2D-4FF3-CC12-A04B-63F42CA1B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1660" y="4037318"/>
            <a:ext cx="2833370" cy="25558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CDC036-5868-20D4-5DE8-A1237FE273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30" y="1311460"/>
            <a:ext cx="271051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8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6474-1B71-EC40-CE54-BDBD9609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5E11AE-7D23-9AC0-C9E7-DCB4A4F8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Radial Distances - Entire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5EE72-9724-7B3C-FB5D-E5411C0E1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203" y="1683759"/>
            <a:ext cx="2258805" cy="2061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AC36E3-01C9-3D98-5B77-01F021209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99" y="1683759"/>
            <a:ext cx="2204019" cy="20990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DE9D3E-DB56-A4F7-1EB2-6E47A5DBF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94" y="3968326"/>
            <a:ext cx="2204020" cy="23153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5FD5A46-7840-3C13-22F0-236A1CDD8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608" y="3968326"/>
            <a:ext cx="2404439" cy="22325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06CB67-3F65-9B88-7661-81677824F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6642" y="1683759"/>
            <a:ext cx="2426986" cy="2215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57409B-1FEA-7954-FA0F-4E679C4647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6642" y="3968326"/>
            <a:ext cx="2448801" cy="22382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56CC316-7FE6-3C8C-CEC6-7ECCFDC913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7614" y="1683759"/>
            <a:ext cx="2426986" cy="22357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A71935C-9DCB-2179-CBAD-9F90A9837F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2904" y="3979593"/>
            <a:ext cx="2416408" cy="22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1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FED1-4F3E-F8CC-25A3-3B68E9F8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7F4AE-3D1C-60FB-4AFA-302391A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Cell Interaction Percentages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7D7EB-A8D6-7ECC-0A44-8F2D19F54B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294527" cy="323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156BEA-CDFB-AFF4-05C2-45CE490DBAAE}"/>
              </a:ext>
            </a:extLst>
          </p:cNvPr>
          <p:cNvSpPr/>
          <p:nvPr/>
        </p:nvSpPr>
        <p:spPr>
          <a:xfrm>
            <a:off x="393285" y="2071719"/>
            <a:ext cx="304905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Neighboring Cells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B25B2-4820-F7F5-F320-A93BC56F49A5}"/>
              </a:ext>
            </a:extLst>
          </p:cNvPr>
          <p:cNvSpPr/>
          <p:nvPr/>
        </p:nvSpPr>
        <p:spPr>
          <a:xfrm>
            <a:off x="4682556" y="2071719"/>
            <a:ext cx="321912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Overall Sample Frequency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2C404-8ACC-B191-41CA-A27C8FCC1693}"/>
              </a:ext>
            </a:extLst>
          </p:cNvPr>
          <p:cNvSpPr/>
          <p:nvPr/>
        </p:nvSpPr>
        <p:spPr>
          <a:xfrm>
            <a:off x="3840479" y="2117981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F3D68-B4FB-8285-B420-1EBBFF675BDA}"/>
              </a:ext>
            </a:extLst>
          </p:cNvPr>
          <p:cNvSpPr/>
          <p:nvPr/>
        </p:nvSpPr>
        <p:spPr>
          <a:xfrm>
            <a:off x="8166735" y="2105515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27B0E-E635-F4C9-1C05-A322595C3FED}"/>
              </a:ext>
            </a:extLst>
          </p:cNvPr>
          <p:cNvSpPr/>
          <p:nvPr/>
        </p:nvSpPr>
        <p:spPr>
          <a:xfrm>
            <a:off x="8949557" y="2071719"/>
            <a:ext cx="2237654" cy="308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Matrix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D229C0-7859-1515-35AD-E8CBC6A7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4294527" y="2735966"/>
            <a:ext cx="4377989" cy="40432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F9AEC9-EA93-02CA-74D1-F58317DFF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8" y="2524788"/>
            <a:ext cx="3663562" cy="3273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A253B1-55D8-EEAE-6BC5-2C2587A8A735}"/>
              </a:ext>
            </a:extLst>
          </p:cNvPr>
          <p:cNvSpPr txBox="1"/>
          <p:nvPr/>
        </p:nvSpPr>
        <p:spPr>
          <a:xfrm>
            <a:off x="9005263" y="2735966"/>
            <a:ext cx="2011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PMN = 24.9 – 0.96 =24.16%</a:t>
            </a:r>
          </a:p>
          <a:p>
            <a:r>
              <a:rPr lang="en-US" dirty="0"/>
              <a:t>Tumor=-19.4%</a:t>
            </a:r>
          </a:p>
          <a:p>
            <a:r>
              <a:rPr lang="en-US" dirty="0"/>
              <a:t>Endo= - 8.1%</a:t>
            </a:r>
          </a:p>
          <a:p>
            <a:r>
              <a:rPr lang="en-US" dirty="0" err="1"/>
              <a:t>Etc</a:t>
            </a:r>
            <a:r>
              <a:rPr lang="en-US" dirty="0"/>
              <a:t>…..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B72F9D-4869-90B0-9AA1-3E5F25307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974" y="6557602"/>
            <a:ext cx="4207225" cy="2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04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E23CA-85EF-BC04-F529-B7581D9C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9BF92DD-85BE-8C65-D3BA-977B4E23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840B5-29E4-F805-E460-751273282B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F5F0DA-F0D0-8D32-36DC-ECBF7C9B1010}"/>
              </a:ext>
            </a:extLst>
          </p:cNvPr>
          <p:cNvSpPr/>
          <p:nvPr/>
        </p:nvSpPr>
        <p:spPr>
          <a:xfrm>
            <a:off x="300068" y="2838607"/>
            <a:ext cx="6835929" cy="393087"/>
          </a:xfrm>
          <a:prstGeom prst="roundRect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EFB08C-46D5-5D67-34A8-B7295BF490FE}"/>
              </a:ext>
            </a:extLst>
          </p:cNvPr>
          <p:cNvSpPr txBox="1">
            <a:spLocks/>
          </p:cNvSpPr>
          <p:nvPr/>
        </p:nvSpPr>
        <p:spPr>
          <a:xfrm>
            <a:off x="490045" y="1641716"/>
            <a:ext cx="10830910" cy="5112169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Week 5 Review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Radial distance decisions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Delta matrix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Box Plots of cells Neutrophil neighborhood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Neighborhood Plot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Delta Neighborhood Plot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Statistical Significance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Neutrophil Distance Calculations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Methodology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Results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4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4C1E-7DD1-26CA-C70E-04C2D400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C3E36F-F7C6-14B5-5C7B-2B6A63A7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Cellular Neighborhood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8A4331-9CD4-AFE9-735F-4BEB910D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9" y="702134"/>
            <a:ext cx="10634995" cy="60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0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4B6E-8BA6-46A3-239C-17B8FDDC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5FF4C5-250B-7C00-62A4-D997A1F3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Delta Cellular Neighborhood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35213-BF2A-164E-350E-0E0B8040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02134"/>
            <a:ext cx="10400803" cy="587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2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AD96-D9E2-39D4-FD5C-4618B490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91"/>
            <a:ext cx="10896600" cy="517065"/>
          </a:xfrm>
        </p:spPr>
        <p:txBody>
          <a:bodyPr/>
          <a:lstStyle/>
          <a:p>
            <a:r>
              <a:rPr lang="en-US" dirty="0"/>
              <a:t>Statistical Significance (Two Tailed T Test)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1DF298-DCF6-4A14-FE15-75334416B1CA}"/>
              </a:ext>
            </a:extLst>
          </p:cNvPr>
          <p:cNvSpPr/>
          <p:nvPr/>
        </p:nvSpPr>
        <p:spPr>
          <a:xfrm>
            <a:off x="6968359" y="1147773"/>
            <a:ext cx="2844098" cy="517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with overall frequency Matrix R vs NR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7E3CB4-4A6F-AD54-AD37-666CDB652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56" y="1950820"/>
            <a:ext cx="2850252" cy="42050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1B0A48-E204-3EA5-AAB3-B4186851D0CD}"/>
              </a:ext>
            </a:extLst>
          </p:cNvPr>
          <p:cNvSpPr/>
          <p:nvPr/>
        </p:nvSpPr>
        <p:spPr>
          <a:xfrm>
            <a:off x="2096729" y="1350651"/>
            <a:ext cx="2475271" cy="517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Cellular Frequency Matrix R vs NR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D6A659-AC2B-9F9E-13E9-DA64CE7F3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236" y="1867716"/>
            <a:ext cx="2903221" cy="43510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5AFF74-B782-44C8-148F-B56F37189B80}"/>
              </a:ext>
            </a:extLst>
          </p:cNvPr>
          <p:cNvSpPr/>
          <p:nvPr/>
        </p:nvSpPr>
        <p:spPr>
          <a:xfrm>
            <a:off x="6968359" y="5590409"/>
            <a:ext cx="2844098" cy="239636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5CCA53-20FE-5678-BEB1-DF9559C1A5A5}"/>
              </a:ext>
            </a:extLst>
          </p:cNvPr>
          <p:cNvSpPr/>
          <p:nvPr/>
        </p:nvSpPr>
        <p:spPr>
          <a:xfrm>
            <a:off x="6968359" y="2822027"/>
            <a:ext cx="2844098" cy="239636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F2F9A-3061-59E1-9B96-30DE90CF1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7240"/>
            <a:ext cx="10598547" cy="42912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744133" y="4741580"/>
            <a:ext cx="10598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Non-Responders have fewer CD8 T-cells than responders but are significantly more likely to interact with neutrophils relative to their frequency. (p=0.036)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neutrophils are also significantly more likely to interact with Treg cells than their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notable difference of neutrophil interaction with CD4 and DCs between NR and R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Note: DCs and </a:t>
            </a:r>
            <a:r>
              <a:rPr lang="en-US" dirty="0" err="1"/>
              <a:t>B_cells</a:t>
            </a:r>
            <a:r>
              <a:rPr lang="en-US" dirty="0"/>
              <a:t> are more common in responders but don’t interact with </a:t>
            </a:r>
            <a:r>
              <a:rPr lang="en-US" dirty="0" err="1"/>
              <a:t>pmns</a:t>
            </a:r>
            <a:r>
              <a:rPr lang="en-US" dirty="0"/>
              <a:t> more than responders. 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A1D2-818D-DB90-432B-A8CA5418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9ADD-BD3B-2645-51DC-4F1EBC35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78701-B4B8-E710-8DAB-F9310FDFABB2}"/>
              </a:ext>
            </a:extLst>
          </p:cNvPr>
          <p:cNvSpPr txBox="1"/>
          <p:nvPr/>
        </p:nvSpPr>
        <p:spPr>
          <a:xfrm>
            <a:off x="668458" y="4880317"/>
            <a:ext cx="94593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variation in neutrophil and tumor cells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 tumor interactions relative to overall frequency. Data is not significant (p=0.13)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clustering is slightly more common in non-responders, but variation is high (p=0.63)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05212-3F9B-EE73-CB02-EF81EDB77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37" y="984405"/>
            <a:ext cx="8484805" cy="389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20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9934-7DAA-A7BC-A33C-F716860A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DFA1-B69F-64C4-BC23-CCDD1DF3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91"/>
            <a:ext cx="10896600" cy="517065"/>
          </a:xfrm>
        </p:spPr>
        <p:txBody>
          <a:bodyPr/>
          <a:lstStyle/>
          <a:p>
            <a:r>
              <a:rPr lang="en-US" dirty="0"/>
              <a:t>Statistical Significance (Two Tailed T Test)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F37D0-905D-42E7-2BB8-E0F830B13B3C}"/>
              </a:ext>
            </a:extLst>
          </p:cNvPr>
          <p:cNvSpPr/>
          <p:nvPr/>
        </p:nvSpPr>
        <p:spPr>
          <a:xfrm>
            <a:off x="3228587" y="1911074"/>
            <a:ext cx="4427219" cy="346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with overall frequency Matrix R vs NR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705704-54B1-4EC0-E9B6-1E8E2DB5B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587" y="2998954"/>
            <a:ext cx="2461057" cy="36883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7E5FED-2A8A-14E2-6742-870503273646}"/>
              </a:ext>
            </a:extLst>
          </p:cNvPr>
          <p:cNvSpPr/>
          <p:nvPr/>
        </p:nvSpPr>
        <p:spPr>
          <a:xfrm>
            <a:off x="3973070" y="2522464"/>
            <a:ext cx="1275549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27FFF-A3F1-874D-823E-3ED977C6B2DB}"/>
              </a:ext>
            </a:extLst>
          </p:cNvPr>
          <p:cNvSpPr/>
          <p:nvPr/>
        </p:nvSpPr>
        <p:spPr>
          <a:xfrm>
            <a:off x="1085878" y="2522465"/>
            <a:ext cx="1275549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15A564-B3C6-4EA1-61B4-B2DA6D8A0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83" y="2877424"/>
            <a:ext cx="2615897" cy="38480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B8AAE5-27F7-D823-5D2C-16A8E03D632F}"/>
              </a:ext>
            </a:extLst>
          </p:cNvPr>
          <p:cNvSpPr/>
          <p:nvPr/>
        </p:nvSpPr>
        <p:spPr>
          <a:xfrm>
            <a:off x="9273398" y="2522461"/>
            <a:ext cx="1275549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PMN&gt;75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65FB57-7CB6-6B79-2F18-9A6F0FF3A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642" y="2867347"/>
            <a:ext cx="2553063" cy="362836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FFE458B-A89A-2AD4-35D6-5DA7B34B2603}"/>
              </a:ext>
            </a:extLst>
          </p:cNvPr>
          <p:cNvSpPr/>
          <p:nvPr/>
        </p:nvSpPr>
        <p:spPr>
          <a:xfrm>
            <a:off x="6789317" y="2522462"/>
            <a:ext cx="1275549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PMN&gt;50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B81F70-C88F-4105-33E9-26A259E61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561" y="2837353"/>
            <a:ext cx="2779164" cy="368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28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2D2B-8249-4CCD-91CC-F8032904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9B82-BA6B-4F15-CA62-F4EA5495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91"/>
            <a:ext cx="10896600" cy="517065"/>
          </a:xfrm>
        </p:spPr>
        <p:txBody>
          <a:bodyPr/>
          <a:lstStyle/>
          <a:p>
            <a:r>
              <a:rPr lang="en-US" dirty="0"/>
              <a:t>Statistical Significance (Two Tailed T Test)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7B9A5E-10C7-17B0-77D5-819DEB327BF8}"/>
              </a:ext>
            </a:extLst>
          </p:cNvPr>
          <p:cNvSpPr/>
          <p:nvPr/>
        </p:nvSpPr>
        <p:spPr>
          <a:xfrm>
            <a:off x="3408907" y="1933514"/>
            <a:ext cx="5374186" cy="343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with overall frequency Matrix R vs NR (PMN&gt;25)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4A15B-D75E-A23B-FD60-875AFE237832}"/>
              </a:ext>
            </a:extLst>
          </p:cNvPr>
          <p:cNvSpPr/>
          <p:nvPr/>
        </p:nvSpPr>
        <p:spPr>
          <a:xfrm>
            <a:off x="3069825" y="2522464"/>
            <a:ext cx="170267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Radius = 15 µm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A6DE1-876F-83D6-4EF3-C5E597F15F44}"/>
              </a:ext>
            </a:extLst>
          </p:cNvPr>
          <p:cNvSpPr/>
          <p:nvPr/>
        </p:nvSpPr>
        <p:spPr>
          <a:xfrm>
            <a:off x="459548" y="2522465"/>
            <a:ext cx="170267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Radius = 10 µm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F84AE-148F-A779-F19C-F53A66574DA9}"/>
              </a:ext>
            </a:extLst>
          </p:cNvPr>
          <p:cNvSpPr/>
          <p:nvPr/>
        </p:nvSpPr>
        <p:spPr>
          <a:xfrm>
            <a:off x="7910890" y="2516139"/>
            <a:ext cx="170267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Radius = 30 µm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4D14FB-9C90-6E7A-AD8B-743CC0777A93}"/>
              </a:ext>
            </a:extLst>
          </p:cNvPr>
          <p:cNvSpPr/>
          <p:nvPr/>
        </p:nvSpPr>
        <p:spPr>
          <a:xfrm>
            <a:off x="5461177" y="2522463"/>
            <a:ext cx="1651454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Radius = 20 µm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56FD2C-F1B1-5564-0DD3-7D0EC9BFC8F0}"/>
              </a:ext>
            </a:extLst>
          </p:cNvPr>
          <p:cNvSpPr/>
          <p:nvPr/>
        </p:nvSpPr>
        <p:spPr>
          <a:xfrm>
            <a:off x="10166567" y="2522465"/>
            <a:ext cx="170267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Radius = 45 µm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24496D-7AD2-0D4A-E63D-0527C2F82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" y="2907160"/>
            <a:ext cx="2347685" cy="37361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716479-AF3F-4D00-7EF5-8699D280B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235" y="2953005"/>
            <a:ext cx="2441326" cy="37361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6D69F9-83A2-EF61-B72C-D1CF63463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561" y="2915926"/>
            <a:ext cx="2468053" cy="38278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CC69CC-484E-37AF-6305-E392F0D6E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614" y="2915926"/>
            <a:ext cx="2550948" cy="38366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1FFC3F-6D00-5996-C6F4-5800768078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8765" y="2907159"/>
            <a:ext cx="2418280" cy="368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6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0256-1D60-C50B-9C87-42C92266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7D6ACE-1CA9-23B8-929D-EC685322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CD8 and PMN interactions in non responders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94600-9682-4D94-7DA2-27AB4AC2C9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F7F1B-15D2-5C1B-9402-42EDD2B07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5" y="1828084"/>
            <a:ext cx="4563845" cy="33434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6DA745-5E96-7007-68D7-589E41146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945" y="1751959"/>
            <a:ext cx="4453336" cy="350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59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564C-AA16-98A8-F129-50F6DDF8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79F4D1-7EE4-9072-D6F4-C69C89A6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7684D-15C6-C0FA-346C-E08F59CE9D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A9B831-B69B-A8B0-D93C-AA05FFDA6C54}"/>
              </a:ext>
            </a:extLst>
          </p:cNvPr>
          <p:cNvSpPr/>
          <p:nvPr/>
        </p:nvSpPr>
        <p:spPr>
          <a:xfrm>
            <a:off x="300067" y="4366408"/>
            <a:ext cx="6835929" cy="393087"/>
          </a:xfrm>
          <a:prstGeom prst="roundRect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3476F5-EC2F-4E5F-815E-FEE6A86AA99F}"/>
              </a:ext>
            </a:extLst>
          </p:cNvPr>
          <p:cNvSpPr txBox="1">
            <a:spLocks/>
          </p:cNvSpPr>
          <p:nvPr/>
        </p:nvSpPr>
        <p:spPr>
          <a:xfrm>
            <a:off x="490045" y="1641716"/>
            <a:ext cx="10830910" cy="5112169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Week 5 Review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Radial distance decisions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Delta matrix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Box Plots of cells Neutrophil neighborhood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Neighborhood Plot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Delta Neighborhood Plot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Statistical Significance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Neutrophil Distance Calculations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Methodology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Results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85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2F42-9927-2BB5-DE9B-4E47627D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DD2C53-2833-F24F-18E6-4E498BBEF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981"/>
            <a:ext cx="10896600" cy="517065"/>
          </a:xfrm>
        </p:spPr>
        <p:txBody>
          <a:bodyPr/>
          <a:lstStyle/>
          <a:p>
            <a:r>
              <a:rPr lang="en-US" dirty="0"/>
              <a:t>PMN Distance Methodology – Example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85200-EA3B-FFF5-04D5-94AD04F133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E8D52-9202-EB2C-8417-02C52C7B735F}"/>
              </a:ext>
            </a:extLst>
          </p:cNvPr>
          <p:cNvSpPr/>
          <p:nvPr/>
        </p:nvSpPr>
        <p:spPr>
          <a:xfrm>
            <a:off x="878723" y="1914225"/>
            <a:ext cx="2838844" cy="323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Minimum Distance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66F83D-D384-5EB9-CAE0-81D5C263D196}"/>
              </a:ext>
            </a:extLst>
          </p:cNvPr>
          <p:cNvSpPr/>
          <p:nvPr/>
        </p:nvSpPr>
        <p:spPr>
          <a:xfrm>
            <a:off x="5421182" y="1810808"/>
            <a:ext cx="2124027" cy="517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Least Distance Pairwise Method </a:t>
            </a:r>
          </a:p>
        </p:txBody>
      </p:sp>
      <p:pic>
        <p:nvPicPr>
          <p:cNvPr id="6" name="Picture 2" descr="Neutrophil granulocyte - Servier Medical Art">
            <a:extLst>
              <a:ext uri="{FF2B5EF4-FFF2-40B4-BE49-F238E27FC236}">
                <a16:creationId xmlns:a16="http://schemas.microsoft.com/office/drawing/2014/main" id="{690000B4-95B3-9ECA-B663-42BD395AA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5" y="2246757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Neutrophil granulocyte - Servier Medical Art">
            <a:extLst>
              <a:ext uri="{FF2B5EF4-FFF2-40B4-BE49-F238E27FC236}">
                <a16:creationId xmlns:a16="http://schemas.microsoft.com/office/drawing/2014/main" id="{D04541F9-9FE5-99F5-E420-53E73640A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524" y="5354263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Neutrophil granulocyte - Servier Medical Art">
            <a:extLst>
              <a:ext uri="{FF2B5EF4-FFF2-40B4-BE49-F238E27FC236}">
                <a16:creationId xmlns:a16="http://schemas.microsoft.com/office/drawing/2014/main" id="{BF0F93A0-8D49-919B-81D3-65D5CA61D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818" y="4408186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Neutrophil granulocyte - Servier Medical Art">
            <a:extLst>
              <a:ext uri="{FF2B5EF4-FFF2-40B4-BE49-F238E27FC236}">
                <a16:creationId xmlns:a16="http://schemas.microsoft.com/office/drawing/2014/main" id="{415F3ECD-2F28-1DB0-3BC3-41C4823D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966" y="3598384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4" descr="Cancer cell - Free healthcare and medical icons">
            <a:extLst>
              <a:ext uri="{FF2B5EF4-FFF2-40B4-BE49-F238E27FC236}">
                <a16:creationId xmlns:a16="http://schemas.microsoft.com/office/drawing/2014/main" id="{44C81E7E-93E5-6D64-9990-99AC06437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8094" y="3291230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4" descr="Cancer cell - Free healthcare and medical icons">
            <a:extLst>
              <a:ext uri="{FF2B5EF4-FFF2-40B4-BE49-F238E27FC236}">
                <a16:creationId xmlns:a16="http://schemas.microsoft.com/office/drawing/2014/main" id="{64DC1F6D-7EBA-92E3-0AA1-6D801B9A6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41604" y="3390029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4" descr="Cancer cell - Free healthcare and medical icons">
            <a:extLst>
              <a:ext uri="{FF2B5EF4-FFF2-40B4-BE49-F238E27FC236}">
                <a16:creationId xmlns:a16="http://schemas.microsoft.com/office/drawing/2014/main" id="{1853EAAA-223B-785A-339E-3BEB94944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15272" y="4632404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4" descr="Cancer cell - Free healthcare and medical icons">
            <a:extLst>
              <a:ext uri="{FF2B5EF4-FFF2-40B4-BE49-F238E27FC236}">
                <a16:creationId xmlns:a16="http://schemas.microsoft.com/office/drawing/2014/main" id="{4561A4F2-C26D-AAC8-DD52-17383CF95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03408" y="2489784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4" descr="Cancer cell - Free healthcare and medical icons">
            <a:extLst>
              <a:ext uri="{FF2B5EF4-FFF2-40B4-BE49-F238E27FC236}">
                <a16:creationId xmlns:a16="http://schemas.microsoft.com/office/drawing/2014/main" id="{3D7E0C7F-2113-F1A0-ABA1-AD2752258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40694" y="5381450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FE8B6A-B996-69BA-105B-AF37F19FF864}"/>
              </a:ext>
            </a:extLst>
          </p:cNvPr>
          <p:cNvCxnSpPr/>
          <p:nvPr/>
        </p:nvCxnSpPr>
        <p:spPr>
          <a:xfrm flipH="1" flipV="1">
            <a:off x="427756" y="2701041"/>
            <a:ext cx="466659" cy="5901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DDBDDF-1044-5FE1-0B9B-34411DE22C88}"/>
              </a:ext>
            </a:extLst>
          </p:cNvPr>
          <p:cNvCxnSpPr>
            <a:cxnSpLocks/>
          </p:cNvCxnSpPr>
          <p:nvPr/>
        </p:nvCxnSpPr>
        <p:spPr>
          <a:xfrm flipH="1" flipV="1">
            <a:off x="1388326" y="3674038"/>
            <a:ext cx="263360" cy="639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F83782-9E92-A214-79EA-232C7639BDE3}"/>
              </a:ext>
            </a:extLst>
          </p:cNvPr>
          <p:cNvCxnSpPr>
            <a:cxnSpLocks/>
          </p:cNvCxnSpPr>
          <p:nvPr/>
        </p:nvCxnSpPr>
        <p:spPr>
          <a:xfrm flipV="1">
            <a:off x="2224048" y="4660802"/>
            <a:ext cx="395188" cy="439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F71F81-3EED-B2CA-9FE2-67BCF53A600D}"/>
              </a:ext>
            </a:extLst>
          </p:cNvPr>
          <p:cNvCxnSpPr>
            <a:cxnSpLocks/>
          </p:cNvCxnSpPr>
          <p:nvPr/>
        </p:nvCxnSpPr>
        <p:spPr>
          <a:xfrm>
            <a:off x="2115678" y="5158314"/>
            <a:ext cx="139826" cy="1959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Neutrophil granulocyte - Servier Medical Art">
            <a:extLst>
              <a:ext uri="{FF2B5EF4-FFF2-40B4-BE49-F238E27FC236}">
                <a16:creationId xmlns:a16="http://schemas.microsoft.com/office/drawing/2014/main" id="{374446D3-9B11-19BE-4F52-20E5B12B5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823" y="2534373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Neutrophil granulocyte - Servier Medical Art">
            <a:extLst>
              <a:ext uri="{FF2B5EF4-FFF2-40B4-BE49-F238E27FC236}">
                <a16:creationId xmlns:a16="http://schemas.microsoft.com/office/drawing/2014/main" id="{98C71C0A-441F-B57E-FF9E-D8B5061E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216" y="5624379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Neutrophil granulocyte - Servier Medical Art">
            <a:extLst>
              <a:ext uri="{FF2B5EF4-FFF2-40B4-BE49-F238E27FC236}">
                <a16:creationId xmlns:a16="http://schemas.microsoft.com/office/drawing/2014/main" id="{92045AA5-0A4A-3CFF-909F-2D201718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510" y="4678302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Neutrophil granulocyte - Servier Medical Art">
            <a:extLst>
              <a:ext uri="{FF2B5EF4-FFF2-40B4-BE49-F238E27FC236}">
                <a16:creationId xmlns:a16="http://schemas.microsoft.com/office/drawing/2014/main" id="{07049CFB-DF72-46E9-6D3A-7301E756C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658" y="3868500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4" descr="Cancer cell - Free healthcare and medical icons">
            <a:extLst>
              <a:ext uri="{FF2B5EF4-FFF2-40B4-BE49-F238E27FC236}">
                <a16:creationId xmlns:a16="http://schemas.microsoft.com/office/drawing/2014/main" id="{40EB981B-5831-1F73-4272-9DCF4C862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75786" y="3561346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4" descr="Cancer cell - Free healthcare and medical icons">
            <a:extLst>
              <a:ext uri="{FF2B5EF4-FFF2-40B4-BE49-F238E27FC236}">
                <a16:creationId xmlns:a16="http://schemas.microsoft.com/office/drawing/2014/main" id="{1C7BADFA-A651-0AC2-EAB0-275D287F4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69296" y="3660145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4" descr="Cancer cell - Free healthcare and medical icons">
            <a:extLst>
              <a:ext uri="{FF2B5EF4-FFF2-40B4-BE49-F238E27FC236}">
                <a16:creationId xmlns:a16="http://schemas.microsoft.com/office/drawing/2014/main" id="{CDACBD64-1357-419C-C5F2-9DF0FEEC9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2964" y="4902520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4" descr="Cancer cell - Free healthcare and medical icons">
            <a:extLst>
              <a:ext uri="{FF2B5EF4-FFF2-40B4-BE49-F238E27FC236}">
                <a16:creationId xmlns:a16="http://schemas.microsoft.com/office/drawing/2014/main" id="{A8F00A5A-1A09-1815-6110-07CC0204B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31100" y="2759900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 descr="Cancer cell - Free healthcare and medical icons">
            <a:extLst>
              <a:ext uri="{FF2B5EF4-FFF2-40B4-BE49-F238E27FC236}">
                <a16:creationId xmlns:a16="http://schemas.microsoft.com/office/drawing/2014/main" id="{D9E1D67F-58CE-39A9-E1C5-5E777B219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68386" y="5651566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3DE979-E7E6-4767-2117-DCC487ADCE4B}"/>
              </a:ext>
            </a:extLst>
          </p:cNvPr>
          <p:cNvCxnSpPr/>
          <p:nvPr/>
        </p:nvCxnSpPr>
        <p:spPr>
          <a:xfrm flipH="1" flipV="1">
            <a:off x="4655448" y="2971157"/>
            <a:ext cx="466659" cy="590189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A60CFA-1430-5F61-AD04-EFA32B62DEEA}"/>
              </a:ext>
            </a:extLst>
          </p:cNvPr>
          <p:cNvCxnSpPr>
            <a:cxnSpLocks/>
          </p:cNvCxnSpPr>
          <p:nvPr/>
        </p:nvCxnSpPr>
        <p:spPr>
          <a:xfrm flipH="1">
            <a:off x="6211690" y="3358988"/>
            <a:ext cx="99287" cy="471226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02C71D-9A69-13A1-3D39-1328E13BC81E}"/>
              </a:ext>
            </a:extLst>
          </p:cNvPr>
          <p:cNvCxnSpPr>
            <a:cxnSpLocks/>
          </p:cNvCxnSpPr>
          <p:nvPr/>
        </p:nvCxnSpPr>
        <p:spPr>
          <a:xfrm flipV="1">
            <a:off x="7310646" y="4200377"/>
            <a:ext cx="100576" cy="432027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55959F-37E0-0AF0-CE6F-1650081C4605}"/>
              </a:ext>
            </a:extLst>
          </p:cNvPr>
          <p:cNvCxnSpPr>
            <a:cxnSpLocks/>
          </p:cNvCxnSpPr>
          <p:nvPr/>
        </p:nvCxnSpPr>
        <p:spPr>
          <a:xfrm>
            <a:off x="6343370" y="5428430"/>
            <a:ext cx="139826" cy="195949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93E52D3-A3A8-4B1E-0A4E-0F20D4E22BAE}"/>
              </a:ext>
            </a:extLst>
          </p:cNvPr>
          <p:cNvSpPr/>
          <p:nvPr/>
        </p:nvSpPr>
        <p:spPr>
          <a:xfrm>
            <a:off x="33994" y="1751694"/>
            <a:ext cx="4176323" cy="45795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97763B-7137-370D-3C24-5A424925F905}"/>
              </a:ext>
            </a:extLst>
          </p:cNvPr>
          <p:cNvSpPr/>
          <p:nvPr/>
        </p:nvSpPr>
        <p:spPr>
          <a:xfrm>
            <a:off x="4255208" y="1751693"/>
            <a:ext cx="4176323" cy="45795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5E6509-2C2F-B6F3-32EA-87932FC09515}"/>
              </a:ext>
            </a:extLst>
          </p:cNvPr>
          <p:cNvSpPr txBox="1"/>
          <p:nvPr/>
        </p:nvSpPr>
        <p:spPr>
          <a:xfrm>
            <a:off x="8431532" y="1751694"/>
            <a:ext cx="32223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Minimum Distance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Finds shortest distance between each PMN and each target cell</a:t>
            </a:r>
          </a:p>
          <a:p>
            <a:endParaRPr lang="en-US" dirty="0"/>
          </a:p>
          <a:p>
            <a:r>
              <a:rPr lang="en-US" dirty="0"/>
              <a:t>Least Distance Pairwise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Creates one-one pairs between PMN and target.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to lesser cell 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ex: ex if there is 4 PMN cells and 5 target cells there will be only 4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the Hungarian Algorithm to find least sum of distances  </a:t>
            </a:r>
          </a:p>
        </p:txBody>
      </p:sp>
    </p:spTree>
    <p:extLst>
      <p:ext uri="{BB962C8B-B14F-4D97-AF65-F5344CB8AC3E}">
        <p14:creationId xmlns:p14="http://schemas.microsoft.com/office/powerpoint/2010/main" val="2583388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A16E-200B-5670-8EEE-6BDDCA04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549228-3313-7489-D862-C410C6FD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981"/>
            <a:ext cx="10896600" cy="517065"/>
          </a:xfrm>
        </p:spPr>
        <p:txBody>
          <a:bodyPr/>
          <a:lstStyle/>
          <a:p>
            <a:r>
              <a:rPr lang="en-US" dirty="0"/>
              <a:t>PMN Distance Methodology – Example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60AD0-A774-870A-F2DC-8D0CC0ADDE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A5A0E-4404-1EF7-52D3-7177EFC5EB59}"/>
              </a:ext>
            </a:extLst>
          </p:cNvPr>
          <p:cNvSpPr/>
          <p:nvPr/>
        </p:nvSpPr>
        <p:spPr>
          <a:xfrm>
            <a:off x="878723" y="1914225"/>
            <a:ext cx="2838844" cy="323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Minimum Distance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5BEAA7-DAEB-417C-C61A-3A9E6E7057C9}"/>
              </a:ext>
            </a:extLst>
          </p:cNvPr>
          <p:cNvSpPr/>
          <p:nvPr/>
        </p:nvSpPr>
        <p:spPr>
          <a:xfrm>
            <a:off x="5421182" y="1810808"/>
            <a:ext cx="2124027" cy="517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Least Distance Pairwise Method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A921FD-D785-CECF-918A-1B12B2039723}"/>
              </a:ext>
            </a:extLst>
          </p:cNvPr>
          <p:cNvSpPr/>
          <p:nvPr/>
        </p:nvSpPr>
        <p:spPr>
          <a:xfrm>
            <a:off x="33994" y="1751694"/>
            <a:ext cx="4176323" cy="45795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A880CB-9EC0-3957-C7BC-58DC6578D362}"/>
              </a:ext>
            </a:extLst>
          </p:cNvPr>
          <p:cNvSpPr/>
          <p:nvPr/>
        </p:nvSpPr>
        <p:spPr>
          <a:xfrm>
            <a:off x="4255208" y="1751693"/>
            <a:ext cx="4176323" cy="45795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38" descr="Generated image">
            <a:extLst>
              <a:ext uri="{FF2B5EF4-FFF2-40B4-BE49-F238E27FC236}">
                <a16:creationId xmlns:a16="http://schemas.microsoft.com/office/drawing/2014/main" id="{AFF6BF84-802D-CF3D-F4B9-9EA940D6FC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751158" y="2994572"/>
            <a:ext cx="446555" cy="4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Neutrophil granulocyte - Servier Medical Art">
            <a:extLst>
              <a:ext uri="{FF2B5EF4-FFF2-40B4-BE49-F238E27FC236}">
                <a16:creationId xmlns:a16="http://schemas.microsoft.com/office/drawing/2014/main" id="{0F014FC7-1C59-6863-6F29-E553AB55D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97" y="3791099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Neutrophil granulocyte - Servier Medical Art">
            <a:extLst>
              <a:ext uri="{FF2B5EF4-FFF2-40B4-BE49-F238E27FC236}">
                <a16:creationId xmlns:a16="http://schemas.microsoft.com/office/drawing/2014/main" id="{A81B73D7-C440-FCEB-8539-06A2D7B4D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84" y="3263535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8" descr="Generated image">
            <a:extLst>
              <a:ext uri="{FF2B5EF4-FFF2-40B4-BE49-F238E27FC236}">
                <a16:creationId xmlns:a16="http://schemas.microsoft.com/office/drawing/2014/main" id="{7D9834C0-0B6E-BF0F-46DB-9C743FD8D8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272005" y="2524371"/>
            <a:ext cx="446555" cy="4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8" descr="Generated image">
            <a:extLst>
              <a:ext uri="{FF2B5EF4-FFF2-40B4-BE49-F238E27FC236}">
                <a16:creationId xmlns:a16="http://schemas.microsoft.com/office/drawing/2014/main" id="{5D62F70E-62E5-4C7C-608E-6E6279DD3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1782339" y="4500749"/>
            <a:ext cx="446555" cy="4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Neutrophil granulocyte - Servier Medical Art">
            <a:extLst>
              <a:ext uri="{FF2B5EF4-FFF2-40B4-BE49-F238E27FC236}">
                <a16:creationId xmlns:a16="http://schemas.microsoft.com/office/drawing/2014/main" id="{0F124F04-9A32-A1EA-6DC5-1BB6DA384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04" y="5453582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Neutrophil granulocyte - Servier Medical Art">
            <a:extLst>
              <a:ext uri="{FF2B5EF4-FFF2-40B4-BE49-F238E27FC236}">
                <a16:creationId xmlns:a16="http://schemas.microsoft.com/office/drawing/2014/main" id="{5EA74109-A5EE-C214-680B-706383AAE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594" y="5429779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Neutrophil granulocyte - Servier Medical Art">
            <a:extLst>
              <a:ext uri="{FF2B5EF4-FFF2-40B4-BE49-F238E27FC236}">
                <a16:creationId xmlns:a16="http://schemas.microsoft.com/office/drawing/2014/main" id="{711C18BA-510E-FC2F-6C4E-7B9D1804A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640" y="5060586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Neutrophil granulocyte - Servier Medical Art">
            <a:extLst>
              <a:ext uri="{FF2B5EF4-FFF2-40B4-BE49-F238E27FC236}">
                <a16:creationId xmlns:a16="http://schemas.microsoft.com/office/drawing/2014/main" id="{F5624245-7D9B-8E3B-4ABB-3A256C203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87" y="4576514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8D7DF7C-3DD4-C387-98CF-FA16E9DB39AB}"/>
              </a:ext>
            </a:extLst>
          </p:cNvPr>
          <p:cNvCxnSpPr/>
          <p:nvPr/>
        </p:nvCxnSpPr>
        <p:spPr>
          <a:xfrm flipV="1">
            <a:off x="624314" y="3392132"/>
            <a:ext cx="252753" cy="392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44E8DB-848B-83A9-40CA-2E5C117A6FE4}"/>
              </a:ext>
            </a:extLst>
          </p:cNvPr>
          <p:cNvCxnSpPr>
            <a:cxnSpLocks/>
          </p:cNvCxnSpPr>
          <p:nvPr/>
        </p:nvCxnSpPr>
        <p:spPr>
          <a:xfrm flipH="1" flipV="1">
            <a:off x="1107912" y="3280505"/>
            <a:ext cx="309470" cy="1465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3242BFB-56CE-E72E-84B7-74A6DE0B139D}"/>
              </a:ext>
            </a:extLst>
          </p:cNvPr>
          <p:cNvCxnSpPr>
            <a:stCxn id="40" idx="3"/>
          </p:cNvCxnSpPr>
          <p:nvPr/>
        </p:nvCxnSpPr>
        <p:spPr>
          <a:xfrm flipV="1">
            <a:off x="877067" y="4705111"/>
            <a:ext cx="875828" cy="679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E514A1-4676-DC1F-49E3-4E72715171F8}"/>
              </a:ext>
            </a:extLst>
          </p:cNvPr>
          <p:cNvCxnSpPr/>
          <p:nvPr/>
        </p:nvCxnSpPr>
        <p:spPr>
          <a:xfrm flipV="1">
            <a:off x="1387366" y="4833064"/>
            <a:ext cx="479271" cy="6205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512C49D-48F9-9EEC-8FC5-2DC6103342C8}"/>
              </a:ext>
            </a:extLst>
          </p:cNvPr>
          <p:cNvCxnSpPr/>
          <p:nvPr/>
        </p:nvCxnSpPr>
        <p:spPr>
          <a:xfrm flipH="1" flipV="1">
            <a:off x="2122155" y="4833064"/>
            <a:ext cx="373127" cy="6205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31738E5-EEEE-E373-6368-E5186DEB85F4}"/>
              </a:ext>
            </a:extLst>
          </p:cNvPr>
          <p:cNvCxnSpPr>
            <a:endCxn id="22" idx="3"/>
          </p:cNvCxnSpPr>
          <p:nvPr/>
        </p:nvCxnSpPr>
        <p:spPr>
          <a:xfrm flipH="1" flipV="1">
            <a:off x="2228894" y="4704468"/>
            <a:ext cx="1409787" cy="3936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38" descr="Generated image">
            <a:extLst>
              <a:ext uri="{FF2B5EF4-FFF2-40B4-BE49-F238E27FC236}">
                <a16:creationId xmlns:a16="http://schemas.microsoft.com/office/drawing/2014/main" id="{C92CF7AC-E13E-17AA-5A42-1357D8C40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5013007" y="2994572"/>
            <a:ext cx="446555" cy="4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Neutrophil granulocyte - Servier Medical Art">
            <a:extLst>
              <a:ext uri="{FF2B5EF4-FFF2-40B4-BE49-F238E27FC236}">
                <a16:creationId xmlns:a16="http://schemas.microsoft.com/office/drawing/2014/main" id="{7176D302-DC54-B580-AC47-1F7E8FAAA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46" y="3791099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Neutrophil granulocyte - Servier Medical Art">
            <a:extLst>
              <a:ext uri="{FF2B5EF4-FFF2-40B4-BE49-F238E27FC236}">
                <a16:creationId xmlns:a16="http://schemas.microsoft.com/office/drawing/2014/main" id="{3FD4F1E2-EFEF-534F-9CD7-3FBA290CE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433" y="3263535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38" descr="Generated image">
            <a:extLst>
              <a:ext uri="{FF2B5EF4-FFF2-40B4-BE49-F238E27FC236}">
                <a16:creationId xmlns:a16="http://schemas.microsoft.com/office/drawing/2014/main" id="{A94D9EF3-FFC6-D559-8EFB-0F5CC0F60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6533854" y="2524371"/>
            <a:ext cx="446555" cy="4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38" descr="Generated image">
            <a:extLst>
              <a:ext uri="{FF2B5EF4-FFF2-40B4-BE49-F238E27FC236}">
                <a16:creationId xmlns:a16="http://schemas.microsoft.com/office/drawing/2014/main" id="{243E4A2F-35F9-F931-4D0A-69300BA2B9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6044188" y="4500749"/>
            <a:ext cx="446555" cy="4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Neutrophil granulocyte - Servier Medical Art">
            <a:extLst>
              <a:ext uri="{FF2B5EF4-FFF2-40B4-BE49-F238E27FC236}">
                <a16:creationId xmlns:a16="http://schemas.microsoft.com/office/drawing/2014/main" id="{8C50B497-36C3-653E-9738-30187C5A6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853" y="5453582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Neutrophil granulocyte - Servier Medical Art">
            <a:extLst>
              <a:ext uri="{FF2B5EF4-FFF2-40B4-BE49-F238E27FC236}">
                <a16:creationId xmlns:a16="http://schemas.microsoft.com/office/drawing/2014/main" id="{BC1AAA14-5527-20CE-4947-50869CE76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443" y="5429779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Neutrophil granulocyte - Servier Medical Art">
            <a:extLst>
              <a:ext uri="{FF2B5EF4-FFF2-40B4-BE49-F238E27FC236}">
                <a16:creationId xmlns:a16="http://schemas.microsoft.com/office/drawing/2014/main" id="{8F22FC82-7BAF-56AC-B228-876A80E54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489" y="5060586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Neutrophil granulocyte - Servier Medical Art">
            <a:extLst>
              <a:ext uri="{FF2B5EF4-FFF2-40B4-BE49-F238E27FC236}">
                <a16:creationId xmlns:a16="http://schemas.microsoft.com/office/drawing/2014/main" id="{D030D32D-3F20-6E8D-946D-42C507409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36" y="4576514"/>
            <a:ext cx="385580" cy="3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11C1F01-788B-E231-1538-0BA596EA5AA1}"/>
              </a:ext>
            </a:extLst>
          </p:cNvPr>
          <p:cNvCxnSpPr/>
          <p:nvPr/>
        </p:nvCxnSpPr>
        <p:spPr>
          <a:xfrm flipV="1">
            <a:off x="4886163" y="3392132"/>
            <a:ext cx="252753" cy="392996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09BD6-C7B3-31E9-ADA2-F37F8A5F0813}"/>
              </a:ext>
            </a:extLst>
          </p:cNvPr>
          <p:cNvCxnSpPr>
            <a:cxnSpLocks/>
          </p:cNvCxnSpPr>
          <p:nvPr/>
        </p:nvCxnSpPr>
        <p:spPr>
          <a:xfrm flipH="1">
            <a:off x="6081013" y="2844099"/>
            <a:ext cx="489554" cy="454542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DCA0F4C-74B4-3654-664D-D095F2666A43}"/>
              </a:ext>
            </a:extLst>
          </p:cNvPr>
          <p:cNvCxnSpPr>
            <a:cxnSpLocks/>
          </p:cNvCxnSpPr>
          <p:nvPr/>
        </p:nvCxnSpPr>
        <p:spPr>
          <a:xfrm flipH="1" flipV="1">
            <a:off x="6384004" y="4852179"/>
            <a:ext cx="373127" cy="601403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Brace 83">
            <a:extLst>
              <a:ext uri="{FF2B5EF4-FFF2-40B4-BE49-F238E27FC236}">
                <a16:creationId xmlns:a16="http://schemas.microsoft.com/office/drawing/2014/main" id="{1213BD66-1AFE-651A-204D-FA0816E845E4}"/>
              </a:ext>
            </a:extLst>
          </p:cNvPr>
          <p:cNvSpPr/>
          <p:nvPr/>
        </p:nvSpPr>
        <p:spPr>
          <a:xfrm rot="6433529">
            <a:off x="5379447" y="3306900"/>
            <a:ext cx="210261" cy="392996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BC75A34-9221-15FF-C8B5-90F5C2FF3602}"/>
              </a:ext>
            </a:extLst>
          </p:cNvPr>
          <p:cNvCxnSpPr>
            <a:cxnSpLocks/>
            <a:stCxn id="84" idx="1"/>
          </p:cNvCxnSpPr>
          <p:nvPr/>
        </p:nvCxnSpPr>
        <p:spPr>
          <a:xfrm>
            <a:off x="5453445" y="3603813"/>
            <a:ext cx="3230839" cy="92631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0D3FDB2-43CD-DECD-3353-28470E2A1AC1}"/>
              </a:ext>
            </a:extLst>
          </p:cNvPr>
          <p:cNvSpPr txBox="1"/>
          <p:nvPr/>
        </p:nvSpPr>
        <p:spPr>
          <a:xfrm>
            <a:off x="8797159" y="4452182"/>
            <a:ext cx="2346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Minimizing total distance means that the shortest distance isn’t necessarily used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34A78BC-8A6E-7C42-BCEE-0092D01A673C}"/>
              </a:ext>
            </a:extLst>
          </p:cNvPr>
          <p:cNvSpPr txBox="1"/>
          <p:nvPr/>
        </p:nvSpPr>
        <p:spPr>
          <a:xfrm>
            <a:off x="8558375" y="1776859"/>
            <a:ext cx="2729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cases when target cells are much fewer than PMN cells the least distance pairwise method produces shorter distance values</a:t>
            </a:r>
          </a:p>
        </p:txBody>
      </p:sp>
    </p:spTree>
    <p:extLst>
      <p:ext uri="{BB962C8B-B14F-4D97-AF65-F5344CB8AC3E}">
        <p14:creationId xmlns:p14="http://schemas.microsoft.com/office/powerpoint/2010/main" val="534742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8D91-012F-A256-2B3C-B6E7051B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0065BA-B7C0-D459-FFB0-D191857D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PMN Distance to Immune and tumor cells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4E3FE-8D5F-F29F-79D5-714FEF910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40E71-0637-8554-89B5-4DF29A3F6395}"/>
              </a:ext>
            </a:extLst>
          </p:cNvPr>
          <p:cNvSpPr txBox="1"/>
          <p:nvPr/>
        </p:nvSpPr>
        <p:spPr>
          <a:xfrm>
            <a:off x="7699879" y="1765738"/>
            <a:ext cx="39350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No large differences in general. There are a lot of confounding factors.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neighborhood and delta analysis produce similar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Non responders have closer distances to CD8, Treg cells which aligns with the neighborhood analysis despite </a:t>
            </a:r>
            <a:r>
              <a:rPr lang="en-US" b="1" dirty="0"/>
              <a:t>higher CD8, Treg frequency</a:t>
            </a:r>
            <a:r>
              <a:rPr lang="en-US" dirty="0"/>
              <a:t> in responder groups.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7BF2F4-0A20-4D74-8AE8-AC89C040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98" y="1853655"/>
            <a:ext cx="7386670" cy="952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D6F03D-C559-F165-F160-1CB1CB094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98" y="2992194"/>
            <a:ext cx="7386670" cy="9632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730F57-00B9-AD29-0BDD-11CEEBDED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99" y="4141358"/>
            <a:ext cx="7386670" cy="94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47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AC6385-5A31-7159-5739-3C4DB571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C03825-6AD4-BA2A-66DA-FCF759FC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86F22-615A-5F08-D6AB-B056866683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8D4DC-42AB-12EC-3F02-0945E64A60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041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6615</TotalTime>
  <Words>805</Words>
  <Application>Microsoft Office PowerPoint</Application>
  <PresentationFormat>Widescreen</PresentationFormat>
  <Paragraphs>134</Paragraphs>
  <Slides>21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Red Hat Display</vt:lpstr>
      <vt:lpstr>Red Hat Text</vt:lpstr>
      <vt:lpstr>Office Theme</vt:lpstr>
      <vt:lpstr>Week 6 Updates Shapiro</vt:lpstr>
      <vt:lpstr>Agenda </vt:lpstr>
      <vt:lpstr>Radial Distance – Example Methodology</vt:lpstr>
      <vt:lpstr>Choosing Radial Distances </vt:lpstr>
      <vt:lpstr>Choosing Radial Distances - Entire Dataset</vt:lpstr>
      <vt:lpstr>Delta Cell Interaction Percentages</vt:lpstr>
      <vt:lpstr>Agenda </vt:lpstr>
      <vt:lpstr>Box Plot of Cellular Neighborhood</vt:lpstr>
      <vt:lpstr>Box Plot of Delta Cellular Neighborhood</vt:lpstr>
      <vt:lpstr>Statistical Significance (Two Tailed T Test)</vt:lpstr>
      <vt:lpstr>Select Box Plot Neighborhood Delta (Radius = 15 µm)</vt:lpstr>
      <vt:lpstr>Select Box Plot Neighborhood Delta (Radius = 15 µm)</vt:lpstr>
      <vt:lpstr>Statistical Significance (Two Tailed T Test)</vt:lpstr>
      <vt:lpstr>Statistical Significance (Two Tailed T Test)</vt:lpstr>
      <vt:lpstr>High CD8 and PMN interactions in non responders</vt:lpstr>
      <vt:lpstr>Agenda </vt:lpstr>
      <vt:lpstr>PMN Distance Methodology – Example 1</vt:lpstr>
      <vt:lpstr>PMN Distance Methodology – Example 2</vt:lpstr>
      <vt:lpstr>PMN Distance to Immune and tumor cells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15</cp:revision>
  <dcterms:created xsi:type="dcterms:W3CDTF">2025-06-03T19:55:18Z</dcterms:created>
  <dcterms:modified xsi:type="dcterms:W3CDTF">2025-07-02T20:58:55Z</dcterms:modified>
</cp:coreProperties>
</file>