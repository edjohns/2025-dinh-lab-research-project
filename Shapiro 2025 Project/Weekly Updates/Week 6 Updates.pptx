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sldIdLst>
    <p:sldId id="264" r:id="rId2"/>
    <p:sldId id="308" r:id="rId3"/>
    <p:sldId id="296" r:id="rId4"/>
    <p:sldId id="302" r:id="rId5"/>
    <p:sldId id="304" r:id="rId6"/>
    <p:sldId id="306" r:id="rId7"/>
    <p:sldId id="305" r:id="rId8"/>
    <p:sldId id="307" r:id="rId9"/>
    <p:sldId id="312" r:id="rId10"/>
    <p:sldId id="315" r:id="rId11"/>
    <p:sldId id="316" r:id="rId12"/>
    <p:sldId id="313" r:id="rId13"/>
    <p:sldId id="314" r:id="rId14"/>
    <p:sldId id="311" r:id="rId15"/>
    <p:sldId id="317" r:id="rId16"/>
    <p:sldId id="318" r:id="rId17"/>
    <p:sldId id="300" r:id="rId18"/>
    <p:sldId id="289" r:id="rId19"/>
    <p:sldId id="267" r:id="rId20"/>
    <p:sldId id="30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979"/>
    <p:restoredTop sz="96327"/>
  </p:normalViewPr>
  <p:slideViewPr>
    <p:cSldViewPr snapToGrid="0" snapToObjects="1">
      <p:cViewPr varScale="1">
        <p:scale>
          <a:sx n="152" d="100"/>
          <a:sy n="152" d="100"/>
        </p:scale>
        <p:origin x="156" y="1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EAEB4-4E3B-FD20-7A71-02897E2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17534-FDA7-60FA-9E57-ACC0B7682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436E2-7043-5F77-00A4-5A6E60D4A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A2913-3881-212C-6E1E-AC069B10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26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08C57-1A5C-8841-96B4-FBA73750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283B5-37A7-9C2A-F1B5-65A62C741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44759-2460-F3F3-A805-8CE142B34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literature there does not appear to be a set standard distance used. Most use values between 10-20 um. In the Cell Reports Medicine paper on HNSCC (https://www.sciencedirect.com/science/article/pii/S2666379125001739?ref=pdf_download&amp;fr=RR-2&amp;rr=955e97c87c6cb267) they defined proximal neighbors as within 15 um. In testing different TMA FOVs showed similar values between radial distances 10-20 um. Notably the PMN cells become https://www.sciencedirect.com/science/article/pii/S2666379125001739?ref=pdf_download&amp;fr=RR-2&amp;rr=955e97c87c6cb267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D0273-57DB-FB8E-6ACB-BE8318346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959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4C7E2-8E4D-6C05-E965-BE990D2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4A89D-AC0C-07E0-6C51-D09BD1328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6AF5FC-9F08-B854-6480-D1D8D5E0C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7B86B-8BA7-C596-E959-39334B814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938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C56D-A55E-4D77-4A20-2F357A055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5520E-AC78-288A-A318-B825E44B5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999F0-5810-538D-5B25-F13981EEC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4959A-C76D-EB4E-13F4-E3599C0F61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459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delta matrix has far more significant values in general. This is because it removes a lot of variation caused by the overall prevalences of cells.</a:t>
            </a:r>
          </a:p>
          <a:p>
            <a:endParaRPr lang="en-US" dirty="0"/>
          </a:p>
          <a:p>
            <a:r>
              <a:rPr lang="en-US" dirty="0"/>
              <a:t>A positive value of t-statistic indicates that they are more common in responder groups.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21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7B159-7F20-609B-ED74-E7261CB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F6786-CD0D-3D72-6B6F-2853FC184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8D453-3164-33DC-2509-D1C6C5BA1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delta matrix has far more significant values in general. This is because it removes a lot of variation caused by the overall prevalences of cells.</a:t>
            </a:r>
          </a:p>
          <a:p>
            <a:endParaRPr lang="en-US" dirty="0"/>
          </a:p>
          <a:p>
            <a:r>
              <a:rPr lang="en-US" dirty="0"/>
              <a:t>A positive value of t-statistic indicates that they are more common in responder groups.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78D8E-9FE0-3ED0-0520-A25D1861C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0768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B13B-16E5-7631-2938-0F6C76865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56858-97C3-8FC6-2ED8-72D27B264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ED93C-A76F-4887-E381-A77868D77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delta matrix has far more significant values in general. This is because it removes a lot of variation caused by the overall prevalences of cells.</a:t>
            </a:r>
          </a:p>
          <a:p>
            <a:endParaRPr lang="en-US" dirty="0"/>
          </a:p>
          <a:p>
            <a:r>
              <a:rPr lang="en-US" dirty="0"/>
              <a:t>A positive value of t-statistic indicates that they are more common in responder groups.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08E99-19C1-7B42-1425-62E309CD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7577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19-315C-08DF-7FA2-8FCEAB01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B3F32-B395-1B82-599A-9D635D03A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27B11-8D0D-E1A2-0AF6-C00547DD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delta matrix has far more significant values in general. This is because it removes a lot of variation caused by the overall prevalences of cells.</a:t>
            </a:r>
          </a:p>
          <a:p>
            <a:endParaRPr lang="en-US" dirty="0"/>
          </a:p>
          <a:p>
            <a:r>
              <a:rPr lang="en-US" dirty="0"/>
              <a:t>A positive value of t-statistic indicates that they are more common in responder groups.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09504-8821-037D-19FA-9E2D43568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99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D370-371D-7537-BD63-87C6807CB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CD47D-415C-B7FE-629B-E9FB24F64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CECD4-6049-DB3F-C1F8-F116BAEBC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473FD4-86A2-9720-F8A7-303142100A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27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2048F-B0CC-DF28-B82A-EEDB921F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B15ED-BC2E-D769-3EB7-0F2429E73D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2313BE-BE47-4A05-2104-4B13C313A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9E84B7-9211-668A-3DDA-32925DC67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4825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1E74-7162-A78A-780E-B3CA942D9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CBD965-5CAA-8682-6756-38293B989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13E6E-7D2D-5048-44E5-BBE23F31D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2536D-3003-1F8B-D46E-F75619646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859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852B8-4262-8D0B-4AEF-EE9C9654E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A9D9AD-CEFA-5D36-108D-77E71FBA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67AC6-F968-D60F-8598-5AED791F8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C4F54-ACC7-F43A-30F5-680D67239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140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49752-A749-4AAF-4E51-72FEE1708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6E58C-FD57-6202-6E73-2809D8ECC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E0B22-D1F0-70F8-81D7-2F7FC50D7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BF02C-2A1A-8CFC-6682-C95114BEB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309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B4AA4-55D7-1B97-25C1-7A89A58B7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28EB2-90D2-78D2-817E-F5D06B51ED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8CE49-6A8A-2B22-C9F0-CE454B51B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E2009-C772-D9B0-B832-D44FC6A7EE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3942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6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F2CA0-7C4B-7266-68A7-AF30FFEA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662B5F0-A2C9-B929-981B-53B5DF9B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8674188" cy="517065"/>
          </a:xfrm>
        </p:spPr>
        <p:txBody>
          <a:bodyPr/>
          <a:lstStyle/>
          <a:p>
            <a:r>
              <a:rPr lang="en-US" dirty="0"/>
              <a:t>Radial Distance – Example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DBCD3-8905-834B-4852-0385E6D940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09881E78-495E-EBD1-8C58-2E5A5BE870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19810" y="2543671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545F3DB-E0A1-88C2-FB80-A987917C9F11}"/>
              </a:ext>
            </a:extLst>
          </p:cNvPr>
          <p:cNvSpPr/>
          <p:nvPr/>
        </p:nvSpPr>
        <p:spPr>
          <a:xfrm>
            <a:off x="1534392" y="1916730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06800C16-6DE4-7655-1CEC-8B974CAB9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230" y="3430147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3F70CFFB-F63B-FC16-2F42-C4D43E0A96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41587" y="4160137"/>
            <a:ext cx="885047" cy="80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E23C19-C638-14E9-F4D6-0D421C0645C9}"/>
              </a:ext>
            </a:extLst>
          </p:cNvPr>
          <p:cNvSpPr/>
          <p:nvPr/>
        </p:nvSpPr>
        <p:spPr>
          <a:xfrm>
            <a:off x="501298" y="4327659"/>
            <a:ext cx="1261920" cy="253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</a:t>
            </a:r>
          </a:p>
        </p:txBody>
      </p:sp>
      <p:pic>
        <p:nvPicPr>
          <p:cNvPr id="14" name="Picture 34" descr="Cancer cell - Free healthcare and medical icons">
            <a:extLst>
              <a:ext uri="{FF2B5EF4-FFF2-40B4-BE49-F238E27FC236}">
                <a16:creationId xmlns:a16="http://schemas.microsoft.com/office/drawing/2014/main" id="{6976E069-AA8F-14A4-E3D3-258EDB427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233381" y="4147170"/>
            <a:ext cx="792042" cy="792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Neutrophil granulocyte - Servier Medical Art">
            <a:extLst>
              <a:ext uri="{FF2B5EF4-FFF2-40B4-BE49-F238E27FC236}">
                <a16:creationId xmlns:a16="http://schemas.microsoft.com/office/drawing/2014/main" id="{2B37EFA6-E25C-25FA-5211-A51D0A771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960" y="5019574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E8610B2-CB07-012B-BE6B-66C571DD783E}"/>
              </a:ext>
            </a:extLst>
          </p:cNvPr>
          <p:cNvSpPr/>
          <p:nvPr/>
        </p:nvSpPr>
        <p:spPr>
          <a:xfrm>
            <a:off x="5239033" y="4454194"/>
            <a:ext cx="1318709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F29F08-C34A-BF23-749A-4AE2B55BE5EB}"/>
              </a:ext>
            </a:extLst>
          </p:cNvPr>
          <p:cNvSpPr/>
          <p:nvPr/>
        </p:nvSpPr>
        <p:spPr>
          <a:xfrm>
            <a:off x="3227230" y="3108740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E6FC2E-BE5F-893F-FE98-43F418836409}"/>
              </a:ext>
            </a:extLst>
          </p:cNvPr>
          <p:cNvSpPr/>
          <p:nvPr/>
        </p:nvSpPr>
        <p:spPr>
          <a:xfrm>
            <a:off x="3227230" y="5771955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1A70A0A-FA15-E93A-1285-077C56A2C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1678" y="3955007"/>
            <a:ext cx="3045093" cy="257904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D13CF6-2C05-53A1-FF1B-2B3B32F0AACC}"/>
              </a:ext>
            </a:extLst>
          </p:cNvPr>
          <p:cNvSpPr txBox="1"/>
          <p:nvPr/>
        </p:nvSpPr>
        <p:spPr>
          <a:xfrm>
            <a:off x="6615211" y="2082006"/>
            <a:ext cx="45467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that PMN cells do not count themselves in this relationship to prevent double counting.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Everything in radius is counted equally.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7C9313-CEB5-C520-D57F-59A0759A5E8B}"/>
              </a:ext>
            </a:extLst>
          </p:cNvPr>
          <p:cNvCxnSpPr>
            <a:cxnSpLocks/>
            <a:endCxn id="9" idx="6"/>
          </p:cNvCxnSpPr>
          <p:nvPr/>
        </p:nvCxnSpPr>
        <p:spPr>
          <a:xfrm>
            <a:off x="3600844" y="3833929"/>
            <a:ext cx="204309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FA81F9-F0A5-8B1B-1683-388FD4ECB5D5}"/>
              </a:ext>
            </a:extLst>
          </p:cNvPr>
          <p:cNvSpPr/>
          <p:nvPr/>
        </p:nvSpPr>
        <p:spPr>
          <a:xfrm>
            <a:off x="4288221" y="3556701"/>
            <a:ext cx="950812" cy="1639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 µm</a:t>
            </a:r>
          </a:p>
        </p:txBody>
      </p:sp>
    </p:spTree>
    <p:extLst>
      <p:ext uri="{BB962C8B-B14F-4D97-AF65-F5344CB8AC3E}">
        <p14:creationId xmlns:p14="http://schemas.microsoft.com/office/powerpoint/2010/main" val="131004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BC14-5B7F-B4A6-2480-584307F3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9BEE7C-B1F1-1010-A030-D1EF96AF4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Distances 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DB565C1-5D73-F0EB-0380-29BDDA8522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8954855" y="1311459"/>
            <a:ext cx="2691849" cy="238125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663899-ED39-3A6F-78C2-F5908054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7711" y="1317994"/>
            <a:ext cx="2691849" cy="23750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AFE26-B745-D462-1AEE-7917DB38BF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036" y="1311460"/>
            <a:ext cx="2691849" cy="23699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341CE9-0AAB-EEC0-CA71-92EBF017BC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8237" y="4037318"/>
            <a:ext cx="2850774" cy="25277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201401-EDF0-5D1F-7879-69C8EECDAA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993" y="4037318"/>
            <a:ext cx="2815473" cy="25277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81B5B2D-4FF3-CC12-A04B-63F42CA1B3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91660" y="4037318"/>
            <a:ext cx="2833370" cy="255586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CDC036-5868-20D4-5DE8-A1237FE273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30" y="1311460"/>
            <a:ext cx="2710515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28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6474-1B71-EC40-CE54-BDBD96095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75E11AE-7D23-9AC0-C9E7-DCB4A4F8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Distances - Entire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E5EE72-9724-7B3C-FB5D-E5411C0E1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203" y="1683759"/>
            <a:ext cx="2258805" cy="2061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AC36E3-01C9-3D98-5B77-01F021209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9" y="1683759"/>
            <a:ext cx="2204019" cy="20990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DE9D3E-DB56-A4F7-1EB2-6E47A5DBF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994" y="3968326"/>
            <a:ext cx="2204020" cy="23153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5FD5A46-7840-3C13-22F0-236A1CDD85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608" y="3968326"/>
            <a:ext cx="2404439" cy="22325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B06CB67-3F65-9B88-7661-81677824F1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6642" y="1683759"/>
            <a:ext cx="2426986" cy="22151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357409B-1FEA-7954-FA0F-4E679C4647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6642" y="3968326"/>
            <a:ext cx="2448801" cy="22382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56CC316-7FE6-3C8C-CEC6-7ECCFDC913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7614" y="1683759"/>
            <a:ext cx="2426986" cy="2235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A71935C-9DCB-2179-CBAD-9F90A9837F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2904" y="3979593"/>
            <a:ext cx="2416408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13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B3476-18EC-2DAA-24B0-7C3D7D04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15181E4-CDCF-A972-E070-8709FD423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4B2F91-048D-6934-54AA-BCF1D611F1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BE9E0A2-C19F-D476-C818-8BB7A197EA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2637645"/>
          </a:xfrm>
        </p:spPr>
        <p:txBody>
          <a:bodyPr/>
          <a:lstStyle/>
          <a:p>
            <a:r>
              <a:rPr lang="en-US" dirty="0"/>
              <a:t>No set standard threshold, 15 µm is the most common one that I saw</a:t>
            </a:r>
          </a:p>
          <a:p>
            <a:r>
              <a:rPr lang="en-US" dirty="0"/>
              <a:t>Likely would need to validate that any findings are present or at least suggested in the 10 – 25 µm range. </a:t>
            </a:r>
          </a:p>
          <a:p>
            <a:r>
              <a:rPr lang="en-US" dirty="0"/>
              <a:t>An alternative method would be to use the “</a:t>
            </a:r>
            <a:r>
              <a:rPr lang="en-US" dirty="0" err="1"/>
              <a:t>delaunay</a:t>
            </a:r>
            <a:r>
              <a:rPr lang="en-US" dirty="0"/>
              <a:t>”. This matches each PMN to 6 cells. Similar number of matches ~10 microns.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510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294527" cy="3231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D229C0-7859-1515-35AD-E8CBC6A769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6"/>
          <a:stretch>
            <a:fillRect/>
          </a:stretch>
        </p:blipFill>
        <p:spPr>
          <a:xfrm>
            <a:off x="4294527" y="2735966"/>
            <a:ext cx="4377989" cy="40432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DF9AEC9-EA93-02CA-74D1-F58317DFF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8" y="2524788"/>
            <a:ext cx="3663562" cy="3273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A253B1-55D8-EEAE-6BC5-2C2587A8A735}"/>
              </a:ext>
            </a:extLst>
          </p:cNvPr>
          <p:cNvSpPr txBox="1"/>
          <p:nvPr/>
        </p:nvSpPr>
        <p:spPr>
          <a:xfrm>
            <a:off x="9005263" y="2735966"/>
            <a:ext cx="20116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PMN = 24.9 – 0.96 =24.16%</a:t>
            </a:r>
          </a:p>
          <a:p>
            <a:r>
              <a:rPr lang="en-US" dirty="0"/>
              <a:t>Tumor=-19.4%</a:t>
            </a:r>
          </a:p>
          <a:p>
            <a:r>
              <a:rPr lang="en-US" dirty="0"/>
              <a:t>Endo= - 8.1%</a:t>
            </a:r>
          </a:p>
          <a:p>
            <a:r>
              <a:rPr lang="en-US" dirty="0" err="1"/>
              <a:t>Etc</a:t>
            </a:r>
            <a:r>
              <a:rPr lang="en-US" dirty="0"/>
              <a:t>…..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AB72F9D-4869-90B0-9AA1-3E5F25307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974" y="6557602"/>
            <a:ext cx="4207225" cy="2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04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5AD96-D9E2-39D4-FD5C-4618B4905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1DF298-DCF6-4A14-FE15-75334416B1CA}"/>
              </a:ext>
            </a:extLst>
          </p:cNvPr>
          <p:cNvSpPr/>
          <p:nvPr/>
        </p:nvSpPr>
        <p:spPr>
          <a:xfrm>
            <a:off x="6968359" y="1147773"/>
            <a:ext cx="2844098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7E3CB4-4A6F-AD54-AD37-666CDB652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56" y="1950820"/>
            <a:ext cx="2850252" cy="420504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21B0A48-E204-3EA5-AAB3-B4186851D0CD}"/>
              </a:ext>
            </a:extLst>
          </p:cNvPr>
          <p:cNvSpPr/>
          <p:nvPr/>
        </p:nvSpPr>
        <p:spPr>
          <a:xfrm>
            <a:off x="2096729" y="1350651"/>
            <a:ext cx="2475271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Cellular Frequency Matrix R vs NR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D6A659-AC2B-9F9E-13E9-DA64CE7F3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236" y="1867716"/>
            <a:ext cx="2903221" cy="4351021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BB6A96A-FE00-657C-0C2B-728454E19DB3}"/>
              </a:ext>
            </a:extLst>
          </p:cNvPr>
          <p:cNvCxnSpPr/>
          <p:nvPr/>
        </p:nvCxnSpPr>
        <p:spPr>
          <a:xfrm>
            <a:off x="7598979" y="3001754"/>
            <a:ext cx="211888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A423CEE-3EF7-33DF-2DBB-DAE1AA135E92}"/>
              </a:ext>
            </a:extLst>
          </p:cNvPr>
          <p:cNvCxnSpPr/>
          <p:nvPr/>
        </p:nvCxnSpPr>
        <p:spPr>
          <a:xfrm>
            <a:off x="7598979" y="2744251"/>
            <a:ext cx="211888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3D8367D-8ECD-13C0-0BB0-4FFC033BD56E}"/>
              </a:ext>
            </a:extLst>
          </p:cNvPr>
          <p:cNvCxnSpPr/>
          <p:nvPr/>
        </p:nvCxnSpPr>
        <p:spPr>
          <a:xfrm>
            <a:off x="7644174" y="3344392"/>
            <a:ext cx="211888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FA74D9D-D99A-CB3F-BF30-5B0065C65F60}"/>
              </a:ext>
            </a:extLst>
          </p:cNvPr>
          <p:cNvCxnSpPr/>
          <p:nvPr/>
        </p:nvCxnSpPr>
        <p:spPr>
          <a:xfrm>
            <a:off x="7644174" y="5811170"/>
            <a:ext cx="211888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45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39934-7DAA-A7BC-A33C-F716860A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FA1-B69F-64C4-BC23-CCDD1DF35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F37D0-905D-42E7-2BB8-E0F830B13B3C}"/>
              </a:ext>
            </a:extLst>
          </p:cNvPr>
          <p:cNvSpPr/>
          <p:nvPr/>
        </p:nvSpPr>
        <p:spPr>
          <a:xfrm>
            <a:off x="3882390" y="19918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2705704-54B1-4EC0-E9B6-1E8E2DB5B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1504" y="2877424"/>
            <a:ext cx="2461057" cy="368835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17E5FED-2A8A-14E2-6742-870503273646}"/>
              </a:ext>
            </a:extLst>
          </p:cNvPr>
          <p:cNvSpPr/>
          <p:nvPr/>
        </p:nvSpPr>
        <p:spPr>
          <a:xfrm>
            <a:off x="3973070" y="2522464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27FFF-A3F1-874D-823E-3ED977C6B2DB}"/>
              </a:ext>
            </a:extLst>
          </p:cNvPr>
          <p:cNvSpPr/>
          <p:nvPr/>
        </p:nvSpPr>
        <p:spPr>
          <a:xfrm>
            <a:off x="1085878" y="2522465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15A564-B3C6-4EA1-61B4-B2DA6D8A02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83" y="2877424"/>
            <a:ext cx="2615897" cy="384807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DB8AAE5-27F7-D823-5D2C-16A8E03D632F}"/>
              </a:ext>
            </a:extLst>
          </p:cNvPr>
          <p:cNvSpPr/>
          <p:nvPr/>
        </p:nvSpPr>
        <p:spPr>
          <a:xfrm>
            <a:off x="9605564" y="2522463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PMN&gt;75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D65FB57-7CB6-6B79-2F18-9A6F0FF3A5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0737" y="3008061"/>
            <a:ext cx="2553063" cy="362836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FFE458B-A89A-2AD4-35D6-5DA7B34B2603}"/>
              </a:ext>
            </a:extLst>
          </p:cNvPr>
          <p:cNvSpPr/>
          <p:nvPr/>
        </p:nvSpPr>
        <p:spPr>
          <a:xfrm>
            <a:off x="6789317" y="2522462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PMN&gt;50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3B81F70-C88F-4105-33E9-26A259E610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2561" y="2837353"/>
            <a:ext cx="2779164" cy="368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628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D2B-8249-4CCD-91CC-F80329049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C9B82-BA6B-4F15-CA62-F4EA5495E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7B9A5E-10C7-17B0-77D5-819DEB327BF8}"/>
              </a:ext>
            </a:extLst>
          </p:cNvPr>
          <p:cNvSpPr/>
          <p:nvPr/>
        </p:nvSpPr>
        <p:spPr>
          <a:xfrm>
            <a:off x="3408907" y="1933514"/>
            <a:ext cx="5374186" cy="3430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 (PMN&gt;25)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74A15B-D75E-A23B-FD60-875AFE237832}"/>
              </a:ext>
            </a:extLst>
          </p:cNvPr>
          <p:cNvSpPr/>
          <p:nvPr/>
        </p:nvSpPr>
        <p:spPr>
          <a:xfrm>
            <a:off x="3069825" y="2522464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15 µm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BA6DE1-876F-83D6-4EF3-C5E597F15F44}"/>
              </a:ext>
            </a:extLst>
          </p:cNvPr>
          <p:cNvSpPr/>
          <p:nvPr/>
        </p:nvSpPr>
        <p:spPr>
          <a:xfrm>
            <a:off x="459548" y="2522465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10 µm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8F84AE-148F-A779-F19C-F53A66574DA9}"/>
              </a:ext>
            </a:extLst>
          </p:cNvPr>
          <p:cNvSpPr/>
          <p:nvPr/>
        </p:nvSpPr>
        <p:spPr>
          <a:xfrm>
            <a:off x="7910890" y="2516139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30 µm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4D14FB-9C90-6E7A-AD8B-743CC0777A93}"/>
              </a:ext>
            </a:extLst>
          </p:cNvPr>
          <p:cNvSpPr/>
          <p:nvPr/>
        </p:nvSpPr>
        <p:spPr>
          <a:xfrm>
            <a:off x="5461177" y="2522463"/>
            <a:ext cx="1651454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20 µm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56FD2C-F1B1-5564-0DD3-7D0EC9BFC8F0}"/>
              </a:ext>
            </a:extLst>
          </p:cNvPr>
          <p:cNvSpPr/>
          <p:nvPr/>
        </p:nvSpPr>
        <p:spPr>
          <a:xfrm>
            <a:off x="10166567" y="2522465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45 µm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24496D-7AD2-0D4A-E63D-0527C2F82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7" y="2907160"/>
            <a:ext cx="2347685" cy="37361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716479-AF3F-4D00-7EF5-8699D280B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235" y="2953005"/>
            <a:ext cx="2441326" cy="373617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46D69F9-83A2-EF61-B72C-D1CF634634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561" y="2915926"/>
            <a:ext cx="2468053" cy="382786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2CC69CC-484E-37AF-6305-E392F0D6EE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2614" y="2915926"/>
            <a:ext cx="2550948" cy="383662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61FFC3F-6D00-5996-C6F4-5800768078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8765" y="2907159"/>
            <a:ext cx="2418280" cy="3682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6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6C07-D417-68FE-784D-A649565F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20AAC-4A15-7588-5A50-D1C66185C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Select Box Plot Neighborhood Delta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F2F9A-3061-59E1-9B96-30DE90CF1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6759"/>
            <a:ext cx="10598547" cy="4291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3687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B0256-1D60-C50B-9C87-42C92266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7D6ACE-1CA9-23B8-929D-EC6853228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CD8 and PMN interactions in non responders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94600-9682-4D94-7DA2-27AB4AC2C9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EF7F1B-15D2-5C1B-9402-42EDD2B07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5" y="1828084"/>
            <a:ext cx="4563845" cy="33434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F6DA745-5E96-7007-68D7-589E41146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945" y="1751959"/>
            <a:ext cx="4453336" cy="350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959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80326-2802-031A-BCE9-20018D382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D7088C0-9A56-4A7F-0350-0FB091A5D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High PMN Colocalization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439F2F-85A8-9B0D-142E-75E745063A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C3F3E7-3932-2CB6-4084-C0F4F364D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16" y="2324937"/>
            <a:ext cx="3901132" cy="30252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16584C-5112-D1C8-05BE-10DD976568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7348" y="2324938"/>
            <a:ext cx="4032161" cy="302527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9790AE4-80A1-61FA-8BF4-D494695C5642}"/>
              </a:ext>
            </a:extLst>
          </p:cNvPr>
          <p:cNvSpPr/>
          <p:nvPr/>
        </p:nvSpPr>
        <p:spPr>
          <a:xfrm>
            <a:off x="318463" y="2036905"/>
            <a:ext cx="2544554" cy="2081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Responder TMA1 Core 21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671871-A3E1-AC35-A79B-7A9FD548A15A}"/>
              </a:ext>
            </a:extLst>
          </p:cNvPr>
          <p:cNvSpPr/>
          <p:nvPr/>
        </p:nvSpPr>
        <p:spPr>
          <a:xfrm>
            <a:off x="4210444" y="2025393"/>
            <a:ext cx="2732690" cy="2081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Non-Responder TMA1 Core 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423A61-BFF5-E5E6-45CB-1FAFBFC7E78F}"/>
              </a:ext>
            </a:extLst>
          </p:cNvPr>
          <p:cNvSpPr txBox="1"/>
          <p:nvPr/>
        </p:nvSpPr>
        <p:spPr>
          <a:xfrm>
            <a:off x="8046719" y="2020186"/>
            <a:ext cx="307743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Both responder and non responder can have high neutrophil clustering. This is more common in the non-responder samples.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935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92F42-9927-2BB5-DE9B-4E47627D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DD2C53-2833-F24F-18E6-4E498BBEF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81"/>
            <a:ext cx="10896600" cy="517065"/>
          </a:xfrm>
        </p:spPr>
        <p:txBody>
          <a:bodyPr/>
          <a:lstStyle/>
          <a:p>
            <a:r>
              <a:rPr lang="en-US" dirty="0"/>
              <a:t>PMN Distance Methodology – Example 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D85200-EA3B-FFF5-04D5-94AD04F133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3E8D52-9202-EB2C-8417-02C52C7B735F}"/>
              </a:ext>
            </a:extLst>
          </p:cNvPr>
          <p:cNvSpPr/>
          <p:nvPr/>
        </p:nvSpPr>
        <p:spPr>
          <a:xfrm>
            <a:off x="878723" y="1914225"/>
            <a:ext cx="2838844" cy="323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Minimum Distance Method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66F83D-D384-5EB9-CAE0-81D5C263D196}"/>
              </a:ext>
            </a:extLst>
          </p:cNvPr>
          <p:cNvSpPr/>
          <p:nvPr/>
        </p:nvSpPr>
        <p:spPr>
          <a:xfrm>
            <a:off x="5421182" y="1810808"/>
            <a:ext cx="2124027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Distance Pairwise Method </a:t>
            </a:r>
          </a:p>
        </p:txBody>
      </p:sp>
      <p:pic>
        <p:nvPicPr>
          <p:cNvPr id="6" name="Picture 2" descr="Neutrophil granulocyte - Servier Medical Art">
            <a:extLst>
              <a:ext uri="{FF2B5EF4-FFF2-40B4-BE49-F238E27FC236}">
                <a16:creationId xmlns:a16="http://schemas.microsoft.com/office/drawing/2014/main" id="{690000B4-95B3-9ECA-B663-42BD395AA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95" y="2246757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Neutrophil granulocyte - Servier Medical Art">
            <a:extLst>
              <a:ext uri="{FF2B5EF4-FFF2-40B4-BE49-F238E27FC236}">
                <a16:creationId xmlns:a16="http://schemas.microsoft.com/office/drawing/2014/main" id="{D04541F9-9FE5-99F5-E420-53E73640A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3524" y="535426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Neutrophil granulocyte - Servier Medical Art">
            <a:extLst>
              <a:ext uri="{FF2B5EF4-FFF2-40B4-BE49-F238E27FC236}">
                <a16:creationId xmlns:a16="http://schemas.microsoft.com/office/drawing/2014/main" id="{BF0F93A0-8D49-919B-81D3-65D5CA61D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818" y="4408186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415F3ECD-2F28-1DB0-3BC3-41C4823D68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966" y="3598384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4" descr="Cancer cell - Free healthcare and medical icons">
            <a:extLst>
              <a:ext uri="{FF2B5EF4-FFF2-40B4-BE49-F238E27FC236}">
                <a16:creationId xmlns:a16="http://schemas.microsoft.com/office/drawing/2014/main" id="{44C81E7E-93E5-6D64-9990-99AC064374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48094" y="329123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34" descr="Cancer cell - Free healthcare and medical icons">
            <a:extLst>
              <a:ext uri="{FF2B5EF4-FFF2-40B4-BE49-F238E27FC236}">
                <a16:creationId xmlns:a16="http://schemas.microsoft.com/office/drawing/2014/main" id="{64DC1F6D-7EBA-92E3-0AA1-6D801B9A6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041604" y="339002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4" descr="Cancer cell - Free healthcare and medical icons">
            <a:extLst>
              <a:ext uri="{FF2B5EF4-FFF2-40B4-BE49-F238E27FC236}">
                <a16:creationId xmlns:a16="http://schemas.microsoft.com/office/drawing/2014/main" id="{1853EAAA-223B-785A-339E-3BEB94944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15272" y="463240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34" descr="Cancer cell - Free healthcare and medical icons">
            <a:extLst>
              <a:ext uri="{FF2B5EF4-FFF2-40B4-BE49-F238E27FC236}">
                <a16:creationId xmlns:a16="http://schemas.microsoft.com/office/drawing/2014/main" id="{4561A4F2-C26D-AAC8-DD52-17383CF95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03408" y="248978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34" descr="Cancer cell - Free healthcare and medical icons">
            <a:extLst>
              <a:ext uri="{FF2B5EF4-FFF2-40B4-BE49-F238E27FC236}">
                <a16:creationId xmlns:a16="http://schemas.microsoft.com/office/drawing/2014/main" id="{3D7E0C7F-2113-F1A0-ABA1-AD2752258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640694" y="538145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FE8B6A-B996-69BA-105B-AF37F19FF864}"/>
              </a:ext>
            </a:extLst>
          </p:cNvPr>
          <p:cNvCxnSpPr/>
          <p:nvPr/>
        </p:nvCxnSpPr>
        <p:spPr>
          <a:xfrm flipH="1" flipV="1">
            <a:off x="427756" y="2701041"/>
            <a:ext cx="466659" cy="5901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DDBDDF-1044-5FE1-0B9B-34411DE22C88}"/>
              </a:ext>
            </a:extLst>
          </p:cNvPr>
          <p:cNvCxnSpPr>
            <a:cxnSpLocks/>
          </p:cNvCxnSpPr>
          <p:nvPr/>
        </p:nvCxnSpPr>
        <p:spPr>
          <a:xfrm flipH="1" flipV="1">
            <a:off x="1388326" y="3674038"/>
            <a:ext cx="263360" cy="639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F83782-9E92-A214-79EA-232C7639BDE3}"/>
              </a:ext>
            </a:extLst>
          </p:cNvPr>
          <p:cNvCxnSpPr>
            <a:cxnSpLocks/>
          </p:cNvCxnSpPr>
          <p:nvPr/>
        </p:nvCxnSpPr>
        <p:spPr>
          <a:xfrm flipV="1">
            <a:off x="2224048" y="4660802"/>
            <a:ext cx="395188" cy="439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F71F81-3EED-B2CA-9FE2-67BCF53A600D}"/>
              </a:ext>
            </a:extLst>
          </p:cNvPr>
          <p:cNvCxnSpPr>
            <a:cxnSpLocks/>
          </p:cNvCxnSpPr>
          <p:nvPr/>
        </p:nvCxnSpPr>
        <p:spPr>
          <a:xfrm>
            <a:off x="2115678" y="5158314"/>
            <a:ext cx="139826" cy="1959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" descr="Neutrophil granulocyte - Servier Medical Art">
            <a:extLst>
              <a:ext uri="{FF2B5EF4-FFF2-40B4-BE49-F238E27FC236}">
                <a16:creationId xmlns:a16="http://schemas.microsoft.com/office/drawing/2014/main" id="{374446D3-9B11-19BE-4F52-20E5B12B5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823" y="253437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Neutrophil granulocyte - Servier Medical Art">
            <a:extLst>
              <a:ext uri="{FF2B5EF4-FFF2-40B4-BE49-F238E27FC236}">
                <a16:creationId xmlns:a16="http://schemas.microsoft.com/office/drawing/2014/main" id="{98C71C0A-441F-B57E-FF9E-D8B5061E1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216" y="5624379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Neutrophil granulocyte - Servier Medical Art">
            <a:extLst>
              <a:ext uri="{FF2B5EF4-FFF2-40B4-BE49-F238E27FC236}">
                <a16:creationId xmlns:a16="http://schemas.microsoft.com/office/drawing/2014/main" id="{92045AA5-0A4A-3CFF-909F-2D2017183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510" y="4678302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Neutrophil granulocyte - Servier Medical Art">
            <a:extLst>
              <a:ext uri="{FF2B5EF4-FFF2-40B4-BE49-F238E27FC236}">
                <a16:creationId xmlns:a16="http://schemas.microsoft.com/office/drawing/2014/main" id="{07049CFB-DF72-46E9-6D3A-7301E756C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7658" y="3868500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4" descr="Cancer cell - Free healthcare and medical icons">
            <a:extLst>
              <a:ext uri="{FF2B5EF4-FFF2-40B4-BE49-F238E27FC236}">
                <a16:creationId xmlns:a16="http://schemas.microsoft.com/office/drawing/2014/main" id="{40EB981B-5831-1F73-4272-9DCF4C8625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075786" y="356134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4" descr="Cancer cell - Free healthcare and medical icons">
            <a:extLst>
              <a:ext uri="{FF2B5EF4-FFF2-40B4-BE49-F238E27FC236}">
                <a16:creationId xmlns:a16="http://schemas.microsoft.com/office/drawing/2014/main" id="{1C7BADFA-A651-0AC2-EAB0-275D287F4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269296" y="366014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4" descr="Cancer cell - Free healthcare and medical icons">
            <a:extLst>
              <a:ext uri="{FF2B5EF4-FFF2-40B4-BE49-F238E27FC236}">
                <a16:creationId xmlns:a16="http://schemas.microsoft.com/office/drawing/2014/main" id="{CDACBD64-1357-419C-C5F2-9DF0FEEC9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42964" y="490252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34" descr="Cancer cell - Free healthcare and medical icons">
            <a:extLst>
              <a:ext uri="{FF2B5EF4-FFF2-40B4-BE49-F238E27FC236}">
                <a16:creationId xmlns:a16="http://schemas.microsoft.com/office/drawing/2014/main" id="{A8F00A5A-1A09-1815-6110-07CC0204B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1100" y="275990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34" descr="Cancer cell - Free healthcare and medical icons">
            <a:extLst>
              <a:ext uri="{FF2B5EF4-FFF2-40B4-BE49-F238E27FC236}">
                <a16:creationId xmlns:a16="http://schemas.microsoft.com/office/drawing/2014/main" id="{D9E1D67F-58CE-39A9-E1C5-5E777B219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868386" y="565156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3DE979-E7E6-4767-2117-DCC487ADCE4B}"/>
              </a:ext>
            </a:extLst>
          </p:cNvPr>
          <p:cNvCxnSpPr/>
          <p:nvPr/>
        </p:nvCxnSpPr>
        <p:spPr>
          <a:xfrm flipH="1" flipV="1">
            <a:off x="4655448" y="2971157"/>
            <a:ext cx="466659" cy="590189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FA60CFA-1430-5F61-AD04-EFA32B62DEEA}"/>
              </a:ext>
            </a:extLst>
          </p:cNvPr>
          <p:cNvCxnSpPr>
            <a:cxnSpLocks/>
          </p:cNvCxnSpPr>
          <p:nvPr/>
        </p:nvCxnSpPr>
        <p:spPr>
          <a:xfrm flipH="1">
            <a:off x="6211690" y="3358988"/>
            <a:ext cx="99287" cy="471226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802C71D-9A69-13A1-3D39-1328E13BC81E}"/>
              </a:ext>
            </a:extLst>
          </p:cNvPr>
          <p:cNvCxnSpPr>
            <a:cxnSpLocks/>
          </p:cNvCxnSpPr>
          <p:nvPr/>
        </p:nvCxnSpPr>
        <p:spPr>
          <a:xfrm flipV="1">
            <a:off x="7310646" y="4200377"/>
            <a:ext cx="100576" cy="432027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E55959F-37E0-0AF0-CE6F-1650081C4605}"/>
              </a:ext>
            </a:extLst>
          </p:cNvPr>
          <p:cNvCxnSpPr>
            <a:cxnSpLocks/>
          </p:cNvCxnSpPr>
          <p:nvPr/>
        </p:nvCxnSpPr>
        <p:spPr>
          <a:xfrm>
            <a:off x="6343370" y="5428430"/>
            <a:ext cx="139826" cy="195949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293E52D3-A3A8-4B1E-0A4E-0F20D4E22BAE}"/>
              </a:ext>
            </a:extLst>
          </p:cNvPr>
          <p:cNvSpPr/>
          <p:nvPr/>
        </p:nvSpPr>
        <p:spPr>
          <a:xfrm>
            <a:off x="33994" y="1751694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897763B-7137-370D-3C24-5A424925F905}"/>
              </a:ext>
            </a:extLst>
          </p:cNvPr>
          <p:cNvSpPr/>
          <p:nvPr/>
        </p:nvSpPr>
        <p:spPr>
          <a:xfrm>
            <a:off x="4255208" y="1751693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5E6509-2C2F-B6F3-32EA-87932FC09515}"/>
              </a:ext>
            </a:extLst>
          </p:cNvPr>
          <p:cNvSpPr txBox="1"/>
          <p:nvPr/>
        </p:nvSpPr>
        <p:spPr>
          <a:xfrm>
            <a:off x="8431532" y="1751694"/>
            <a:ext cx="322233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Minimum Distance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Finds shortest distance between each PMN and each target cell</a:t>
            </a:r>
          </a:p>
          <a:p>
            <a:endParaRPr lang="en-US" dirty="0"/>
          </a:p>
          <a:p>
            <a:r>
              <a:rPr lang="en-US" dirty="0"/>
              <a:t>Least Distance Pairwise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Creates one-one pairs between PMN and target.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Limited to lesser cell counts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ex: ex if there is 4 PMN cells and 5 target cells there will be only 4 pairs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the Hungarian Algorithm to find least sum of distances  </a:t>
            </a:r>
          </a:p>
        </p:txBody>
      </p:sp>
    </p:spTree>
    <p:extLst>
      <p:ext uri="{BB962C8B-B14F-4D97-AF65-F5344CB8AC3E}">
        <p14:creationId xmlns:p14="http://schemas.microsoft.com/office/powerpoint/2010/main" val="25833884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0A16E-200B-5670-8EEE-6BDDCA046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4549228-3313-7489-D862-C410C6FD9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81"/>
            <a:ext cx="10896600" cy="517065"/>
          </a:xfrm>
        </p:spPr>
        <p:txBody>
          <a:bodyPr/>
          <a:lstStyle/>
          <a:p>
            <a:r>
              <a:rPr lang="en-US" dirty="0"/>
              <a:t>PMN Distance Methodology – Example 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560AD0-A774-870A-F2DC-8D0CC0ADDE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DA5A0E-4404-1EF7-52D3-7177EFC5EB59}"/>
              </a:ext>
            </a:extLst>
          </p:cNvPr>
          <p:cNvSpPr/>
          <p:nvPr/>
        </p:nvSpPr>
        <p:spPr>
          <a:xfrm>
            <a:off x="878723" y="1914225"/>
            <a:ext cx="2838844" cy="323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Minimum Distance Method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5BEAA7-DAEB-417C-C61A-3A9E6E7057C9}"/>
              </a:ext>
            </a:extLst>
          </p:cNvPr>
          <p:cNvSpPr/>
          <p:nvPr/>
        </p:nvSpPr>
        <p:spPr>
          <a:xfrm>
            <a:off x="5421182" y="1810808"/>
            <a:ext cx="2124027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Distance Pairwise Method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2A921FD-D785-CECF-918A-1B12B2039723}"/>
              </a:ext>
            </a:extLst>
          </p:cNvPr>
          <p:cNvSpPr/>
          <p:nvPr/>
        </p:nvSpPr>
        <p:spPr>
          <a:xfrm>
            <a:off x="33994" y="1751694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7A880CB-9EC0-3957-C7BC-58DC6578D362}"/>
              </a:ext>
            </a:extLst>
          </p:cNvPr>
          <p:cNvSpPr/>
          <p:nvPr/>
        </p:nvSpPr>
        <p:spPr>
          <a:xfrm>
            <a:off x="4255208" y="1751693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38" descr="Generated image">
            <a:extLst>
              <a:ext uri="{FF2B5EF4-FFF2-40B4-BE49-F238E27FC236}">
                <a16:creationId xmlns:a16="http://schemas.microsoft.com/office/drawing/2014/main" id="{AFF6BF84-802D-CF3D-F4B9-9EA940D6F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51158" y="2994572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Neutrophil granulocyte - Servier Medical Art">
            <a:extLst>
              <a:ext uri="{FF2B5EF4-FFF2-40B4-BE49-F238E27FC236}">
                <a16:creationId xmlns:a16="http://schemas.microsoft.com/office/drawing/2014/main" id="{0F014FC7-1C59-6863-6F29-E553AB55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697" y="379109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Neutrophil granulocyte - Servier Medical Art">
            <a:extLst>
              <a:ext uri="{FF2B5EF4-FFF2-40B4-BE49-F238E27FC236}">
                <a16:creationId xmlns:a16="http://schemas.microsoft.com/office/drawing/2014/main" id="{A81B73D7-C440-FCEB-8539-06A2D7B4D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584" y="3263535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38" descr="Generated image">
            <a:extLst>
              <a:ext uri="{FF2B5EF4-FFF2-40B4-BE49-F238E27FC236}">
                <a16:creationId xmlns:a16="http://schemas.microsoft.com/office/drawing/2014/main" id="{7D9834C0-0B6E-BF0F-46DB-9C743FD8D8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272005" y="2524371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38" descr="Generated image">
            <a:extLst>
              <a:ext uri="{FF2B5EF4-FFF2-40B4-BE49-F238E27FC236}">
                <a16:creationId xmlns:a16="http://schemas.microsoft.com/office/drawing/2014/main" id="{5D62F70E-62E5-4C7C-608E-6E6279DD3D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782339" y="4500749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Neutrophil granulocyte - Servier Medical Art">
            <a:extLst>
              <a:ext uri="{FF2B5EF4-FFF2-40B4-BE49-F238E27FC236}">
                <a16:creationId xmlns:a16="http://schemas.microsoft.com/office/drawing/2014/main" id="{0F124F04-9A32-A1EA-6DC5-1BB6DA384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004" y="5453582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Neutrophil granulocyte - Servier Medical Art">
            <a:extLst>
              <a:ext uri="{FF2B5EF4-FFF2-40B4-BE49-F238E27FC236}">
                <a16:creationId xmlns:a16="http://schemas.microsoft.com/office/drawing/2014/main" id="{5EA74109-A5EE-C214-680B-706383AAE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7594" y="542977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Neutrophil granulocyte - Servier Medical Art">
            <a:extLst>
              <a:ext uri="{FF2B5EF4-FFF2-40B4-BE49-F238E27FC236}">
                <a16:creationId xmlns:a16="http://schemas.microsoft.com/office/drawing/2014/main" id="{711C18BA-510E-FC2F-6C4E-7B9D1804A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5640" y="5060586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Neutrophil granulocyte - Servier Medical Art">
            <a:extLst>
              <a:ext uri="{FF2B5EF4-FFF2-40B4-BE49-F238E27FC236}">
                <a16:creationId xmlns:a16="http://schemas.microsoft.com/office/drawing/2014/main" id="{F5624245-7D9B-8E3B-4ABB-3A256C2037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487" y="4576514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8D7DF7C-3DD4-C387-98CF-FA16E9DB39AB}"/>
              </a:ext>
            </a:extLst>
          </p:cNvPr>
          <p:cNvCxnSpPr/>
          <p:nvPr/>
        </p:nvCxnSpPr>
        <p:spPr>
          <a:xfrm flipV="1">
            <a:off x="624314" y="3392132"/>
            <a:ext cx="252753" cy="392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44E8DB-848B-83A9-40CA-2E5C117A6FE4}"/>
              </a:ext>
            </a:extLst>
          </p:cNvPr>
          <p:cNvCxnSpPr>
            <a:cxnSpLocks/>
          </p:cNvCxnSpPr>
          <p:nvPr/>
        </p:nvCxnSpPr>
        <p:spPr>
          <a:xfrm flipH="1" flipV="1">
            <a:off x="1107912" y="3280505"/>
            <a:ext cx="309470" cy="1465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3242BFB-56CE-E72E-84B7-74A6DE0B139D}"/>
              </a:ext>
            </a:extLst>
          </p:cNvPr>
          <p:cNvCxnSpPr>
            <a:stCxn id="40" idx="3"/>
          </p:cNvCxnSpPr>
          <p:nvPr/>
        </p:nvCxnSpPr>
        <p:spPr>
          <a:xfrm flipV="1">
            <a:off x="877067" y="4705111"/>
            <a:ext cx="875828" cy="6790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2E514A1-4676-DC1F-49E3-4E72715171F8}"/>
              </a:ext>
            </a:extLst>
          </p:cNvPr>
          <p:cNvCxnSpPr/>
          <p:nvPr/>
        </p:nvCxnSpPr>
        <p:spPr>
          <a:xfrm flipV="1">
            <a:off x="1387366" y="4833064"/>
            <a:ext cx="479271" cy="6205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512C49D-48F9-9EEC-8FC5-2DC6103342C8}"/>
              </a:ext>
            </a:extLst>
          </p:cNvPr>
          <p:cNvCxnSpPr/>
          <p:nvPr/>
        </p:nvCxnSpPr>
        <p:spPr>
          <a:xfrm flipH="1" flipV="1">
            <a:off x="2122155" y="4833064"/>
            <a:ext cx="373127" cy="6205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31738E5-EEEE-E373-6368-E5186DEB85F4}"/>
              </a:ext>
            </a:extLst>
          </p:cNvPr>
          <p:cNvCxnSpPr>
            <a:endCxn id="22" idx="3"/>
          </p:cNvCxnSpPr>
          <p:nvPr/>
        </p:nvCxnSpPr>
        <p:spPr>
          <a:xfrm flipH="1" flipV="1">
            <a:off x="2228894" y="4704468"/>
            <a:ext cx="1409787" cy="3936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Picture 38" descr="Generated image">
            <a:extLst>
              <a:ext uri="{FF2B5EF4-FFF2-40B4-BE49-F238E27FC236}">
                <a16:creationId xmlns:a16="http://schemas.microsoft.com/office/drawing/2014/main" id="{C92CF7AC-E13E-17AA-5A42-1357D8C407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5013007" y="2994572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6" name="Picture 2" descr="Neutrophil granulocyte - Servier Medical Art">
            <a:extLst>
              <a:ext uri="{FF2B5EF4-FFF2-40B4-BE49-F238E27FC236}">
                <a16:creationId xmlns:a16="http://schemas.microsoft.com/office/drawing/2014/main" id="{7176D302-DC54-B580-AC47-1F7E8FAAA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0546" y="379109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2" descr="Neutrophil granulocyte - Servier Medical Art">
            <a:extLst>
              <a:ext uri="{FF2B5EF4-FFF2-40B4-BE49-F238E27FC236}">
                <a16:creationId xmlns:a16="http://schemas.microsoft.com/office/drawing/2014/main" id="{3FD4F1E2-EFEF-534F-9CD7-3FBA290CE1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433" y="3263535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38" descr="Generated image">
            <a:extLst>
              <a:ext uri="{FF2B5EF4-FFF2-40B4-BE49-F238E27FC236}">
                <a16:creationId xmlns:a16="http://schemas.microsoft.com/office/drawing/2014/main" id="{A94D9EF3-FFC6-D559-8EFB-0F5CC0F60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6533854" y="2524371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38" descr="Generated image">
            <a:extLst>
              <a:ext uri="{FF2B5EF4-FFF2-40B4-BE49-F238E27FC236}">
                <a16:creationId xmlns:a16="http://schemas.microsoft.com/office/drawing/2014/main" id="{243E4A2F-35F9-F931-4D0A-69300BA2B9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6044188" y="4500749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2" descr="Neutrophil granulocyte - Servier Medical Art">
            <a:extLst>
              <a:ext uri="{FF2B5EF4-FFF2-40B4-BE49-F238E27FC236}">
                <a16:creationId xmlns:a16="http://schemas.microsoft.com/office/drawing/2014/main" id="{8C50B497-36C3-653E-9738-30187C5A6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853" y="5453582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2" descr="Neutrophil granulocyte - Servier Medical Art">
            <a:extLst>
              <a:ext uri="{FF2B5EF4-FFF2-40B4-BE49-F238E27FC236}">
                <a16:creationId xmlns:a16="http://schemas.microsoft.com/office/drawing/2014/main" id="{BC1AAA14-5527-20CE-4947-50869CE76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9443" y="542977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Neutrophil granulocyte - Servier Medical Art">
            <a:extLst>
              <a:ext uri="{FF2B5EF4-FFF2-40B4-BE49-F238E27FC236}">
                <a16:creationId xmlns:a16="http://schemas.microsoft.com/office/drawing/2014/main" id="{8F22FC82-7BAF-56AC-B228-876A80E54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7489" y="5060586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" descr="Neutrophil granulocyte - Servier Medical Art">
            <a:extLst>
              <a:ext uri="{FF2B5EF4-FFF2-40B4-BE49-F238E27FC236}">
                <a16:creationId xmlns:a16="http://schemas.microsoft.com/office/drawing/2014/main" id="{D030D32D-3F20-6E8D-946D-42C507409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3336" y="4576514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D11C1F01-788B-E231-1538-0BA596EA5AA1}"/>
              </a:ext>
            </a:extLst>
          </p:cNvPr>
          <p:cNvCxnSpPr/>
          <p:nvPr/>
        </p:nvCxnSpPr>
        <p:spPr>
          <a:xfrm flipV="1">
            <a:off x="4886163" y="3392132"/>
            <a:ext cx="252753" cy="392996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3B09BD6-C7B3-31E9-ADA2-F37F8A5F0813}"/>
              </a:ext>
            </a:extLst>
          </p:cNvPr>
          <p:cNvCxnSpPr>
            <a:cxnSpLocks/>
          </p:cNvCxnSpPr>
          <p:nvPr/>
        </p:nvCxnSpPr>
        <p:spPr>
          <a:xfrm flipH="1">
            <a:off x="6081013" y="2844099"/>
            <a:ext cx="489554" cy="454542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DCA0F4C-74B4-3654-664D-D095F2666A43}"/>
              </a:ext>
            </a:extLst>
          </p:cNvPr>
          <p:cNvCxnSpPr>
            <a:cxnSpLocks/>
          </p:cNvCxnSpPr>
          <p:nvPr/>
        </p:nvCxnSpPr>
        <p:spPr>
          <a:xfrm flipH="1" flipV="1">
            <a:off x="6384004" y="4852179"/>
            <a:ext cx="373127" cy="601403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ight Brace 83">
            <a:extLst>
              <a:ext uri="{FF2B5EF4-FFF2-40B4-BE49-F238E27FC236}">
                <a16:creationId xmlns:a16="http://schemas.microsoft.com/office/drawing/2014/main" id="{1213BD66-1AFE-651A-204D-FA0816E845E4}"/>
              </a:ext>
            </a:extLst>
          </p:cNvPr>
          <p:cNvSpPr/>
          <p:nvPr/>
        </p:nvSpPr>
        <p:spPr>
          <a:xfrm rot="6433529">
            <a:off x="5379447" y="3306900"/>
            <a:ext cx="210261" cy="392996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BC75A34-9221-15FF-C8B5-90F5C2FF3602}"/>
              </a:ext>
            </a:extLst>
          </p:cNvPr>
          <p:cNvCxnSpPr>
            <a:cxnSpLocks/>
            <a:stCxn id="84" idx="1"/>
          </p:cNvCxnSpPr>
          <p:nvPr/>
        </p:nvCxnSpPr>
        <p:spPr>
          <a:xfrm>
            <a:off x="5453445" y="3603813"/>
            <a:ext cx="3230839" cy="926315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30D3FDB2-43CD-DECD-3353-28470E2A1AC1}"/>
              </a:ext>
            </a:extLst>
          </p:cNvPr>
          <p:cNvSpPr txBox="1"/>
          <p:nvPr/>
        </p:nvSpPr>
        <p:spPr>
          <a:xfrm>
            <a:off x="8797159" y="4452182"/>
            <a:ext cx="23468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Minimizing total distance means that the shortest distance isn’t necessarily used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34A78BC-8A6E-7C42-BCEE-0092D01A673C}"/>
              </a:ext>
            </a:extLst>
          </p:cNvPr>
          <p:cNvSpPr txBox="1"/>
          <p:nvPr/>
        </p:nvSpPr>
        <p:spPr>
          <a:xfrm>
            <a:off x="8558375" y="1776859"/>
            <a:ext cx="272965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cases when target cells are much fewer than PMN cells the least distance pairwise method produces shorter distance values</a:t>
            </a:r>
          </a:p>
        </p:txBody>
      </p:sp>
    </p:spTree>
    <p:extLst>
      <p:ext uri="{BB962C8B-B14F-4D97-AF65-F5344CB8AC3E}">
        <p14:creationId xmlns:p14="http://schemas.microsoft.com/office/powerpoint/2010/main" val="534742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78D91-012F-A256-2B3C-B6E7051BE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0065BA-B7C0-D459-FFB0-D191857D8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PMN Distance to Immune and tumor cells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4E3FE-8D5F-F29F-79D5-714FEF910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440E71-0637-8554-89B5-4DF29A3F6395}"/>
              </a:ext>
            </a:extLst>
          </p:cNvPr>
          <p:cNvSpPr txBox="1"/>
          <p:nvPr/>
        </p:nvSpPr>
        <p:spPr>
          <a:xfrm>
            <a:off x="7699879" y="1765738"/>
            <a:ext cx="393507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No large differences in general. There are a lot of confounding factors.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The neighborhood and delta analysis produce similar analysis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Non responders have closer distances to CD8, Treg cells which aligns with the neighborhood analysis despite </a:t>
            </a:r>
            <a:r>
              <a:rPr lang="en-US" b="1" dirty="0"/>
              <a:t>higher CD8, Treg frequency</a:t>
            </a:r>
            <a:r>
              <a:rPr lang="en-US" dirty="0"/>
              <a:t> in responder groups.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7BF2F4-0A20-4D74-8AE8-AC89C0408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98" y="1853655"/>
            <a:ext cx="7386670" cy="95263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D6F03D-C559-F165-F160-1CB1CB094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98" y="2992194"/>
            <a:ext cx="7386670" cy="9632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730F57-00B9-AD29-0BDD-11CEEBDED7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299" y="4141358"/>
            <a:ext cx="7386670" cy="94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447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6638-CFC9-29AA-B2D8-B7730B69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6865DF7-25F9-5ED2-0A7D-979FEDE05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Directions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932924-7525-7575-5546-5CC8AE64691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555C5F6-97F6-5DAE-CC1A-A88C557B93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383182"/>
          </a:xfrm>
        </p:spPr>
        <p:txBody>
          <a:bodyPr/>
          <a:lstStyle/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025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041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6288</TotalTime>
  <Words>782</Words>
  <Application>Microsoft Office PowerPoint</Application>
  <PresentationFormat>Widescreen</PresentationFormat>
  <Paragraphs>104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Red Hat Display</vt:lpstr>
      <vt:lpstr>Red Hat Text</vt:lpstr>
      <vt:lpstr>Office Theme</vt:lpstr>
      <vt:lpstr>Week 6 Updates Shapiro</vt:lpstr>
      <vt:lpstr>Radial Distance – Example Methodology</vt:lpstr>
      <vt:lpstr>Choosing Radial Distances </vt:lpstr>
      <vt:lpstr>Choosing Radial Distances - Entire Dataset</vt:lpstr>
      <vt:lpstr>Choosing Radial Distance</vt:lpstr>
      <vt:lpstr>Delta Cell Interaction Percentages</vt:lpstr>
      <vt:lpstr>Box Plot of Cellular Neighborhood</vt:lpstr>
      <vt:lpstr>Box Plot of Delta Cellular Neighborhood</vt:lpstr>
      <vt:lpstr>Statistical Significance (Two Tailed T Test)</vt:lpstr>
      <vt:lpstr>Statistical Significance (Two Tailed T Test)</vt:lpstr>
      <vt:lpstr>Statistical Significance (Two Tailed T Test)</vt:lpstr>
      <vt:lpstr>Select Box Plot Neighborhood Delta</vt:lpstr>
      <vt:lpstr>High CD8 and PMN interactions in non responders</vt:lpstr>
      <vt:lpstr>Example of High PMN Colocalization </vt:lpstr>
      <vt:lpstr>PMN Distance Methodology – Example 1</vt:lpstr>
      <vt:lpstr>PMN Distance Methodology – Example 2</vt:lpstr>
      <vt:lpstr>PMN Distance to Immune and tumor cells</vt:lpstr>
      <vt:lpstr>Further Directions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12</cp:revision>
  <dcterms:created xsi:type="dcterms:W3CDTF">2025-06-03T19:55:18Z</dcterms:created>
  <dcterms:modified xsi:type="dcterms:W3CDTF">2025-07-01T22:24:18Z</dcterms:modified>
</cp:coreProperties>
</file>