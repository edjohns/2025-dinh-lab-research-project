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64" r:id="rId2"/>
    <p:sldId id="453" r:id="rId3"/>
    <p:sldId id="451" r:id="rId4"/>
    <p:sldId id="452" r:id="rId5"/>
    <p:sldId id="389" r:id="rId6"/>
    <p:sldId id="412" r:id="rId7"/>
    <p:sldId id="411" r:id="rId8"/>
    <p:sldId id="450" r:id="rId9"/>
    <p:sldId id="448" r:id="rId10"/>
    <p:sldId id="449" r:id="rId11"/>
    <p:sldId id="400" r:id="rId12"/>
    <p:sldId id="454" r:id="rId13"/>
    <p:sldId id="455" r:id="rId14"/>
    <p:sldId id="267" r:id="rId15"/>
    <p:sldId id="39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327"/>
  </p:normalViewPr>
  <p:slideViewPr>
    <p:cSldViewPr snapToGrid="0" snapToObjects="1">
      <p:cViewPr>
        <p:scale>
          <a:sx n="64" d="100"/>
          <a:sy n="64" d="100"/>
        </p:scale>
        <p:origin x="270" y="48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D766-E1EB-1558-A35C-3BDBA58F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A66D9-DF48-1BBD-A4B2-A0B11F6F0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412B0-CA66-2CC9-E540-77F366F1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A8684-FD56-6F4F-FD31-D9174F391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6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AEE3-F34A-2ABB-6C07-1CDA11DF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1EF1E-30AB-02CF-06B4-B09E000D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2987A-AB63-7F49-2399-51EEE6D10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FE203-87D5-D7C9-F9E8-AC029EC45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94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1A79-71C5-4B7C-1697-862CE7FE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BB131-8A14-7274-8027-BFC00FC2C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103F-0156-587E-7F60-6C64A201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8DE1D-347C-3F23-6545-B0C3DC7B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3897B-E9C9-A0F3-2C48-B293C5EA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CBE18-5EEF-CDDE-D8F7-0BB63B324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3A80F-A471-05A6-5FB5-F6FFBA68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D132-D550-CFAD-26E2-E9629E2A1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25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C0B5-B968-4BC2-0F3A-692D7073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21892-9EC5-8501-15C9-97A678CBB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9D367-459D-3D0A-2018-7C3FD0A77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E2C4C-BBEE-ADC4-1272-7FBF565CE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57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36CB1-D779-D41B-D25C-DD1751C9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AC558-0FC2-5CA5-CDE9-2E2548468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D4FDF-77E9-DE47-3E39-D3A27F4F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B050-6CFA-0F80-DB5F-C6938E080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96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8860-FFFE-DB24-97A5-B90E110B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6FC9A-5721-4618-16C9-3BA8C885E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C3F77-CBA4-2DDA-0762-3733DDF10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4C7B5-13F0-66BA-62CA-2A458378F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78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12F7-DE60-08C7-58E8-FE7B06A2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A1965-F891-D9DC-8800-23A5DED0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3DECB-2C8A-094B-BCB2-EB403D87F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954A1-4C1F-A90E-9286-ECF37F7D8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4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A2D0-0821-D58C-567C-F9449F16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D89E4-2FC1-0E3E-BF82-D3B909FDA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B34E8-39A2-3F4A-1B8C-F40BA4A0F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D787D-7BC0-923D-E4D1-A0D966A0D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9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F148-D244-54FD-E22C-949948C4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17625-1735-205C-72DF-34D4C7560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2B36E-32E9-FB07-B1F6-756AB8678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71ECE-F30D-A38E-5B36-0FA7655C8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C9F6-C505-2580-91C8-D075F62C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896D7-2FA0-329C-A6BA-C35347B3B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9BFAA-1136-FBCE-E50E-99CAB7B69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B1DB-9494-7297-1DC2-B6DA27E8D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68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F935-67CA-3949-3B8A-5056935A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9C57F-7BAD-6F09-97F9-A3EB74CE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1D89C-8A2A-DCBB-61B3-DE50CCF40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9BD11-9BEF-0248-7246-72FD9AA61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99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41F0-AFBC-B202-D026-1A66E275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654E8-09AE-0A4E-2A7E-AD88439EA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2F556-6F24-5136-E701-66EFD4BD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6C159-0015-84EC-79BC-398BBDE8B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5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10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92BF-7A92-E8C3-65C2-DA21F9D3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9BBE54-7AC1-151C-2F58-59E2B8FC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Athena 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ECA14-7B9D-1F1E-9076-FAD9D040A9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FBF7FC-1587-E43B-4D32-6C2B14D6D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532639" cy="1660968"/>
          </a:xfrm>
        </p:spPr>
        <p:txBody>
          <a:bodyPr/>
          <a:lstStyle/>
          <a:p>
            <a:r>
              <a:rPr lang="en-US" dirty="0"/>
              <a:t>Misaligned figures likely responsible for a large portion of the error that we are observing.</a:t>
            </a:r>
          </a:p>
          <a:p>
            <a:r>
              <a:rPr lang="en-US" dirty="0"/>
              <a:t>TMA Core C has much stronger correlations between the protein and mRNA data than TMA Core A. Likely because TMA Core C has better alignment. </a:t>
            </a:r>
          </a:p>
        </p:txBody>
      </p:sp>
    </p:spTree>
    <p:extLst>
      <p:ext uri="{BB962C8B-B14F-4D97-AF65-F5344CB8AC3E}">
        <p14:creationId xmlns:p14="http://schemas.microsoft.com/office/powerpoint/2010/main" val="334580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2A3A-B8BD-3E58-8269-2F85CA7B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A8EBD2-5E7C-5F77-C5F3-8B982987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185069"/>
            <a:ext cx="10896600" cy="517065"/>
          </a:xfrm>
        </p:spPr>
        <p:txBody>
          <a:bodyPr/>
          <a:lstStyle/>
          <a:p>
            <a:r>
              <a:rPr lang="en-US" dirty="0"/>
              <a:t>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2E685-41E4-1E31-2EA1-D2960BDF27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CE4342-6174-476F-5E93-4AAE7CEE5F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083256" y="810490"/>
            <a:ext cx="4411264" cy="286096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E0AE6-0710-E787-5C3F-211AE9058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450" y="3709112"/>
            <a:ext cx="4336071" cy="2824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AC422F-3C27-D417-2F5C-0EDCFF8F0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256" y="3688777"/>
            <a:ext cx="4329008" cy="2824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DA833B-2A03-CC15-056C-80F31D439F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520" y="702134"/>
            <a:ext cx="4576470" cy="298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5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8D97-630D-DBA0-1BBB-272B20DE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F71C34-9E4F-AEA4-A334-D8DE931D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185069"/>
            <a:ext cx="10896600" cy="517065"/>
          </a:xfrm>
        </p:spPr>
        <p:txBody>
          <a:bodyPr/>
          <a:lstStyle/>
          <a:p>
            <a:r>
              <a:rPr lang="en-US" dirty="0"/>
              <a:t>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E801F-444B-48AD-3F59-BB84A57A40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BB00FD-0B3C-6716-9829-EC0B3DED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04" y="674081"/>
            <a:ext cx="4430888" cy="2944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64A652-8E8C-E5C3-4DAA-E293DB92C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219" y="572964"/>
            <a:ext cx="4585608" cy="30451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E8FF93-882C-6C13-CE62-2C9D65892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64" y="3618094"/>
            <a:ext cx="4425968" cy="29440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18DF52-1C0C-A351-3D2D-78CFDFF8F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432" y="3618094"/>
            <a:ext cx="4546654" cy="301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4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3AB1-9DDF-ABF2-3262-D2888CC7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143CAE-691E-17F2-7EEF-40420893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Suspect PMN cells to rest of the sample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228CF-5987-7D38-2C0C-F5B6A804F4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86E49-BBE3-AB61-40AA-9826258694C6}"/>
              </a:ext>
            </a:extLst>
          </p:cNvPr>
          <p:cNvSpPr/>
          <p:nvPr/>
        </p:nvSpPr>
        <p:spPr>
          <a:xfrm>
            <a:off x="7845042" y="1797290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6B5177-D6C2-E908-0B10-622B86F1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4" y="2198876"/>
            <a:ext cx="6577374" cy="3300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C766A-4B3C-6030-9499-012D4920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712" y="2198876"/>
            <a:ext cx="4495715" cy="34830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315DC1-17A6-1B19-170E-ED371A1AA897}"/>
              </a:ext>
            </a:extLst>
          </p:cNvPr>
          <p:cNvSpPr/>
          <p:nvPr/>
        </p:nvSpPr>
        <p:spPr>
          <a:xfrm>
            <a:off x="1806082" y="3135086"/>
            <a:ext cx="369168" cy="19764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35FF05-4300-E3C4-B5C0-D47C14221368}"/>
              </a:ext>
            </a:extLst>
          </p:cNvPr>
          <p:cNvSpPr/>
          <p:nvPr/>
        </p:nvSpPr>
        <p:spPr>
          <a:xfrm>
            <a:off x="1144265" y="1821298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</p:spTree>
    <p:extLst>
      <p:ext uri="{BB962C8B-B14F-4D97-AF65-F5344CB8AC3E}">
        <p14:creationId xmlns:p14="http://schemas.microsoft.com/office/powerpoint/2010/main" val="100064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12E6-C414-03B4-82A4-E4A9F2FC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FC508AE-D7D4-91EC-7591-034F5FD9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Statical Differences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7B234-BDEF-BBE6-0692-7DA2B5BF39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626F57-E02B-D576-4C87-B42D5FB556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3"/>
            <a:ext cx="4671391" cy="3229602"/>
          </a:xfrm>
        </p:spPr>
        <p:txBody>
          <a:bodyPr/>
          <a:lstStyle/>
          <a:p>
            <a:r>
              <a:rPr lang="en-US" dirty="0"/>
              <a:t>Compared suspected neutrophils (macrophages in red box) to macrophages outside of the red box.</a:t>
            </a:r>
          </a:p>
          <a:p>
            <a:r>
              <a:rPr lang="en-US" dirty="0"/>
              <a:t>Lots of noise. Cells even of the same type have high expression differences.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576EA-24D5-3194-EEFB-A81C50A24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381" y="140166"/>
            <a:ext cx="2999119" cy="3615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C10270-E8AD-D5EF-2314-17E60A24B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3777462"/>
            <a:ext cx="3960501" cy="294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5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5041-1CC2-70DD-3F4A-F2A590E4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D2486C-B115-A5F1-95DC-EA5A7D23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&amp; protein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60A0D-6E80-731E-4BC4-ABE704340F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0715C4-3F0C-A302-81CF-B25490802931}"/>
              </a:ext>
            </a:extLst>
          </p:cNvPr>
          <p:cNvSpPr/>
          <p:nvPr/>
        </p:nvSpPr>
        <p:spPr>
          <a:xfrm>
            <a:off x="2329842" y="149059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97B07-9792-DE2E-3007-1C2BB256041B}"/>
              </a:ext>
            </a:extLst>
          </p:cNvPr>
          <p:cNvSpPr/>
          <p:nvPr/>
        </p:nvSpPr>
        <p:spPr>
          <a:xfrm>
            <a:off x="7056330" y="149059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668A2-8874-B769-B2CD-E3D0D418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4559"/>
            <a:ext cx="6923212" cy="3501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7A49C2-59F3-DDBA-42C0-3015E039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796" y="2245010"/>
            <a:ext cx="4770630" cy="36707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05BD03-B328-6172-795E-A90085FCE2D1}"/>
              </a:ext>
            </a:extLst>
          </p:cNvPr>
          <p:cNvSpPr/>
          <p:nvPr/>
        </p:nvSpPr>
        <p:spPr>
          <a:xfrm>
            <a:off x="698578" y="4509525"/>
            <a:ext cx="721297" cy="6020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62095-4F32-9A60-0F4F-2D006D641A60}"/>
              </a:ext>
            </a:extLst>
          </p:cNvPr>
          <p:cNvSpPr/>
          <p:nvPr/>
        </p:nvSpPr>
        <p:spPr>
          <a:xfrm>
            <a:off x="1629070" y="4816217"/>
            <a:ext cx="580307" cy="4647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C93BD-1B98-FA17-F07B-FB0768F11546}"/>
              </a:ext>
            </a:extLst>
          </p:cNvPr>
          <p:cNvSpPr/>
          <p:nvPr/>
        </p:nvSpPr>
        <p:spPr>
          <a:xfrm>
            <a:off x="408424" y="3480364"/>
            <a:ext cx="1113683" cy="3930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44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CD6D-C278-AEFF-F3A8-AC8616F4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CF9FD4-DD98-5F7F-59E4-4380193F3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Statical Differences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4E4C5-9593-2512-7730-BF524D7CE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DE0FFC-ACBA-7C9D-A49D-DFA69CAC7C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3"/>
            <a:ext cx="4671391" cy="2021066"/>
          </a:xfrm>
        </p:spPr>
        <p:txBody>
          <a:bodyPr/>
          <a:lstStyle/>
          <a:p>
            <a:r>
              <a:rPr lang="en-US" dirty="0"/>
              <a:t>Compared suspected neutrophils (macrophages in red box) to macrophages outside of the red box.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BB92A-4F72-C3A1-B760-BB4DA605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250" y="215822"/>
            <a:ext cx="4013057" cy="4103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64217-2172-B529-39A6-6B47F4757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329" y="4534932"/>
            <a:ext cx="4094108" cy="82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70C6-4A57-C6CB-903D-BFED9D73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2FD034-2D74-31CE-880F-DAE12BF1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&amp; protein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027D2-8F4C-C11F-5092-E9507F16B5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F13FE-F6F5-CB12-5231-33392F583482}"/>
              </a:ext>
            </a:extLst>
          </p:cNvPr>
          <p:cNvSpPr/>
          <p:nvPr/>
        </p:nvSpPr>
        <p:spPr>
          <a:xfrm>
            <a:off x="2329842" y="149059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567BB-593F-4571-9BB2-8A7AAA585780}"/>
              </a:ext>
            </a:extLst>
          </p:cNvPr>
          <p:cNvSpPr/>
          <p:nvPr/>
        </p:nvSpPr>
        <p:spPr>
          <a:xfrm>
            <a:off x="7056330" y="149059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2D2CF-2C1C-47CC-56A0-F0C1A6919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3" y="2181125"/>
            <a:ext cx="6720355" cy="3391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0F5283-3CDF-7950-54C1-76FC0C11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968" y="2018779"/>
            <a:ext cx="4792325" cy="36674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50D6B4-78F3-8E51-2EC1-14D0D3D01922}"/>
              </a:ext>
            </a:extLst>
          </p:cNvPr>
          <p:cNvSpPr/>
          <p:nvPr/>
        </p:nvSpPr>
        <p:spPr>
          <a:xfrm>
            <a:off x="611707" y="4645832"/>
            <a:ext cx="512835" cy="4647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3BC0D8-30BB-AB4A-915D-75223D781D19}"/>
              </a:ext>
            </a:extLst>
          </p:cNvPr>
          <p:cNvSpPr/>
          <p:nvPr/>
        </p:nvSpPr>
        <p:spPr>
          <a:xfrm>
            <a:off x="1610353" y="3543062"/>
            <a:ext cx="269563" cy="216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D2B86-F5AD-9AC2-98DE-3C31122311DC}"/>
              </a:ext>
            </a:extLst>
          </p:cNvPr>
          <p:cNvSpPr/>
          <p:nvPr/>
        </p:nvSpPr>
        <p:spPr>
          <a:xfrm>
            <a:off x="535980" y="2911691"/>
            <a:ext cx="1074373" cy="302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BD10-52F9-0640-02B7-8B608F77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27E34A1-8E0C-EF00-A722-36612C4B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Statical Differences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75378-42B6-BD6E-A075-086F6E7776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8BE2D9-21C8-2F47-C63C-E9373D1836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3"/>
            <a:ext cx="4671391" cy="2021066"/>
          </a:xfrm>
        </p:spPr>
        <p:txBody>
          <a:bodyPr/>
          <a:lstStyle/>
          <a:p>
            <a:r>
              <a:rPr lang="en-US" dirty="0"/>
              <a:t>Compared suspected neutrophils (macrophages in red box) to macrophages outside of the red box.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6850A-87BD-453B-F371-B89D134A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76" y="1594033"/>
            <a:ext cx="4558940" cy="383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7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6C8F-DFEC-9909-A006-19AEF4EF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51226D-17E6-F34A-4DE3-FB787A90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TMA CORE ALIGNMENT Protein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2A7B-50A4-39D2-C82B-851CAE4D55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D5763D-ED02-19B8-1A27-B055081A99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753595" cy="41240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19BC90-30A8-0CFC-AE8E-6142E9827129}"/>
              </a:ext>
            </a:extLst>
          </p:cNvPr>
          <p:cNvSpPr/>
          <p:nvPr/>
        </p:nvSpPr>
        <p:spPr>
          <a:xfrm>
            <a:off x="8943583" y="1479569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E42DE-98A5-B773-360C-A4B0259EA4A0}"/>
              </a:ext>
            </a:extLst>
          </p:cNvPr>
          <p:cNvSpPr/>
          <p:nvPr/>
        </p:nvSpPr>
        <p:spPr>
          <a:xfrm>
            <a:off x="1475984" y="148221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5C430-1F66-849A-5092-49903430E4B7}"/>
              </a:ext>
            </a:extLst>
          </p:cNvPr>
          <p:cNvSpPr/>
          <p:nvPr/>
        </p:nvSpPr>
        <p:spPr>
          <a:xfrm>
            <a:off x="5059993" y="1479569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TMAB</a:t>
            </a:r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9E98D60-C5D7-B3BD-6DD9-A1B6CD2DD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2271"/>
            <a:ext cx="3632918" cy="4737861"/>
          </a:xfrm>
          <a:prstGeom prst="rect">
            <a:avLst/>
          </a:prstGeom>
        </p:spPr>
      </p:pic>
      <p:pic>
        <p:nvPicPr>
          <p:cNvPr id="14" name="Picture 1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F622E1C-55CD-9B99-30E6-1D55FAA9A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15" y="1782271"/>
            <a:ext cx="3287712" cy="4694680"/>
          </a:xfrm>
          <a:prstGeom prst="rect">
            <a:avLst/>
          </a:prstGeom>
        </p:spPr>
      </p:pic>
      <p:pic>
        <p:nvPicPr>
          <p:cNvPr id="16" name="Picture 15" descr="A close up of a pattern&#10;&#10;AI-generated content may be incorrect.">
            <a:extLst>
              <a:ext uri="{FF2B5EF4-FFF2-40B4-BE49-F238E27FC236}">
                <a16:creationId xmlns:a16="http://schemas.microsoft.com/office/drawing/2014/main" id="{437B4ABC-975D-5131-FAB3-AFAEED012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424" y="1782272"/>
            <a:ext cx="3816229" cy="46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85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280D-EEA7-C5E8-3276-464F1F7D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9D240D-2F1B-3708-589F-789C5459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Coordinates of Protein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0A094-E262-F843-B1E3-55DCB99543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C1542E-E030-C056-3131-447747DD97E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638697" y="2004438"/>
            <a:ext cx="3786842" cy="373000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DEA29E-57AC-6E2F-1466-E1BB4DEBC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74" y="2079124"/>
            <a:ext cx="3647782" cy="34718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B3A467-B13D-8BC1-BF9B-3D7272A7D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539" y="2079123"/>
            <a:ext cx="3546337" cy="358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197E-C9F2-93FF-3B6C-CE8DF33C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4F2A9A-C423-3F3E-5675-6479B2DD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Coordinates of Protein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D4C3-B4B8-4B81-4716-3004FAD0BA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40D79-9C26-CF68-0BA1-EB40C68C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505" y="1535441"/>
            <a:ext cx="4569737" cy="4682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926626-A3E3-B019-2CD9-9E843914C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5441"/>
            <a:ext cx="3579697" cy="4682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267350-FC2A-DF8B-6E4B-1FA7430BF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697" y="1535441"/>
            <a:ext cx="3569808" cy="46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3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E4D6-2028-6203-7915-8099A549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0A6C0C-EF3B-72EA-5C41-C0C3393F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C0B36-4556-E7FA-276F-9790EC013F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DD046A-3700-0FC8-7A73-A32CE81AF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532639" cy="448303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5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29149</TotalTime>
  <Words>191</Words>
  <Application>Microsoft Office PowerPoint</Application>
  <PresentationFormat>Widescreen</PresentationFormat>
  <Paragraphs>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Red Hat Display</vt:lpstr>
      <vt:lpstr>Red Hat Text</vt:lpstr>
      <vt:lpstr>Office Theme</vt:lpstr>
      <vt:lpstr>Week 10 Updates Shapiro</vt:lpstr>
      <vt:lpstr>Athena Supplemental Figure Analysis</vt:lpstr>
      <vt:lpstr>Supplemental Figure Analysis</vt:lpstr>
      <vt:lpstr>Supplemental Figure Analysis</vt:lpstr>
      <vt:lpstr>Comparing Suspect PMN cells to rest of the sample</vt:lpstr>
      <vt:lpstr>Statical Differences </vt:lpstr>
      <vt:lpstr>mRNA &amp; protein comparison</vt:lpstr>
      <vt:lpstr>Statical Differences </vt:lpstr>
      <vt:lpstr>mRNA &amp; protein comparison</vt:lpstr>
      <vt:lpstr>Statical Differences </vt:lpstr>
      <vt:lpstr>TMA CORE ALIGNMENT Protein</vt:lpstr>
      <vt:lpstr>Global Coordinates of Protein Data</vt:lpstr>
      <vt:lpstr>Global Coordinates of Protein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29</cp:revision>
  <dcterms:created xsi:type="dcterms:W3CDTF">2025-06-03T19:55:18Z</dcterms:created>
  <dcterms:modified xsi:type="dcterms:W3CDTF">2025-07-29T23:05:17Z</dcterms:modified>
</cp:coreProperties>
</file>