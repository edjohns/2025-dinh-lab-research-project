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sldIdLst>
    <p:sldId id="264" r:id="rId2"/>
    <p:sldId id="370" r:id="rId3"/>
    <p:sldId id="372" r:id="rId4"/>
    <p:sldId id="308" r:id="rId5"/>
    <p:sldId id="373" r:id="rId6"/>
    <p:sldId id="306" r:id="rId7"/>
    <p:sldId id="305" r:id="rId8"/>
    <p:sldId id="307" r:id="rId9"/>
    <p:sldId id="315" r:id="rId10"/>
    <p:sldId id="313" r:id="rId11"/>
    <p:sldId id="319" r:id="rId12"/>
    <p:sldId id="325" r:id="rId13"/>
    <p:sldId id="324" r:id="rId14"/>
    <p:sldId id="376" r:id="rId15"/>
    <p:sldId id="375" r:id="rId16"/>
    <p:sldId id="377" r:id="rId17"/>
    <p:sldId id="371" r:id="rId18"/>
    <p:sldId id="267" r:id="rId19"/>
    <p:sldId id="3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6327"/>
  </p:normalViewPr>
  <p:slideViewPr>
    <p:cSldViewPr snapToGrid="0" snapToObjects="1">
      <p:cViewPr varScale="1">
        <p:scale>
          <a:sx n="84" d="100"/>
          <a:sy n="84" d="100"/>
        </p:scale>
        <p:origin x="351" y="3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A0EDF-DC4F-F320-E162-C3CC7D99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3483CE-81B6-A9D2-AD8F-73D3E171E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CB627-7CAA-3463-3C33-D8F1BDCE4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50869-E797-1B6E-B5AD-E89A90B6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868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A1B79-3334-1C33-1365-3CFFF34C5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D68967-D742-642B-8B27-A2B31513E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17C18-43E6-7FF7-1F57-002DE2E7F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33B6A-907F-9E92-FA5C-99F8749C61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5227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EAEB4-4E3B-FD20-7A71-02897E2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17534-FDA7-60FA-9E57-ACC0B7682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436E2-7043-5F77-00A4-5A6E60D4A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A2913-3881-212C-6E1E-AC069B10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265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CC9D7-250F-0184-265E-6C0C58BBB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A298FA-D737-7261-D194-70FD91BE7E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8CF649-5D01-1293-6811-5B83FAE95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43174-375B-C351-0DAE-6031A0710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383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686F-E970-0B33-E9F9-71EF40BC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71EDB-769D-B1C6-5F42-7E358D1F1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85FBF-7E59-985C-AD05-2BEE4569D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9DF43-4C63-FA37-5B70-556A1B85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657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934F-8883-D06F-6E94-1065935A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6FFA1-2FFA-08AE-B58B-64206FD52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F4960-5C5C-8261-B173-07BC64A5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7175A-3042-6A8E-A312-9FA580141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991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7B159-7F20-609B-ED74-E7261CB6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F6786-CD0D-3D72-6B6F-2853FC184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8D453-3164-33DC-2509-D1C6C5BA1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78D8E-9FE0-3ED0-0520-A25D1861C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0768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19-315C-08DF-7FA2-8FCEAB01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B3F32-B395-1B82-599A-9D635D03A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27B11-8D0D-E1A2-0AF6-C00547DD5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09504-8821-037D-19FA-9E2D43568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998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429FC-0ED6-5861-41D4-78F21D394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3F4957-A095-39D9-4AE0-907354ED5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D3B4E-786D-81F1-BEC5-4E74AD834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0399F-5FFB-CE48-9F3F-F9F372C77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6385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A158E-8E42-58D2-F0FA-0FF2AACB8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BE1AD9-0512-92C8-E845-CAEF7F333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9C1D5D-52A1-6983-525F-2994C87F2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56E1A-9B12-5C8D-F5C2-228C5B08C7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0439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E0672-B926-67E2-B79F-F7BE0D85E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4A31FC-17D4-0BD8-0F72-48F48A5447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01C35-81B3-F28E-DA14-841AC0A57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C51DF-3799-390A-A646-516E786C5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394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2249A-75C2-7CBB-3C62-E078CF52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E08E13-8311-4B84-DC4A-057320704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1D69A-B752-92A7-E4A1-2ED5BECC72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98F7B-AE96-0686-5A8E-AA98739CC2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2529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B7504-EC00-66F4-393D-4233A26F9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BD58E2-4C67-E000-3C01-1CC637AEA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7BDA6-F801-623F-A78E-1F81E8A7AF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22885-B18C-0C89-686C-552411CBDC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642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7FE3B-F000-763E-389D-30E9E2843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D7999-6194-3137-6C3A-0848960B5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75FEFC-E707-ECAD-1CCD-46568C70F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BD915-4FB3-6C1D-C4B1-9B3EDE2466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458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9F8FC-AF9A-9BF0-1EC3-981A5D55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09D944-EDEB-03C0-AA06-8837E65541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86212D-6FA1-5B2C-2B40-CBF7BDCF11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23D6F6-8D5D-C9EB-54D7-050AD7B74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3553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4C364-1D54-713D-2B22-6FB5A51EA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0F0C1-5E1D-3610-9DA1-7758EF1AAE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E53B82-90D9-3DB4-CB04-01FE08F25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3226F-BDC5-9306-DC28-C6C2268B2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75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hyperlink" Target="https://pubmed.ncbi.nlm.nih.gov/40311615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Lab Meeting 7/22/25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4A6-71CA-2707-E9CD-FA4E5114A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BFAB37-A5C5-F0BB-D6D5-F4EF77CBF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 Aims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7C9C6-A1ED-3421-ABF4-B3D311C0E7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4D1F08B-F2CC-863A-8FB2-6DAD9A125ED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263764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Research Objective 1: </a:t>
            </a:r>
            <a:r>
              <a:rPr lang="en-US" dirty="0"/>
              <a:t>Quantify the Proximity Between Neutrophils and Different T cell Subsets in HNSCC Responder and Non-Responder Tissues. </a:t>
            </a:r>
          </a:p>
          <a:p>
            <a:pPr marL="0" indent="0">
              <a:buNone/>
            </a:pPr>
            <a:r>
              <a:rPr lang="en-US" b="1" dirty="0"/>
              <a:t>Research Objective 2: </a:t>
            </a:r>
            <a:r>
              <a:rPr lang="en-US" dirty="0"/>
              <a:t>Identify Ligand-Receptor Pairs Associated with Neutrophil and T cell Interactions Between Responders and Non-Responders.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287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8E598-8E1C-36E7-E8AD-C5638310B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8F9BE8B-1D26-9B73-A695-300992704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Data Summary - Protein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130A73-D586-6BB1-78DA-E66174624B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CBA6DF5-1020-31BB-4B0D-749E914122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4691" y="1643817"/>
            <a:ext cx="3434353" cy="6135013"/>
          </a:xfrm>
        </p:spPr>
        <p:txBody>
          <a:bodyPr/>
          <a:lstStyle/>
          <a:p>
            <a:r>
              <a:rPr lang="en-US" dirty="0" err="1">
                <a:solidFill>
                  <a:srgbClr val="000000"/>
                </a:solidFill>
              </a:rPr>
              <a:t>CosMx</a:t>
            </a:r>
            <a:r>
              <a:rPr lang="en-US" dirty="0">
                <a:solidFill>
                  <a:srgbClr val="000000"/>
                </a:solidFill>
              </a:rPr>
              <a:t> Protein Assay</a:t>
            </a:r>
          </a:p>
          <a:p>
            <a:r>
              <a:rPr lang="en-US" dirty="0">
                <a:solidFill>
                  <a:srgbClr val="000000"/>
                </a:solidFill>
              </a:rPr>
              <a:t>68 samples from 26 patients of HNSCC</a:t>
            </a:r>
          </a:p>
          <a:p>
            <a:r>
              <a:rPr lang="en-US" dirty="0">
                <a:solidFill>
                  <a:srgbClr val="000000"/>
                </a:solidFill>
              </a:rPr>
              <a:t>64 panel protein expression</a:t>
            </a:r>
          </a:p>
          <a:p>
            <a:r>
              <a:rPr lang="en-US" dirty="0">
                <a:solidFill>
                  <a:srgbClr val="000000"/>
                </a:solidFill>
              </a:rPr>
              <a:t>Morphology visualization: PanCK, CD45, CD3, CD298/B2M antibodies and DAPI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EF65EF-2A88-2CF1-4A84-C0AB1F765A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7820010"/>
              </p:ext>
            </p:extLst>
          </p:nvPr>
        </p:nvGraphicFramePr>
        <p:xfrm>
          <a:off x="6296106" y="2434259"/>
          <a:ext cx="5283200" cy="2844800"/>
        </p:xfrm>
        <a:graphic>
          <a:graphicData uri="http://schemas.openxmlformats.org/drawingml/2006/table">
            <a:tbl>
              <a:tblPr/>
              <a:tblGrid>
                <a:gridCol w="1320800">
                  <a:extLst>
                    <a:ext uri="{9D8B030D-6E8A-4147-A177-3AD203B41FA5}">
                      <a16:colId xmlns:a16="http://schemas.microsoft.com/office/drawing/2014/main" val="1827201901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152288976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419149517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18465992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4-1BB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CD14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CD31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CD56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10351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B7-H3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CD15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CD34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CD68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57882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Bcl-2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CD16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CD38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CD8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174009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Beta-catenin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CD163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CD39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CTLA4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755500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CCR7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CD19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CD4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EGFR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36895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CD11b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CD20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CD40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EpCAM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490105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CD11c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CD27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CD45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FABP4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26225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CD127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CD45RA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Fibronectin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984991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FOXP3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IDO1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LAMP1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+mn-lt"/>
                        </a:rPr>
                        <a:t>Rabbit IgG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029965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GITR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IgD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+mn-lt"/>
                        </a:rPr>
                        <a:t>Mouse IgG1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SMA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00346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GZMA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IL-18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NF-kB p65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STING/TMEM173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304051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GZMB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IL-1b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p53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Syndecan-1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36523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HER2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IL3RA/CD123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pan-RAS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TCF1/TCF7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218988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HLA-DR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iNOS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PD-1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TIM3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711120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ICAM1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Ki-67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PD-L1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Vimentin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07741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ICOS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LAG3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PD-L2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VISTA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80117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9EA3767-FAEA-9FAD-718C-AFA4FC7DEDDB}"/>
              </a:ext>
            </a:extLst>
          </p:cNvPr>
          <p:cNvSpPr txBox="1"/>
          <p:nvPr/>
        </p:nvSpPr>
        <p:spPr>
          <a:xfrm>
            <a:off x="6782172" y="1908820"/>
            <a:ext cx="4385420" cy="40011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64-Plex </a:t>
            </a:r>
            <a:r>
              <a:rPr lang="en-US" sz="2000" b="1" dirty="0" err="1">
                <a:solidFill>
                  <a:schemeClr val="bg1"/>
                </a:solidFill>
              </a:rPr>
              <a:t>CosMx</a:t>
            </a:r>
            <a:r>
              <a:rPr lang="en-US" sz="2000" b="1" dirty="0">
                <a:solidFill>
                  <a:schemeClr val="bg1"/>
                </a:solidFill>
              </a:rPr>
              <a:t> Protein IO Panel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C8FB70-5F59-E950-3A41-42780CB17D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9097" y="1959039"/>
            <a:ext cx="2536956" cy="3531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569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F2CA0-7C4B-7266-68A7-AF30FFEA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662B5F0-A2C9-B929-981B-53B5DF9B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659" y="-128112"/>
            <a:ext cx="11291455" cy="987963"/>
          </a:xfrm>
        </p:spPr>
        <p:txBody>
          <a:bodyPr/>
          <a:lstStyle/>
          <a:p>
            <a:r>
              <a:rPr lang="en-US" dirty="0"/>
              <a:t>Methodology: Neutrophil Interaction Quantified by Proximity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DBCD3-8905-834B-4852-0385E6D940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09881E78-495E-EBD1-8C58-2E5A5BE870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19810" y="2543671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545F3DB-E0A1-88C2-FB80-A987917C9F11}"/>
              </a:ext>
            </a:extLst>
          </p:cNvPr>
          <p:cNvSpPr/>
          <p:nvPr/>
        </p:nvSpPr>
        <p:spPr>
          <a:xfrm>
            <a:off x="1534392" y="1916730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06800C16-6DE4-7655-1CEC-8B974CAB9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230" y="3430147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3F70CFFB-F63B-FC16-2F42-C4D43E0A96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41587" y="4160137"/>
            <a:ext cx="885047" cy="80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E23C19-C638-14E9-F4D6-0D421C0645C9}"/>
              </a:ext>
            </a:extLst>
          </p:cNvPr>
          <p:cNvSpPr/>
          <p:nvPr/>
        </p:nvSpPr>
        <p:spPr>
          <a:xfrm>
            <a:off x="501298" y="4327659"/>
            <a:ext cx="1261920" cy="253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</a:t>
            </a:r>
          </a:p>
        </p:txBody>
      </p:sp>
      <p:pic>
        <p:nvPicPr>
          <p:cNvPr id="14" name="Picture 34" descr="Cancer cell - Free healthcare and medical icons">
            <a:extLst>
              <a:ext uri="{FF2B5EF4-FFF2-40B4-BE49-F238E27FC236}">
                <a16:creationId xmlns:a16="http://schemas.microsoft.com/office/drawing/2014/main" id="{6976E069-AA8F-14A4-E3D3-258EDB427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233381" y="4147170"/>
            <a:ext cx="792042" cy="792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Neutrophil granulocyte - Servier Medical Art">
            <a:extLst>
              <a:ext uri="{FF2B5EF4-FFF2-40B4-BE49-F238E27FC236}">
                <a16:creationId xmlns:a16="http://schemas.microsoft.com/office/drawing/2014/main" id="{2B37EFA6-E25C-25FA-5211-A51D0A771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1960" y="5019574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E8610B2-CB07-012B-BE6B-66C571DD783E}"/>
              </a:ext>
            </a:extLst>
          </p:cNvPr>
          <p:cNvSpPr/>
          <p:nvPr/>
        </p:nvSpPr>
        <p:spPr>
          <a:xfrm>
            <a:off x="5239033" y="4454194"/>
            <a:ext cx="1318709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F29F08-C34A-BF23-749A-4AE2B55BE5EB}"/>
              </a:ext>
            </a:extLst>
          </p:cNvPr>
          <p:cNvSpPr/>
          <p:nvPr/>
        </p:nvSpPr>
        <p:spPr>
          <a:xfrm>
            <a:off x="3227230" y="3108740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E6FC2E-BE5F-893F-FE98-43F418836409}"/>
              </a:ext>
            </a:extLst>
          </p:cNvPr>
          <p:cNvSpPr/>
          <p:nvPr/>
        </p:nvSpPr>
        <p:spPr>
          <a:xfrm>
            <a:off x="3227230" y="5771955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1A70A0A-FA15-E93A-1285-077C56A2CC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1678" y="3955007"/>
            <a:ext cx="3045093" cy="257904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D13CF6-2C05-53A1-FF1B-2B3B32F0AACC}"/>
              </a:ext>
            </a:extLst>
          </p:cNvPr>
          <p:cNvSpPr txBox="1"/>
          <p:nvPr/>
        </p:nvSpPr>
        <p:spPr>
          <a:xfrm>
            <a:off x="5957455" y="1206877"/>
            <a:ext cx="48561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There is no set standard but 15 µm is a common value used in literature for proximal interaction (</a:t>
            </a:r>
            <a:r>
              <a:rPr lang="en-US" sz="2400" dirty="0">
                <a:hlinkClick r:id="rId7"/>
              </a:rPr>
              <a:t>1</a:t>
            </a:r>
            <a:r>
              <a:rPr lang="en-US" sz="24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7C9313-CEB5-C520-D57F-59A0759A5E8B}"/>
              </a:ext>
            </a:extLst>
          </p:cNvPr>
          <p:cNvCxnSpPr>
            <a:cxnSpLocks/>
            <a:endCxn id="9" idx="6"/>
          </p:cNvCxnSpPr>
          <p:nvPr/>
        </p:nvCxnSpPr>
        <p:spPr>
          <a:xfrm>
            <a:off x="3600844" y="3833929"/>
            <a:ext cx="204309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FA81F9-F0A5-8B1B-1683-388FD4ECB5D5}"/>
              </a:ext>
            </a:extLst>
          </p:cNvPr>
          <p:cNvSpPr/>
          <p:nvPr/>
        </p:nvSpPr>
        <p:spPr>
          <a:xfrm>
            <a:off x="4288221" y="3556701"/>
            <a:ext cx="950812" cy="1639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 µm</a:t>
            </a:r>
          </a:p>
        </p:txBody>
      </p:sp>
    </p:spTree>
    <p:extLst>
      <p:ext uri="{BB962C8B-B14F-4D97-AF65-F5344CB8AC3E}">
        <p14:creationId xmlns:p14="http://schemas.microsoft.com/office/powerpoint/2010/main" val="131004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3FF6E-293E-8C34-7D44-107DB2186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75CB0FE-E1B6-10BA-3F08-9B2FD6D46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Neutrophil Cellular Neighborhood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12C4A3-8C31-EC55-FF95-ECF24D9A81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F4FF335-2987-4893-E6C9-C5E783706F1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2" y="1643818"/>
            <a:ext cx="5130197" cy="286950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cellular neighborhood, </a:t>
            </a:r>
            <a:r>
              <a:rPr lang="en-US" dirty="0"/>
              <a:t>defined as the cells in close proximity to neutrophils, was quantified for each sample. </a:t>
            </a:r>
          </a:p>
          <a:p>
            <a:r>
              <a:rPr lang="en-US" dirty="0"/>
              <a:t>A measure of what type of cells neutrophils interact.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B38AA5-882F-2A9D-0078-E40ABFE69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29" y="1613553"/>
            <a:ext cx="5465726" cy="480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79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294527" cy="3231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D229C0-7859-1515-35AD-E8CBC6A769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6"/>
          <a:stretch>
            <a:fillRect/>
          </a:stretch>
        </p:blipFill>
        <p:spPr>
          <a:xfrm>
            <a:off x="4294527" y="2735966"/>
            <a:ext cx="4377989" cy="40432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DF9AEC9-EA93-02CA-74D1-F58317DFF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8" y="2524788"/>
            <a:ext cx="3663562" cy="3273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A253B1-55D8-EEAE-6BC5-2C2587A8A735}"/>
              </a:ext>
            </a:extLst>
          </p:cNvPr>
          <p:cNvSpPr txBox="1"/>
          <p:nvPr/>
        </p:nvSpPr>
        <p:spPr>
          <a:xfrm>
            <a:off x="8769350" y="3072516"/>
            <a:ext cx="28003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PMN = 24.9 – 0.96 =24.16%</a:t>
            </a:r>
          </a:p>
          <a:p>
            <a:r>
              <a:rPr lang="en-US" dirty="0"/>
              <a:t>Tumor=-19.4%</a:t>
            </a:r>
          </a:p>
          <a:p>
            <a:r>
              <a:rPr lang="en-US" dirty="0"/>
              <a:t>Endo= - 8.1%</a:t>
            </a:r>
          </a:p>
          <a:p>
            <a:r>
              <a:rPr lang="en-US" dirty="0" err="1"/>
              <a:t>Etc</a:t>
            </a:r>
            <a:r>
              <a:rPr lang="en-US" dirty="0"/>
              <a:t>…..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AB72F9D-4869-90B0-9AA1-3E5F25307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974" y="6557602"/>
            <a:ext cx="4207225" cy="2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04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4C1E-7DD1-26CA-C70E-04C2D4008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7C3E36F-F7C6-14B5-5C7B-2B6A63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Cellular Neighborhood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8A4331-9CD4-AFE9-735F-4BEB910D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39" y="702134"/>
            <a:ext cx="10634995" cy="60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08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A4B6E-8BA6-46A3-239C-17B8FDDC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75FF4C5-250B-7C00-62A4-D997A1F3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Delta Cellular Neighborhood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F35213-BF2A-164E-350E-0E0B8040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02134"/>
            <a:ext cx="10400803" cy="587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298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39934-7DAA-A7BC-A33C-F716860A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FA1-B69F-64C4-BC23-CCDD1DF35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</a:t>
            </a:r>
            <a:r>
              <a:rPr lang="en-US" dirty="0" err="1"/>
              <a:t>wilxoxon</a:t>
            </a:r>
            <a:r>
              <a:rPr lang="en-US" dirty="0"/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F37D0-905D-42E7-2BB8-E0F830B13B3C}"/>
              </a:ext>
            </a:extLst>
          </p:cNvPr>
          <p:cNvSpPr/>
          <p:nvPr/>
        </p:nvSpPr>
        <p:spPr>
          <a:xfrm>
            <a:off x="3228587" y="1911074"/>
            <a:ext cx="4427219" cy="34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227FFF-A3F1-874D-823E-3ED977C6B2DB}"/>
              </a:ext>
            </a:extLst>
          </p:cNvPr>
          <p:cNvSpPr/>
          <p:nvPr/>
        </p:nvSpPr>
        <p:spPr>
          <a:xfrm>
            <a:off x="839936" y="2522465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PMN&gt;0.1% n=66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FE458B-A89A-2AD4-35D6-5DA7B34B2603}"/>
              </a:ext>
            </a:extLst>
          </p:cNvPr>
          <p:cNvSpPr/>
          <p:nvPr/>
        </p:nvSpPr>
        <p:spPr>
          <a:xfrm>
            <a:off x="4881832" y="2522465"/>
            <a:ext cx="1924285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PMN&gt;1% n=34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1DB45A-6C42-F566-AF2C-A42631E01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72933"/>
            <a:ext cx="3638681" cy="32839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4250C38-5F7E-9B45-DF35-CB3FA8F4A6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771" y="2920264"/>
            <a:ext cx="3655374" cy="319703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A0F9EF9-883D-2BDA-FB91-EC99B21A3275}"/>
              </a:ext>
            </a:extLst>
          </p:cNvPr>
          <p:cNvSpPr/>
          <p:nvPr/>
        </p:nvSpPr>
        <p:spPr>
          <a:xfrm>
            <a:off x="3778771" y="3600396"/>
            <a:ext cx="3612802" cy="18952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B6791A0-9FD3-D02C-AB44-9651F3CA388E}"/>
              </a:ext>
            </a:extLst>
          </p:cNvPr>
          <p:cNvSpPr/>
          <p:nvPr/>
        </p:nvSpPr>
        <p:spPr>
          <a:xfrm>
            <a:off x="3778771" y="5671304"/>
            <a:ext cx="3612802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E6EA37-4420-3123-A1F4-04D69A44A4D2}"/>
              </a:ext>
            </a:extLst>
          </p:cNvPr>
          <p:cNvSpPr/>
          <p:nvPr/>
        </p:nvSpPr>
        <p:spPr>
          <a:xfrm>
            <a:off x="8521457" y="2490823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PMN&gt;3% n=12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917CD9-3C38-0B8A-4066-3B461683E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4481" y="2867306"/>
            <a:ext cx="3802703" cy="328959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F06E656-4973-8100-5E38-AA01F5F533CB}"/>
              </a:ext>
            </a:extLst>
          </p:cNvPr>
          <p:cNvSpPr/>
          <p:nvPr/>
        </p:nvSpPr>
        <p:spPr>
          <a:xfrm>
            <a:off x="7639962" y="3564998"/>
            <a:ext cx="3596886" cy="224922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6F9605-9848-3C03-EE04-AE2734D3096B}"/>
              </a:ext>
            </a:extLst>
          </p:cNvPr>
          <p:cNvSpPr/>
          <p:nvPr/>
        </p:nvSpPr>
        <p:spPr>
          <a:xfrm>
            <a:off x="7597390" y="5662863"/>
            <a:ext cx="3596886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628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96C07-D417-68FE-784D-A649565F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20AAC-4A15-7588-5A50-D1C66185C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2F2F9A-3061-59E1-9B96-30DE90CF1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37240"/>
            <a:ext cx="10598547" cy="4291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706B1C-EE8F-2D9E-AB60-2EF6A1273806}"/>
              </a:ext>
            </a:extLst>
          </p:cNvPr>
          <p:cNvSpPr txBox="1"/>
          <p:nvPr/>
        </p:nvSpPr>
        <p:spPr>
          <a:xfrm>
            <a:off x="744133" y="4741580"/>
            <a:ext cx="105985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Non-Responders have fewer CD8 T-cells than responders but are significantly more likely to interact with neutrophils relative to their frequency. (p=0.036)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 neutrophils are also significantly more likely to interact with Treg cells than their frequency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notable difference of neutrophil interaction with CD4 and DCs between NR and R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Note: DCs and </a:t>
            </a:r>
            <a:r>
              <a:rPr lang="en-US" dirty="0" err="1"/>
              <a:t>B_cells</a:t>
            </a:r>
            <a:r>
              <a:rPr lang="en-US" dirty="0"/>
              <a:t> are more common in responders but don’t interact with </a:t>
            </a:r>
            <a:r>
              <a:rPr lang="en-US" dirty="0" err="1"/>
              <a:t>pmns</a:t>
            </a:r>
            <a:r>
              <a:rPr lang="en-US" dirty="0"/>
              <a:t> more than responders.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15AD1A-3315-C55C-E12E-759A4283ACB9}"/>
              </a:ext>
            </a:extLst>
          </p:cNvPr>
          <p:cNvSpPr txBox="1"/>
          <p:nvPr/>
        </p:nvSpPr>
        <p:spPr>
          <a:xfrm>
            <a:off x="4395354" y="1885587"/>
            <a:ext cx="367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*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24DECB-66B8-00A3-6733-CDDC89AF85AA}"/>
              </a:ext>
            </a:extLst>
          </p:cNvPr>
          <p:cNvSpPr txBox="1"/>
          <p:nvPr/>
        </p:nvSpPr>
        <p:spPr>
          <a:xfrm>
            <a:off x="8586354" y="1885587"/>
            <a:ext cx="367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189368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A1D2-818D-DB90-432B-A8CA5418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C9ADD-BD3B-2645-51DC-4F1EBC356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78701-B4B8-E710-8DAB-F9310FDFABB2}"/>
              </a:ext>
            </a:extLst>
          </p:cNvPr>
          <p:cNvSpPr txBox="1"/>
          <p:nvPr/>
        </p:nvSpPr>
        <p:spPr>
          <a:xfrm>
            <a:off x="668458" y="4880317"/>
            <a:ext cx="94593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Higher variation in neutrophil and tumor cells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Responders have higher neutrophil tumor interactions relative to overall frequency. Data is not significant (p=0.13)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Neutrophils clustering is slightly more common in non-responders, but variation is high (p=0.63)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305212-3F9B-EE73-CB02-EF81EDB77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037" y="984405"/>
            <a:ext cx="8484805" cy="3895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EA127C6-7CB5-CCC7-59DC-0B95DEAAB396}"/>
              </a:ext>
            </a:extLst>
          </p:cNvPr>
          <p:cNvSpPr txBox="1"/>
          <p:nvPr/>
        </p:nvSpPr>
        <p:spPr>
          <a:xfrm>
            <a:off x="2517585" y="2239864"/>
            <a:ext cx="367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67D2DF-40D8-AB38-591A-BED5DCA030A6}"/>
              </a:ext>
            </a:extLst>
          </p:cNvPr>
          <p:cNvSpPr txBox="1"/>
          <p:nvPr/>
        </p:nvSpPr>
        <p:spPr>
          <a:xfrm>
            <a:off x="5912427" y="2242219"/>
            <a:ext cx="367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623620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F65BE-2EA5-A593-6B0E-36B2681A3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BD32866-0ABF-331A-B3F4-3C3FEFD89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NR vs R example CD8-PMN Colocalization – All Cells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11E544-A948-225F-0C7C-AF3AA8858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1769157"/>
            <a:ext cx="4830085" cy="372715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4309CD0-DEA9-26E3-39B9-C2F96D6272B5}"/>
              </a:ext>
            </a:extLst>
          </p:cNvPr>
          <p:cNvSpPr/>
          <p:nvPr/>
        </p:nvSpPr>
        <p:spPr>
          <a:xfrm>
            <a:off x="1473973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F33A76-7F22-D75E-A6AB-003DA6B52C7B}"/>
              </a:ext>
            </a:extLst>
          </p:cNvPr>
          <p:cNvSpPr/>
          <p:nvPr/>
        </p:nvSpPr>
        <p:spPr>
          <a:xfrm>
            <a:off x="6505438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A9E4DF-4E61-DB06-DD38-3B4A77B64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7638" y="1769157"/>
            <a:ext cx="4830085" cy="369493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35F1C73-A802-1B93-0A70-EB91ABA40759}"/>
              </a:ext>
            </a:extLst>
          </p:cNvPr>
          <p:cNvSpPr/>
          <p:nvPr/>
        </p:nvSpPr>
        <p:spPr>
          <a:xfrm>
            <a:off x="586736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5.63%, PMN: 4.004%, Tumor: 22.1%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0C19D-E0C3-E6C5-48C5-C2152DAADE6A}"/>
              </a:ext>
            </a:extLst>
          </p:cNvPr>
          <p:cNvSpPr/>
          <p:nvPr/>
        </p:nvSpPr>
        <p:spPr>
          <a:xfrm>
            <a:off x="5691149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6.14%, PMN: 3.19%, Tumor: 18.8%</a:t>
            </a:r>
          </a:p>
        </p:txBody>
      </p:sp>
    </p:spTree>
    <p:extLst>
      <p:ext uri="{BB962C8B-B14F-4D97-AF65-F5344CB8AC3E}">
        <p14:creationId xmlns:p14="http://schemas.microsoft.com/office/powerpoint/2010/main" val="2518597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4B79A-1B1D-4702-6F9F-74E4A874D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1D16FCC-7399-BA4F-001F-61F8DC446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Example of PMN-CD8 interactions between responder and non-responders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D945B5-0B1C-87CE-2536-5EA373335E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75F2C-3816-2460-0A8B-F48367B51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50" y="1863779"/>
            <a:ext cx="4563836" cy="3469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8AC1EF-AE4C-1835-873C-7418F371F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59" y="1870199"/>
            <a:ext cx="4460516" cy="346295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34E78AA-B6BE-A5BB-556A-E6BEB450246A}"/>
              </a:ext>
            </a:extLst>
          </p:cNvPr>
          <p:cNvSpPr/>
          <p:nvPr/>
        </p:nvSpPr>
        <p:spPr>
          <a:xfrm>
            <a:off x="1473973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90664-D74A-F923-64B3-C0680B7F37BA}"/>
              </a:ext>
            </a:extLst>
          </p:cNvPr>
          <p:cNvSpPr/>
          <p:nvPr/>
        </p:nvSpPr>
        <p:spPr>
          <a:xfrm>
            <a:off x="6505438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7EA811-B5C6-B11B-8FD5-D3961FE7CE75}"/>
              </a:ext>
            </a:extLst>
          </p:cNvPr>
          <p:cNvSpPr/>
          <p:nvPr/>
        </p:nvSpPr>
        <p:spPr>
          <a:xfrm>
            <a:off x="586736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 PMN-CD8: 2.78% 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-2.86%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7363E7-9078-2071-D29E-02627D44F1F8}"/>
              </a:ext>
            </a:extLst>
          </p:cNvPr>
          <p:cNvSpPr/>
          <p:nvPr/>
        </p:nvSpPr>
        <p:spPr>
          <a:xfrm>
            <a:off x="5691149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radial: 7.017%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0.87%</a:t>
            </a:r>
          </a:p>
        </p:txBody>
      </p:sp>
    </p:spTree>
    <p:extLst>
      <p:ext uri="{BB962C8B-B14F-4D97-AF65-F5344CB8AC3E}">
        <p14:creationId xmlns:p14="http://schemas.microsoft.com/office/powerpoint/2010/main" val="1866651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0CEC-DC3C-AE6C-34A9-97BD03DE1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F702A44-45BD-5C52-5ACF-E22ED64C5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10896600" cy="517065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Protein Gene Expression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9F491D-8A5F-E277-57A5-6B471366A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4481" y="2075581"/>
            <a:ext cx="4080777" cy="2662707"/>
          </a:xfrm>
          <a:prstGeom prst="rect">
            <a:avLst/>
          </a:prstGeom>
          <a:noFill/>
        </p:spPr>
      </p:pic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FD1E3FD-E139-7332-F019-04319ABAA0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460516" cy="323165"/>
          </a:xfrm>
        </p:spPr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FB0A65-BA93-81E7-B8BE-3E65FE0B0E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57908"/>
            <a:ext cx="3873029" cy="266270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906302E-B1D7-6B0F-F151-FF863D1B8679}"/>
              </a:ext>
            </a:extLst>
          </p:cNvPr>
          <p:cNvSpPr/>
          <p:nvPr/>
        </p:nvSpPr>
        <p:spPr>
          <a:xfrm>
            <a:off x="1512075" y="1612159"/>
            <a:ext cx="1069635" cy="342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976B7B-BDF8-0C8E-D1ED-802735EC88AD}"/>
              </a:ext>
            </a:extLst>
          </p:cNvPr>
          <p:cNvSpPr/>
          <p:nvPr/>
        </p:nvSpPr>
        <p:spPr>
          <a:xfrm>
            <a:off x="5370682" y="1602732"/>
            <a:ext cx="1069635" cy="342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Treg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C6B143-F12C-3312-A05C-0F6CFA0DFD93}"/>
              </a:ext>
            </a:extLst>
          </p:cNvPr>
          <p:cNvSpPr/>
          <p:nvPr/>
        </p:nvSpPr>
        <p:spPr>
          <a:xfrm>
            <a:off x="9481714" y="1611339"/>
            <a:ext cx="1069635" cy="342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AABF40-B912-2D07-313E-347DD70C33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8462" y="2085658"/>
            <a:ext cx="3931577" cy="265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862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A74E2-CA22-DCD2-91CE-52ADD6FB6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9EF12B-893F-DAC3-A8FE-9A6CF6943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Expression Findings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CA061F-6974-B9ED-7535-E03A16B1DA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FCB87E-613A-9BBF-922A-6AB626337A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3006464"/>
          </a:xfrm>
        </p:spPr>
        <p:txBody>
          <a:bodyPr/>
          <a:lstStyle/>
          <a:p>
            <a:r>
              <a:rPr lang="en-US" dirty="0"/>
              <a:t>Responders versus non-responders</a:t>
            </a:r>
          </a:p>
          <a:p>
            <a:pPr lvl="1"/>
            <a:r>
              <a:rPr lang="en-US" dirty="0"/>
              <a:t>No significant gene expression differences in CD8, Treg, or Neutrophil cells once accounting for multisampling false positive probability</a:t>
            </a:r>
          </a:p>
          <a:p>
            <a:r>
              <a:rPr lang="en-US" dirty="0"/>
              <a:t>Cell interaction checks</a:t>
            </a:r>
          </a:p>
          <a:p>
            <a:pPr lvl="1"/>
            <a:r>
              <a:rPr lang="en-US" dirty="0"/>
              <a:t>PMN interacting with CD8 cells</a:t>
            </a:r>
          </a:p>
          <a:p>
            <a:pPr lvl="1"/>
            <a:r>
              <a:rPr lang="en-US" dirty="0"/>
              <a:t>CD8 interacting with PMN</a:t>
            </a:r>
          </a:p>
          <a:p>
            <a:pPr lvl="1"/>
            <a:r>
              <a:rPr lang="en-US" dirty="0"/>
              <a:t>Treg interacting with PMN</a:t>
            </a:r>
          </a:p>
          <a:p>
            <a:pPr lvl="1"/>
            <a:r>
              <a:rPr lang="en-US" dirty="0"/>
              <a:t>No significant changes once accounting for multisampling false positive probability</a:t>
            </a:r>
          </a:p>
        </p:txBody>
      </p:sp>
    </p:spTree>
    <p:extLst>
      <p:ext uri="{BB962C8B-B14F-4D97-AF65-F5344CB8AC3E}">
        <p14:creationId xmlns:p14="http://schemas.microsoft.com/office/powerpoint/2010/main" val="11471676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1E87F-FE48-7768-D260-CAE0BBCE5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AEB87B2-D316-7ACA-B3CD-74CB89BFC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#1 Conclusions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437B62-3372-1F56-646D-7C156AD532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83B8B28-CFA1-B8FA-61AE-208667D9AF2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5030095"/>
          </a:xfrm>
        </p:spPr>
        <p:txBody>
          <a:bodyPr/>
          <a:lstStyle/>
          <a:p>
            <a:r>
              <a:rPr lang="en-US" dirty="0"/>
              <a:t>Neutrophils interactions CD8 and Treg cells, relative to overall cellular frequency, is a significantly correlated with non-responder patients. At the same time non-responder patients have fewer overall CD8 and Treg cells suggesting the neutrophils cells may suppress recruitment and proliferation of T-cells.</a:t>
            </a:r>
          </a:p>
          <a:p>
            <a:r>
              <a:rPr lang="en-US" dirty="0"/>
              <a:t>Neutrophil interactions with tumor cells, relative to overall cellular frequency, has a non-significant correlated with the patient being responsive to treatment. While non-responder patients typically had a higher proportion of tumor cells neutrophils were more likely to interact with tumor cells in responders suggesting that neutrophils may have anti-tumor interactions.</a:t>
            </a:r>
          </a:p>
          <a:p>
            <a:r>
              <a:rPr lang="en-US" dirty="0"/>
              <a:t> No significant gene expression differences in protein expression between responders and non-responders. Not too surprising as markers are more for identification</a:t>
            </a:r>
          </a:p>
        </p:txBody>
      </p:sp>
    </p:spTree>
    <p:extLst>
      <p:ext uri="{BB962C8B-B14F-4D97-AF65-F5344CB8AC3E}">
        <p14:creationId xmlns:p14="http://schemas.microsoft.com/office/powerpoint/2010/main" val="2728942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BFE1-A012-A392-803F-987680CC8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6E8A8B0-3F01-98DC-CA5B-5776F0DF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96B1F5-25D1-CD39-8611-4CD5E2AD8F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D4487DA-0CEB-F938-742E-2439F194BA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84023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+mj-lt"/>
              </a:rPr>
              <a:t>Oh J, Hoelzl J, Carlson JCT, Bill R, Peterson HM, </a:t>
            </a:r>
            <a:r>
              <a:rPr lang="en-US" sz="1800" dirty="0" err="1">
                <a:latin typeface="+mj-lt"/>
              </a:rPr>
              <a:t>Faquin</a:t>
            </a:r>
            <a:r>
              <a:rPr lang="en-US" sz="1800" dirty="0">
                <a:latin typeface="+mj-lt"/>
              </a:rPr>
              <a:t> WC, Pittet MJ, Pai SI, </a:t>
            </a:r>
            <a:r>
              <a:rPr lang="en-US" sz="1800" dirty="0" err="1">
                <a:latin typeface="+mj-lt"/>
              </a:rPr>
              <a:t>Weissleder</a:t>
            </a:r>
            <a:r>
              <a:rPr lang="en-US" sz="1800" dirty="0">
                <a:latin typeface="+mj-lt"/>
              </a:rPr>
              <a:t> R. Spatial analysis identifies DC niches as predictors of pembrolizumab therapy in head and neck squamous cell cancer. </a:t>
            </a:r>
            <a:r>
              <a:rPr lang="en-US" sz="1800" i="1" dirty="0">
                <a:latin typeface="+mj-lt"/>
              </a:rPr>
              <a:t>Cell Rep Med.</a:t>
            </a:r>
            <a:r>
              <a:rPr lang="en-US" sz="1800" dirty="0">
                <a:latin typeface="+mj-lt"/>
              </a:rPr>
              <a:t> 2025;6(5):102100. doi:10.1016/j.xcrm.2025.102100 PMID:40311615 PMCID:PMC12147904</a:t>
            </a:r>
          </a:p>
        </p:txBody>
      </p:sp>
    </p:spTree>
    <p:extLst>
      <p:ext uri="{BB962C8B-B14F-4D97-AF65-F5344CB8AC3E}">
        <p14:creationId xmlns:p14="http://schemas.microsoft.com/office/powerpoint/2010/main" val="18456088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BA793-25FC-CA1D-DC59-97363B79B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DEEC2EB-1148-D592-27B8-65A6A79D8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AD9091-5457-BA27-6470-165C72F295F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87049D7-E47E-0620-A604-15DFC4326FC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6600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075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20590</TotalTime>
  <Words>821</Words>
  <Application>Microsoft Office PowerPoint</Application>
  <PresentationFormat>Widescreen</PresentationFormat>
  <Paragraphs>171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Red Hat Display</vt:lpstr>
      <vt:lpstr>Red Hat Text</vt:lpstr>
      <vt:lpstr>Office Theme</vt:lpstr>
      <vt:lpstr>Lab Meeting 7/22/25</vt:lpstr>
      <vt:lpstr>Specific Aims </vt:lpstr>
      <vt:lpstr>Project Data Summary - Protein</vt:lpstr>
      <vt:lpstr>Methodology: Neutrophil Interaction Quantified by Proximity </vt:lpstr>
      <vt:lpstr>Example Neutrophil Cellular Neighborhood</vt:lpstr>
      <vt:lpstr>Delta Cell Interaction Percentages</vt:lpstr>
      <vt:lpstr>Box Plot of Cellular Neighborhood</vt:lpstr>
      <vt:lpstr>Box Plot of Delta Cellular Neighborhood</vt:lpstr>
      <vt:lpstr>Statistical Significance (wilxoxon)</vt:lpstr>
      <vt:lpstr>Select Box Plot Neighborhood Delta (Radius = 15 µm)</vt:lpstr>
      <vt:lpstr>Select Box Plot Neighborhood Delta (Radius = 15 µm)</vt:lpstr>
      <vt:lpstr>NR vs R example CD8-PMN Colocalization – All Cells</vt:lpstr>
      <vt:lpstr>Example of PMN-CD8 interactions between responder and non-responders</vt:lpstr>
      <vt:lpstr>Protein Gene Expression </vt:lpstr>
      <vt:lpstr>Protein Expression Findings</vt:lpstr>
      <vt:lpstr>AIM #1 Conclusions</vt:lpstr>
      <vt:lpstr>References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Johns</cp:lastModifiedBy>
  <cp:revision>25</cp:revision>
  <dcterms:created xsi:type="dcterms:W3CDTF">2025-06-03T19:55:18Z</dcterms:created>
  <dcterms:modified xsi:type="dcterms:W3CDTF">2025-07-22T15:28:17Z</dcterms:modified>
</cp:coreProperties>
</file>