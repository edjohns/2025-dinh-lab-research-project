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64" r:id="rId2"/>
    <p:sldId id="370" r:id="rId3"/>
    <p:sldId id="372" r:id="rId4"/>
    <p:sldId id="382" r:id="rId5"/>
    <p:sldId id="308" r:id="rId6"/>
    <p:sldId id="373" r:id="rId7"/>
    <p:sldId id="306" r:id="rId8"/>
    <p:sldId id="305" r:id="rId9"/>
    <p:sldId id="307" r:id="rId10"/>
    <p:sldId id="313" r:id="rId11"/>
    <p:sldId id="319" r:id="rId12"/>
    <p:sldId id="315" r:id="rId13"/>
    <p:sldId id="325" r:id="rId14"/>
    <p:sldId id="378" r:id="rId15"/>
    <p:sldId id="324" r:id="rId16"/>
    <p:sldId id="376" r:id="rId17"/>
    <p:sldId id="375" r:id="rId18"/>
    <p:sldId id="377" r:id="rId19"/>
    <p:sldId id="380" r:id="rId20"/>
    <p:sldId id="352" r:id="rId21"/>
    <p:sldId id="364" r:id="rId22"/>
    <p:sldId id="353" r:id="rId23"/>
    <p:sldId id="381" r:id="rId24"/>
    <p:sldId id="371" r:id="rId25"/>
    <p:sldId id="267" r:id="rId26"/>
    <p:sldId id="37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6327"/>
  </p:normalViewPr>
  <p:slideViewPr>
    <p:cSldViewPr snapToGrid="0" snapToObjects="1">
      <p:cViewPr varScale="1">
        <p:scale>
          <a:sx n="47" d="100"/>
          <a:sy n="47" d="100"/>
        </p:scale>
        <p:origin x="864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0EDF-DC4F-F320-E162-C3CC7D99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483CE-81B6-A9D2-AD8F-73D3E171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CB627-7CAA-3463-3C33-D8F1BDCE4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50869-E797-1B6E-B5AD-E89A90B6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68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1B79-3334-1C33-1365-3CFFF34C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68967-D742-642B-8B27-A2B31513E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17C18-43E6-7FF7-1F57-002DE2E7F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33B6A-907F-9E92-FA5C-99F8749C6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2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511D-77DC-F862-F3E0-FAFDEB49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A4F35-242B-ED9F-A927-E26034BAF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DD279-9784-4EB7-45AA-09CF96777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08517-5C47-BB51-CF61-E4AD7F967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47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AEB4-4E3B-FD20-7A71-02897E23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17534-FDA7-60FA-9E57-ACC0B7682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436E2-7043-5F77-00A4-5A6E60D4A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A2913-3881-212C-6E1E-AC069B108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26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C9D7-250F-0184-265E-6C0C58BB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298FA-D737-7261-D194-70FD91BE7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CF649-5D01-1293-6811-5B83FAE95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43174-375B-C351-0DAE-6031A0710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83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6B21-67A9-403D-8557-3F44B6C9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B0546-98F7-75C9-8C5C-C87A46D73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B5D1F-0522-99BF-8591-6FBC39A17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35072-E588-1AA6-9D51-05106FEA4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9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686F-E970-0B33-E9F9-71EF40BC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71EDB-769D-B1C6-5F42-7E358D1F1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85FBF-7E59-985C-AD05-2BEE4569D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9DF43-4C63-FA37-5B70-556A1B857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65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934F-8883-D06F-6E94-1065935A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6FFA1-2FFA-08AE-B58B-64206FD52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F4960-5C5C-8261-B173-07BC64A55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7175A-3042-6A8E-A312-9FA580141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99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8A19-315C-08DF-7FA2-8FCEAB01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B3F32-B395-1B82-599A-9D635D03A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27B11-8D0D-E1A2-0AF6-C00547DD5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9504-8821-037D-19FA-9E2D43568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99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429FC-0ED6-5861-41D4-78F21D39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F4957-A095-39D9-4AE0-907354ED5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D3B4E-786D-81F1-BEC5-4E74AD834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0399F-5FFB-CE48-9F3F-F9F372C77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38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B159-7F20-609B-ED74-E7261CB6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F6786-CD0D-3D72-6B6F-2853FC184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8D453-3164-33DC-2509-D1C6C5BA1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78D8E-9FE0-3ED0-0520-A25D1861C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76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A158E-8E42-58D2-F0FA-0FF2AACB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E1AD9-0512-92C8-E845-CAEF7F333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C1D5D-52A1-6983-525F-2994C87F2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56E1A-9B12-5C8D-F5C2-228C5B08C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43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FAB5-A39D-25A7-29D6-DC00FEAF3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08B4C-CA5D-F3DC-A19D-181DD440F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A0859-042B-1DCB-DCA7-A1F7296BA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C0148-55F9-EAB8-8D2B-04DCEAD25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41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0672-B926-67E2-B79F-F7BE0D85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A31FC-17D4-0BD8-0F72-48F48A54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01C35-81B3-F28E-DA14-841AC0A57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C51DF-3799-390A-A646-516E786C5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39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249A-75C2-7CBB-3C62-E078CF52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08E13-8311-4B84-DC4A-057320704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1D69A-B752-92A7-E4A1-2ED5BECC7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98F7B-AE96-0686-5A8E-AA98739CC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529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7504-EC00-66F4-393D-4233A26F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D58E2-4C67-E000-3C01-1CC637AEA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7BDA6-F801-623F-A78E-1F81E8A7A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22885-B18C-0C89-686C-552411CBD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64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7FE3B-F000-763E-389D-30E9E284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D7999-6194-3137-6C3A-0848960B5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5FEFC-E707-ECAD-1CCD-46568C70F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D915-4FB3-6C1D-C4B1-9B3EDE246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45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8265-E745-FBD3-075C-0588A5909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B5E16-140B-0D4F-4D30-3165B5087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1305F-CFCF-E1AD-00C4-95D02F70C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A573F-A0C0-D1C5-2204-69E00289C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13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C178-9148-6743-365E-26C72B07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507F7-4A9D-5E97-7E7A-469F53FFE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D6854-7F44-01B4-C5A0-0B8EFD1A5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DB527-3700-0046-E820-09D6B2B92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622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A6D6B-6DE0-92EA-C0BF-74E95820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1F83D-7112-47E1-1935-33A5F6BFE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22B61-CFFE-2B8D-98FB-DAF261E5F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8498-A092-F6E1-9CB7-7944EE875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26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6A3A6-C26B-2765-9DE9-1505F04E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311FD-5DEA-20F8-BB47-4DCFAEC0A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721EC-B0F6-E591-D9A4-990414B04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83F35-A6F3-5B42-EA77-211C0A04D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314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FD4DA-AAC4-EE03-16F6-95B89FFF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454D8-0DB0-FD0F-626E-4451724F4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84BC1-B817-0247-103E-DAADF684D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0EED6-522E-F4CD-FC9B-B458EAEF9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096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F8FC-AF9A-9BF0-1EC3-981A5D5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9D944-EDEB-03C0-AA06-8837E6554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6212D-6FA1-5B2C-2B40-CBF7BDCF1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3D6F6-8D5D-C9EB-54D7-050AD7B74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553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C364-1D54-713D-2B22-6FB5A51E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0F0C1-5E1D-3610-9DA1-7758EF1AA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53B82-90D9-3DB4-CB04-01FE08F25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226F-BDC5-9306-DC28-C6C2268B2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7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pubmed.ncbi.nlm.nih.gov/40311615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25279834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Lab Meeting 7/22/25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14A6-71CA-2707-E9CD-FA4E5114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BFAB37-A5C5-F0BB-D6D5-F4EF77CB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Aims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7C9C6-A1ED-3421-ABF4-B3D311C0E7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D1F08B-F2CC-863A-8FB2-6DAD9A125E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166096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Research AIM 1: </a:t>
            </a:r>
            <a:r>
              <a:rPr lang="en-US" dirty="0"/>
              <a:t>Quantify the Proximity Between Neutrophils and Different T cell Subsets in HNSCC Responder and Non-Responder Tissues. </a:t>
            </a:r>
          </a:p>
          <a:p>
            <a:pPr marL="0" indent="0">
              <a:buNone/>
            </a:pPr>
            <a:r>
              <a:rPr lang="en-US" b="1" dirty="0"/>
              <a:t>Research AIM 2: </a:t>
            </a:r>
            <a:r>
              <a:rPr lang="en-US" dirty="0"/>
              <a:t>Label Neutrophils in the mRNA </a:t>
            </a:r>
            <a:r>
              <a:rPr lang="en-US" dirty="0" err="1"/>
              <a:t>CosMX</a:t>
            </a:r>
            <a:r>
              <a:rPr lang="en-US" dirty="0"/>
              <a:t> samples and identify Ligand-Receptor Pairs Associated with Neutrophil and T cell Interactions</a:t>
            </a:r>
          </a:p>
        </p:txBody>
      </p:sp>
    </p:spTree>
    <p:extLst>
      <p:ext uri="{BB962C8B-B14F-4D97-AF65-F5344CB8AC3E}">
        <p14:creationId xmlns:p14="http://schemas.microsoft.com/office/powerpoint/2010/main" val="189287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E598-8E1C-36E7-E8AD-C5638310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F9BE8B-1D26-9B73-A695-30099270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Summary - Protein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30A73-D586-6BB1-78DA-E66174624B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BA6DF5-1020-31BB-4B0D-749E914122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4691" y="1643817"/>
            <a:ext cx="3434353" cy="6135013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CosMx</a:t>
            </a:r>
            <a:r>
              <a:rPr lang="en-US" dirty="0">
                <a:solidFill>
                  <a:srgbClr val="000000"/>
                </a:solidFill>
              </a:rPr>
              <a:t> Protein Assay</a:t>
            </a:r>
          </a:p>
          <a:p>
            <a:r>
              <a:rPr lang="en-US" dirty="0">
                <a:solidFill>
                  <a:srgbClr val="000000"/>
                </a:solidFill>
              </a:rPr>
              <a:t>68 samples from 26 patients of HNSCC</a:t>
            </a:r>
          </a:p>
          <a:p>
            <a:r>
              <a:rPr lang="en-US" dirty="0">
                <a:solidFill>
                  <a:srgbClr val="000000"/>
                </a:solidFill>
              </a:rPr>
              <a:t>64 panel protein expression</a:t>
            </a:r>
          </a:p>
          <a:p>
            <a:r>
              <a:rPr lang="en-US" dirty="0">
                <a:solidFill>
                  <a:srgbClr val="000000"/>
                </a:solidFill>
              </a:rPr>
              <a:t>Morphology visualization: PanCK, CD45, CD3, CD298/B2M antibodies and DAPI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EF65EF-2A88-2CF1-4A84-C0AB1F765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20010"/>
              </p:ext>
            </p:extLst>
          </p:nvPr>
        </p:nvGraphicFramePr>
        <p:xfrm>
          <a:off x="6296106" y="2434259"/>
          <a:ext cx="5283200" cy="28448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18272019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5228897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1914951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8465992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4-1BB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CD56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035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B7-H3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CD68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882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Bcl-2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400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Beta-catenin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CTLA4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55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CCR7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EGFR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6895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EpCAM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901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CD11c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FABP4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26225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CD45RA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Fibronectin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499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FOXP3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IDO1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LAMP1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Rabbit IgG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996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GITR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IgD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Mouse IgG1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0346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NF-kB p65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STING/TMEM173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0405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p53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Syndecan-1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36523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HER2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IL3RA/CD123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pan-RAS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TCF1/TCF7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18988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HLA-DR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TIM3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1112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ICAM1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Ki-67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Vimentin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0774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LAG3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VISTA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011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EA3767-FAEA-9FAD-718C-AFA4FC7DEDDB}"/>
              </a:ext>
            </a:extLst>
          </p:cNvPr>
          <p:cNvSpPr txBox="1"/>
          <p:nvPr/>
        </p:nvSpPr>
        <p:spPr>
          <a:xfrm>
            <a:off x="6782172" y="1908820"/>
            <a:ext cx="4385420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64-Plex </a:t>
            </a:r>
            <a:r>
              <a:rPr lang="en-US" sz="2000" b="1" dirty="0" err="1">
                <a:solidFill>
                  <a:schemeClr val="bg1"/>
                </a:solidFill>
              </a:rPr>
              <a:t>CosMx</a:t>
            </a:r>
            <a:r>
              <a:rPr lang="en-US" sz="2000" b="1" dirty="0">
                <a:solidFill>
                  <a:schemeClr val="bg1"/>
                </a:solidFill>
              </a:rPr>
              <a:t> Protein IO Panel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8FB70-5F59-E950-3A41-42780CB17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097" y="1959039"/>
            <a:ext cx="2536956" cy="35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6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A530-D6D3-B8E1-1E3D-667165CA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29F035-141C-601D-2F31-8199DCB1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Summary - RNA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7375C-663F-807A-4C59-E821946B0A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57F35AB-C204-00B9-0CD8-68CBE43356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084" y="2357296"/>
            <a:ext cx="3434353" cy="3125984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CosMx</a:t>
            </a:r>
            <a:r>
              <a:rPr lang="en-US" dirty="0">
                <a:solidFill>
                  <a:srgbClr val="000000"/>
                </a:solidFill>
              </a:rPr>
              <a:t> RNA Assay</a:t>
            </a:r>
          </a:p>
          <a:p>
            <a:r>
              <a:rPr lang="en-US" dirty="0">
                <a:solidFill>
                  <a:srgbClr val="000000"/>
                </a:solidFill>
              </a:rPr>
              <a:t>68 samples from 26 patients of HNSCC</a:t>
            </a:r>
          </a:p>
          <a:p>
            <a:r>
              <a:rPr lang="en-US" dirty="0">
                <a:solidFill>
                  <a:srgbClr val="000000"/>
                </a:solidFill>
              </a:rPr>
              <a:t>1000 panel protein expression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8" name="Table 71">
            <a:extLst>
              <a:ext uri="{FF2B5EF4-FFF2-40B4-BE49-F238E27FC236}">
                <a16:creationId xmlns:a16="http://schemas.microsoft.com/office/drawing/2014/main" id="{BFA0C43B-91E5-69BE-2D52-A99D917B2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18291"/>
              </p:ext>
            </p:extLst>
          </p:nvPr>
        </p:nvGraphicFramePr>
        <p:xfrm>
          <a:off x="3136843" y="2429893"/>
          <a:ext cx="4651237" cy="23302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26188">
                  <a:extLst>
                    <a:ext uri="{9D8B030D-6E8A-4147-A177-3AD203B41FA5}">
                      <a16:colId xmlns:a16="http://schemas.microsoft.com/office/drawing/2014/main" val="147508414"/>
                    </a:ext>
                  </a:extLst>
                </a:gridCol>
                <a:gridCol w="2325049">
                  <a:extLst>
                    <a:ext uri="{9D8B030D-6E8A-4147-A177-3AD203B41FA5}">
                      <a16:colId xmlns:a16="http://schemas.microsoft.com/office/drawing/2014/main" val="1514080968"/>
                    </a:ext>
                  </a:extLst>
                </a:gridCol>
              </a:tblGrid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Applications</a:t>
                      </a:r>
                      <a:endParaRPr lang="en-US" altLang="en-US" sz="1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of genes</a:t>
                      </a:r>
                      <a:endParaRPr lang="en-US" altLang="en-US" sz="1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670727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Cell typing and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243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258750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Cell state and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269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784533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Cell-cell interaction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(ligand-receptor)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435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677351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Hormone activities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46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2965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C4C370D-2C62-3767-D299-421869D6B2E8}"/>
              </a:ext>
            </a:extLst>
          </p:cNvPr>
          <p:cNvSpPr txBox="1"/>
          <p:nvPr/>
        </p:nvSpPr>
        <p:spPr>
          <a:xfrm>
            <a:off x="3350117" y="1845118"/>
            <a:ext cx="4385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1000-Plex RNA Panel for Cell Typing and </a:t>
            </a:r>
            <a:br>
              <a:rPr lang="en-US" sz="1600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Cell-Cell Interaction Studies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F3DD45-56C3-E8F0-1A40-D9A3FCF0B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984" y="2437159"/>
            <a:ext cx="1829174" cy="2383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8683FE-F9C5-361D-3BBC-7476E24E2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569" y="2422627"/>
            <a:ext cx="1759618" cy="239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2CA0-7C4B-7266-68A7-AF30FFEA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62B5F0-A2C9-B929-981B-53B5DF9B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342786"/>
            <a:ext cx="11291455" cy="517065"/>
          </a:xfrm>
        </p:spPr>
        <p:txBody>
          <a:bodyPr/>
          <a:lstStyle/>
          <a:p>
            <a:r>
              <a:rPr lang="en-US" dirty="0"/>
              <a:t>AIM #</a:t>
            </a:r>
            <a:r>
              <a:rPr lang="en-US"/>
              <a:t>1 Methodology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DBCD3-8905-834B-4852-0385E6D940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AutoShape 16" descr="T Cell PNG Images - CleanPNG">
            <a:extLst>
              <a:ext uri="{FF2B5EF4-FFF2-40B4-BE49-F238E27FC236}">
                <a16:creationId xmlns:a16="http://schemas.microsoft.com/office/drawing/2014/main" id="{09881E78-495E-EBD1-8C58-2E5A5BE870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9810" y="2543671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45F3DB-E0A1-88C2-FB80-A987917C9F11}"/>
              </a:ext>
            </a:extLst>
          </p:cNvPr>
          <p:cNvSpPr/>
          <p:nvPr/>
        </p:nvSpPr>
        <p:spPr>
          <a:xfrm>
            <a:off x="1534392" y="1916730"/>
            <a:ext cx="4109543" cy="38343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Neutrophil granulocyte - Servier Medical Art">
            <a:extLst>
              <a:ext uri="{FF2B5EF4-FFF2-40B4-BE49-F238E27FC236}">
                <a16:creationId xmlns:a16="http://schemas.microsoft.com/office/drawing/2014/main" id="{06800C16-6DE4-7655-1CEC-8B974CAB9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230" y="3430147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8" descr="Generated image">
            <a:extLst>
              <a:ext uri="{FF2B5EF4-FFF2-40B4-BE49-F238E27FC236}">
                <a16:creationId xmlns:a16="http://schemas.microsoft.com/office/drawing/2014/main" id="{3F70CFFB-F63B-FC16-2F42-C4D43E0A9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2141587" y="4160137"/>
            <a:ext cx="885047" cy="80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E23C19-C638-14E9-F4D6-0D421C0645C9}"/>
              </a:ext>
            </a:extLst>
          </p:cNvPr>
          <p:cNvSpPr/>
          <p:nvPr/>
        </p:nvSpPr>
        <p:spPr>
          <a:xfrm>
            <a:off x="501298" y="4327659"/>
            <a:ext cx="1261920" cy="253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</a:t>
            </a:r>
          </a:p>
        </p:txBody>
      </p:sp>
      <p:pic>
        <p:nvPicPr>
          <p:cNvPr id="14" name="Picture 34" descr="Cancer cell - Free healthcare and medical icons">
            <a:extLst>
              <a:ext uri="{FF2B5EF4-FFF2-40B4-BE49-F238E27FC236}">
                <a16:creationId xmlns:a16="http://schemas.microsoft.com/office/drawing/2014/main" id="{6976E069-AA8F-14A4-E3D3-258EDB427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33381" y="4147170"/>
            <a:ext cx="792042" cy="7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Neutrophil granulocyte - Servier Medical Art">
            <a:extLst>
              <a:ext uri="{FF2B5EF4-FFF2-40B4-BE49-F238E27FC236}">
                <a16:creationId xmlns:a16="http://schemas.microsoft.com/office/drawing/2014/main" id="{2B37EFA6-E25C-25FA-5211-A51D0A77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960" y="5019574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E8610B2-CB07-012B-BE6B-66C571DD783E}"/>
              </a:ext>
            </a:extLst>
          </p:cNvPr>
          <p:cNvSpPr/>
          <p:nvPr/>
        </p:nvSpPr>
        <p:spPr>
          <a:xfrm>
            <a:off x="5239033" y="4454194"/>
            <a:ext cx="1318709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F29F08-C34A-BF23-749A-4AE2B55BE5EB}"/>
              </a:ext>
            </a:extLst>
          </p:cNvPr>
          <p:cNvSpPr/>
          <p:nvPr/>
        </p:nvSpPr>
        <p:spPr>
          <a:xfrm>
            <a:off x="3227230" y="3108740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E6FC2E-BE5F-893F-FE98-43F418836409}"/>
              </a:ext>
            </a:extLst>
          </p:cNvPr>
          <p:cNvSpPr/>
          <p:nvPr/>
        </p:nvSpPr>
        <p:spPr>
          <a:xfrm>
            <a:off x="3227230" y="5771955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1A70A0A-FA15-E93A-1285-077C56A2C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1678" y="3955007"/>
            <a:ext cx="3045093" cy="257904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D13CF6-2C05-53A1-FF1B-2B3B32F0AACC}"/>
              </a:ext>
            </a:extLst>
          </p:cNvPr>
          <p:cNvSpPr txBox="1"/>
          <p:nvPr/>
        </p:nvSpPr>
        <p:spPr>
          <a:xfrm>
            <a:off x="5957455" y="1206877"/>
            <a:ext cx="48561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Neutrophil Interaction Quantified by Proximity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 is no set standard but 15 µm is a common value used in literature for proximal interaction (</a:t>
            </a:r>
            <a:r>
              <a:rPr lang="en-US" sz="2400" dirty="0">
                <a:hlinkClick r:id="rId7"/>
              </a:rPr>
              <a:t>1</a:t>
            </a:r>
            <a:r>
              <a:rPr lang="en-US" sz="2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17C9313-CEB5-C520-D57F-59A0759A5E8B}"/>
              </a:ext>
            </a:extLst>
          </p:cNvPr>
          <p:cNvCxnSpPr>
            <a:cxnSpLocks/>
            <a:endCxn id="9" idx="6"/>
          </p:cNvCxnSpPr>
          <p:nvPr/>
        </p:nvCxnSpPr>
        <p:spPr>
          <a:xfrm>
            <a:off x="3600844" y="3833929"/>
            <a:ext cx="20430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FA81F9-F0A5-8B1B-1683-388FD4ECB5D5}"/>
              </a:ext>
            </a:extLst>
          </p:cNvPr>
          <p:cNvSpPr/>
          <p:nvPr/>
        </p:nvSpPr>
        <p:spPr>
          <a:xfrm>
            <a:off x="4288221" y="3556701"/>
            <a:ext cx="950812" cy="1639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µm</a:t>
            </a:r>
          </a:p>
        </p:txBody>
      </p:sp>
    </p:spTree>
    <p:extLst>
      <p:ext uri="{BB962C8B-B14F-4D97-AF65-F5344CB8AC3E}">
        <p14:creationId xmlns:p14="http://schemas.microsoft.com/office/powerpoint/2010/main" val="131004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FF6E-293E-8C34-7D44-107DB218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5CB0FE-E1B6-10BA-3F08-9B2FD6D4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Neutrophil Cellular Neighborhood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2C4A3-8C31-EC55-FF95-ECF24D9A81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F4FF335-2987-4893-E6C9-C5E783706F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2" y="1643818"/>
            <a:ext cx="5130197" cy="286950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cellular neighborhood, </a:t>
            </a:r>
            <a:r>
              <a:rPr lang="en-US" dirty="0"/>
              <a:t>defined as the cells in close proximity to neutrophils, was quantified for each sample. </a:t>
            </a:r>
          </a:p>
          <a:p>
            <a:r>
              <a:rPr lang="en-US" dirty="0"/>
              <a:t>A measure of what type of cells neutrophils interact.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38AA5-882F-2A9D-0078-E40ABFE69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29" y="1613553"/>
            <a:ext cx="5465726" cy="480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79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FED1-4F3E-F8CC-25A3-3B68E9F8A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17F4AE-3D1C-60FB-4AFA-302391A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Delta Cell Interaction Percentages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7D7EB-A8D6-7ECC-0A44-8F2D19F54B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294527" cy="3231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156BEA-CDFB-AFF4-05C2-45CE490DBAAE}"/>
              </a:ext>
            </a:extLst>
          </p:cNvPr>
          <p:cNvSpPr/>
          <p:nvPr/>
        </p:nvSpPr>
        <p:spPr>
          <a:xfrm>
            <a:off x="393285" y="2071719"/>
            <a:ext cx="3049051" cy="353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Neighboring Cells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4B25B2-4820-F7F5-F320-A93BC56F49A5}"/>
              </a:ext>
            </a:extLst>
          </p:cNvPr>
          <p:cNvSpPr/>
          <p:nvPr/>
        </p:nvSpPr>
        <p:spPr>
          <a:xfrm>
            <a:off x="4682556" y="2071719"/>
            <a:ext cx="3219121" cy="353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Overall Sample Frequency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C2C404-8ACC-B191-41CA-A27C8FCC1693}"/>
              </a:ext>
            </a:extLst>
          </p:cNvPr>
          <p:cNvSpPr/>
          <p:nvPr/>
        </p:nvSpPr>
        <p:spPr>
          <a:xfrm>
            <a:off x="3840479" y="2117981"/>
            <a:ext cx="384679" cy="261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BF3D68-B4FB-8285-B420-1EBBFF675BDA}"/>
              </a:ext>
            </a:extLst>
          </p:cNvPr>
          <p:cNvSpPr/>
          <p:nvPr/>
        </p:nvSpPr>
        <p:spPr>
          <a:xfrm>
            <a:off x="8166735" y="2105515"/>
            <a:ext cx="384679" cy="261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27B0E-E635-F4C9-1C05-A322595C3FED}"/>
              </a:ext>
            </a:extLst>
          </p:cNvPr>
          <p:cNvSpPr/>
          <p:nvPr/>
        </p:nvSpPr>
        <p:spPr>
          <a:xfrm>
            <a:off x="8949557" y="2071719"/>
            <a:ext cx="2237654" cy="308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Matrix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D229C0-7859-1515-35AD-E8CBC6A769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6"/>
          <a:stretch>
            <a:fillRect/>
          </a:stretch>
        </p:blipFill>
        <p:spPr>
          <a:xfrm>
            <a:off x="4294527" y="2735966"/>
            <a:ext cx="4377989" cy="40432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DF9AEC9-EA93-02CA-74D1-F58317DFF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8" y="2524788"/>
            <a:ext cx="3663562" cy="32737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A253B1-55D8-EEAE-6BC5-2C2587A8A735}"/>
              </a:ext>
            </a:extLst>
          </p:cNvPr>
          <p:cNvSpPr txBox="1"/>
          <p:nvPr/>
        </p:nvSpPr>
        <p:spPr>
          <a:xfrm>
            <a:off x="8769350" y="3072516"/>
            <a:ext cx="2800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PMN = 24.9 – 0.96 =24.16%</a:t>
            </a:r>
          </a:p>
          <a:p>
            <a:r>
              <a:rPr lang="en-US" dirty="0"/>
              <a:t>Tumor=-19.4%</a:t>
            </a:r>
          </a:p>
          <a:p>
            <a:r>
              <a:rPr lang="en-US" dirty="0"/>
              <a:t>Endo= - 8.1%</a:t>
            </a:r>
          </a:p>
          <a:p>
            <a:r>
              <a:rPr lang="en-US" dirty="0" err="1"/>
              <a:t>Etc</a:t>
            </a:r>
            <a:r>
              <a:rPr lang="en-US" dirty="0"/>
              <a:t>…..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AB72F9D-4869-90B0-9AA1-3E5F25307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974" y="6557602"/>
            <a:ext cx="4207225" cy="22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04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4C1E-7DD1-26CA-C70E-04C2D400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7C3E36F-F7C6-14B5-5C7B-2B6A63A7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069"/>
            <a:ext cx="10896600" cy="517065"/>
          </a:xfrm>
        </p:spPr>
        <p:txBody>
          <a:bodyPr/>
          <a:lstStyle/>
          <a:p>
            <a:r>
              <a:rPr lang="en-US" dirty="0"/>
              <a:t>Box Plot of Cellular Neighborhood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8A4331-9CD4-AFE9-735F-4BEB910DB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39" y="702134"/>
            <a:ext cx="10634995" cy="60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08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4B6E-8BA6-46A3-239C-17B8FDDC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5FF4C5-250B-7C00-62A4-D997A1F3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069"/>
            <a:ext cx="10896600" cy="517065"/>
          </a:xfrm>
        </p:spPr>
        <p:txBody>
          <a:bodyPr/>
          <a:lstStyle/>
          <a:p>
            <a:r>
              <a:rPr lang="en-US" dirty="0"/>
              <a:t>Box Plot of Delta Cellular Neighborhood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35213-BF2A-164E-350E-0E0B80402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02134"/>
            <a:ext cx="10400803" cy="587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2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6C07-D417-68FE-784D-A649565F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0AAC-4A15-7588-5A50-D1C66185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63" y="290872"/>
            <a:ext cx="11707474" cy="517065"/>
          </a:xfrm>
        </p:spPr>
        <p:txBody>
          <a:bodyPr/>
          <a:lstStyle/>
          <a:p>
            <a:r>
              <a:rPr lang="en-US" dirty="0"/>
              <a:t>Select Box Plot Neighborhood Delta (Radius = 15 µm)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F2F9A-3061-59E1-9B96-30DE90CF1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7240"/>
            <a:ext cx="10598547" cy="42912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706B1C-EE8F-2D9E-AB60-2EF6A1273806}"/>
              </a:ext>
            </a:extLst>
          </p:cNvPr>
          <p:cNvSpPr txBox="1"/>
          <p:nvPr/>
        </p:nvSpPr>
        <p:spPr>
          <a:xfrm>
            <a:off x="744133" y="4741580"/>
            <a:ext cx="105985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Non-Responders have fewer CD8 T-cells than responders but are significantly more likely to interact with neutrophils relative to their frequency. (p=0.036)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 neutrophils are also significantly more likely to interact with Treg cells than their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notable difference of neutrophil interaction with CD4 and DCs between NR and R groups.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Note: DCs and </a:t>
            </a:r>
            <a:r>
              <a:rPr lang="en-US" dirty="0" err="1"/>
              <a:t>B_cells</a:t>
            </a:r>
            <a:r>
              <a:rPr lang="en-US" dirty="0"/>
              <a:t> are more common in responders but don’t interact with </a:t>
            </a:r>
            <a:r>
              <a:rPr lang="en-US" dirty="0" err="1"/>
              <a:t>pmns</a:t>
            </a:r>
            <a:r>
              <a:rPr lang="en-US" dirty="0"/>
              <a:t> more than responders.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15AD1A-3315-C55C-E12E-759A4283ACB9}"/>
              </a:ext>
            </a:extLst>
          </p:cNvPr>
          <p:cNvSpPr txBox="1"/>
          <p:nvPr/>
        </p:nvSpPr>
        <p:spPr>
          <a:xfrm>
            <a:off x="4395354" y="1885587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4DECB-66B8-00A3-6733-CDDC89AF85AA}"/>
              </a:ext>
            </a:extLst>
          </p:cNvPr>
          <p:cNvSpPr txBox="1"/>
          <p:nvPr/>
        </p:nvSpPr>
        <p:spPr>
          <a:xfrm>
            <a:off x="8586354" y="1885587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189368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9A1D2-818D-DB90-432B-A8CA5418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9ADD-BD3B-2645-51DC-4F1EBC356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63" y="290872"/>
            <a:ext cx="11707474" cy="517065"/>
          </a:xfrm>
        </p:spPr>
        <p:txBody>
          <a:bodyPr/>
          <a:lstStyle/>
          <a:p>
            <a:r>
              <a:rPr lang="en-US" dirty="0"/>
              <a:t>Select Box Plot Neighborhood Delta (Radius = 15 µm)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78701-B4B8-E710-8DAB-F9310FDFABB2}"/>
              </a:ext>
            </a:extLst>
          </p:cNvPr>
          <p:cNvSpPr txBox="1"/>
          <p:nvPr/>
        </p:nvSpPr>
        <p:spPr>
          <a:xfrm>
            <a:off x="668458" y="4880317"/>
            <a:ext cx="94593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variation in neutrophil and tumor cells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Responders have higher neutrophil tumor interactions relative to overall frequency. Data is not significant (p=0.13)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Neutrophils clustering is slightly more common in non-responders, but variation is high (p=0.63)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05212-3F9B-EE73-CB02-EF81EDB77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37" y="984405"/>
            <a:ext cx="8484805" cy="3895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A127C6-7CB5-CCC7-59DC-0B95DEAAB396}"/>
              </a:ext>
            </a:extLst>
          </p:cNvPr>
          <p:cNvSpPr txBox="1"/>
          <p:nvPr/>
        </p:nvSpPr>
        <p:spPr>
          <a:xfrm>
            <a:off x="2517585" y="2239864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7D2DF-40D8-AB38-591A-BED5DCA030A6}"/>
              </a:ext>
            </a:extLst>
          </p:cNvPr>
          <p:cNvSpPr txBox="1"/>
          <p:nvPr/>
        </p:nvSpPr>
        <p:spPr>
          <a:xfrm>
            <a:off x="5912427" y="2242219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62362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39934-7DAA-A7BC-A33C-F716860A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DFA1-B69F-64C4-BC23-CCDD1DF3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291"/>
            <a:ext cx="10896600" cy="517065"/>
          </a:xfrm>
        </p:spPr>
        <p:txBody>
          <a:bodyPr/>
          <a:lstStyle/>
          <a:p>
            <a:r>
              <a:rPr lang="en-US" dirty="0"/>
              <a:t>Statistical Significance (</a:t>
            </a:r>
            <a:r>
              <a:rPr lang="en-US" dirty="0" err="1"/>
              <a:t>wilxoxon</a:t>
            </a:r>
            <a:r>
              <a:rPr lang="en-US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BF37D0-905D-42E7-2BB8-E0F830B13B3C}"/>
              </a:ext>
            </a:extLst>
          </p:cNvPr>
          <p:cNvSpPr/>
          <p:nvPr/>
        </p:nvSpPr>
        <p:spPr>
          <a:xfrm>
            <a:off x="3228587" y="1911074"/>
            <a:ext cx="4427219" cy="346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with overall frequency Matrix R vs NR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227FFF-A3F1-874D-823E-3ED977C6B2DB}"/>
              </a:ext>
            </a:extLst>
          </p:cNvPr>
          <p:cNvSpPr/>
          <p:nvPr/>
        </p:nvSpPr>
        <p:spPr>
          <a:xfrm>
            <a:off x="839936" y="2522465"/>
            <a:ext cx="1833896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PMN&gt;0.1% n=66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FE458B-A89A-2AD4-35D6-5DA7B34B2603}"/>
              </a:ext>
            </a:extLst>
          </p:cNvPr>
          <p:cNvSpPr/>
          <p:nvPr/>
        </p:nvSpPr>
        <p:spPr>
          <a:xfrm>
            <a:off x="4881832" y="2522465"/>
            <a:ext cx="1924285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PMN&gt;1% n=34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1DB45A-6C42-F566-AF2C-A42631E01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2933"/>
            <a:ext cx="3638681" cy="32839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250C38-5F7E-9B45-DF35-CB3FA8F4A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71" y="2920264"/>
            <a:ext cx="3655374" cy="319703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A0F9EF9-883D-2BDA-FB91-EC99B21A3275}"/>
              </a:ext>
            </a:extLst>
          </p:cNvPr>
          <p:cNvSpPr/>
          <p:nvPr/>
        </p:nvSpPr>
        <p:spPr>
          <a:xfrm>
            <a:off x="3778771" y="3600396"/>
            <a:ext cx="3612802" cy="189524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6791A0-9FD3-D02C-AB44-9651F3CA388E}"/>
              </a:ext>
            </a:extLst>
          </p:cNvPr>
          <p:cNvSpPr/>
          <p:nvPr/>
        </p:nvSpPr>
        <p:spPr>
          <a:xfrm>
            <a:off x="3778771" y="5671304"/>
            <a:ext cx="3612802" cy="176574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E6EA37-4420-3123-A1F4-04D69A44A4D2}"/>
              </a:ext>
            </a:extLst>
          </p:cNvPr>
          <p:cNvSpPr/>
          <p:nvPr/>
        </p:nvSpPr>
        <p:spPr>
          <a:xfrm>
            <a:off x="8521457" y="2490823"/>
            <a:ext cx="1833896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PMN&gt;3% n=12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17CD9-3C38-0B8A-4066-3B461683E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481" y="2867306"/>
            <a:ext cx="3802703" cy="32895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F06E656-4973-8100-5E38-AA01F5F533CB}"/>
              </a:ext>
            </a:extLst>
          </p:cNvPr>
          <p:cNvSpPr/>
          <p:nvPr/>
        </p:nvSpPr>
        <p:spPr>
          <a:xfrm>
            <a:off x="7639962" y="3564998"/>
            <a:ext cx="3596886" cy="224922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6F9605-9848-3C03-EE04-AE2734D3096B}"/>
              </a:ext>
            </a:extLst>
          </p:cNvPr>
          <p:cNvSpPr/>
          <p:nvPr/>
        </p:nvSpPr>
        <p:spPr>
          <a:xfrm>
            <a:off x="7597390" y="5662863"/>
            <a:ext cx="3596886" cy="176574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2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DF65BE-2EA5-A593-6B0E-36B2681A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BD32866-0ABF-331A-B3F4-3C3FEFD8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NR vs R example CD8-PMN Colocalization – All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1E544-A948-225F-0C7C-AF3AA8858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769157"/>
            <a:ext cx="4830085" cy="37271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309CD0-DEA9-26E3-39B9-C2F96D6272B5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F33A76-7F22-D75E-A6AB-003DA6B52C7B}"/>
              </a:ext>
            </a:extLst>
          </p:cNvPr>
          <p:cNvSpPr/>
          <p:nvPr/>
        </p:nvSpPr>
        <p:spPr>
          <a:xfrm>
            <a:off x="6505438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A9E4DF-4E61-DB06-DD38-3B4A77B64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638" y="1769157"/>
            <a:ext cx="4830085" cy="369493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35F1C73-A802-1B93-0A70-EB91ABA40759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5.63%, PMN: 4.004%, Tumor: 22.1%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0C19D-E0C3-E6C5-48C5-C2152DAADE6A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6.14%, PMN: 3.19%, Tumor: 18.8%</a:t>
            </a:r>
          </a:p>
        </p:txBody>
      </p:sp>
    </p:spTree>
    <p:extLst>
      <p:ext uri="{BB962C8B-B14F-4D97-AF65-F5344CB8AC3E}">
        <p14:creationId xmlns:p14="http://schemas.microsoft.com/office/powerpoint/2010/main" val="2518597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57FD5-2240-82CD-2960-130AF7C7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8432DB-5A55-5584-3197-F1EE94E4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NR vs R example CD8-PMN Colocalization – All Cells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602A66-F9F6-80A7-6877-B872DC5B11F0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9F9AE7-F3E6-C4DF-7ACB-02B948A3829A}"/>
              </a:ext>
            </a:extLst>
          </p:cNvPr>
          <p:cNvSpPr/>
          <p:nvPr/>
        </p:nvSpPr>
        <p:spPr>
          <a:xfrm>
            <a:off x="6505438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1C596D-1150-56F8-D9C2-82F191CE5EC9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5.63%, PMN: 4.004%, Tumor: 22.1%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BC8E1-214A-7943-360B-5CD1E7233A2F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6.14%, PMN: 3.19%, Tumor: 18.8%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ABF0A-2125-A675-DAE9-23F193CD7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1" y="1902606"/>
            <a:ext cx="3327782" cy="33153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314088-1030-8E36-76C5-A5EEC5245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747" y="1902606"/>
            <a:ext cx="3276691" cy="328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33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B79A-1B1D-4702-6F9F-74E4A874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D16FCC-7399-BA4F-001F-61F8DC44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1236"/>
            <a:ext cx="10896600" cy="987963"/>
          </a:xfrm>
        </p:spPr>
        <p:txBody>
          <a:bodyPr/>
          <a:lstStyle/>
          <a:p>
            <a:r>
              <a:rPr lang="en-US" dirty="0"/>
              <a:t>Example of PMN-CD8 interactions between responder and non-responders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945B5-0B1C-87CE-2536-5EA373335E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75F2C-3816-2460-0A8B-F48367B51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550" y="1863779"/>
            <a:ext cx="4563836" cy="3469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8AC1EF-AE4C-1835-873C-7418F371F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59" y="1870199"/>
            <a:ext cx="4460516" cy="346295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34E78AA-B6BE-A5BB-556A-E6BEB450246A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E90664-D74A-F923-64B3-C0680B7F37BA}"/>
              </a:ext>
            </a:extLst>
          </p:cNvPr>
          <p:cNvSpPr/>
          <p:nvPr/>
        </p:nvSpPr>
        <p:spPr>
          <a:xfrm>
            <a:off x="6505438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7EA811-B5C6-B11B-8FD5-D3961FE7CE75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Colocalization:</a:t>
            </a:r>
          </a:p>
          <a:p>
            <a:pPr algn="ctr"/>
            <a:r>
              <a:rPr lang="en-US" dirty="0"/>
              <a:t>15-micron radial PMN-CD8: 2.78% </a:t>
            </a:r>
          </a:p>
          <a:p>
            <a:pPr algn="ctr"/>
            <a:r>
              <a:rPr lang="en-US" dirty="0"/>
              <a:t>Delta (%</a:t>
            </a:r>
            <a:r>
              <a:rPr lang="en-US" dirty="0" err="1"/>
              <a:t>Neighboors</a:t>
            </a:r>
            <a:r>
              <a:rPr lang="en-US" dirty="0"/>
              <a:t> - %Overall): -2.86%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7363E7-9078-2071-D29E-02627D44F1F8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Colocalization:</a:t>
            </a:r>
          </a:p>
          <a:p>
            <a:pPr algn="ctr"/>
            <a:r>
              <a:rPr lang="en-US" dirty="0"/>
              <a:t>15-micron radial: 7.017%</a:t>
            </a:r>
          </a:p>
          <a:p>
            <a:pPr algn="ctr"/>
            <a:r>
              <a:rPr lang="en-US" dirty="0"/>
              <a:t>Delta (%</a:t>
            </a:r>
            <a:r>
              <a:rPr lang="en-US" dirty="0" err="1"/>
              <a:t>Neighboors</a:t>
            </a:r>
            <a:r>
              <a:rPr lang="en-US" dirty="0"/>
              <a:t> - %Overall): 0.87%</a:t>
            </a:r>
          </a:p>
        </p:txBody>
      </p:sp>
    </p:spTree>
    <p:extLst>
      <p:ext uri="{BB962C8B-B14F-4D97-AF65-F5344CB8AC3E}">
        <p14:creationId xmlns:p14="http://schemas.microsoft.com/office/powerpoint/2010/main" val="1866651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0CEC-DC3C-AE6C-34A9-97BD03DE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F702A44-45BD-5C52-5ACF-E22ED64C5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134"/>
            <a:ext cx="10896600" cy="517065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Protein Gene Expression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F491D-8A5F-E277-57A5-6B471366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481" y="2075581"/>
            <a:ext cx="4080777" cy="2662707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D1E3FD-E139-7332-F019-04319ABAA0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460516" cy="323165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B0A65-BA93-81E7-B8BE-3E65FE0B0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57908"/>
            <a:ext cx="3873029" cy="26627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06302E-B1D7-6B0F-F151-FF863D1B8679}"/>
              </a:ext>
            </a:extLst>
          </p:cNvPr>
          <p:cNvSpPr/>
          <p:nvPr/>
        </p:nvSpPr>
        <p:spPr>
          <a:xfrm>
            <a:off x="1512075" y="1612159"/>
            <a:ext cx="1069635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976B7B-BDF8-0C8E-D1ED-802735EC88AD}"/>
              </a:ext>
            </a:extLst>
          </p:cNvPr>
          <p:cNvSpPr/>
          <p:nvPr/>
        </p:nvSpPr>
        <p:spPr>
          <a:xfrm>
            <a:off x="5370682" y="1602732"/>
            <a:ext cx="1069635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C6B143-F12C-3312-A05C-0F6CFA0DFD93}"/>
              </a:ext>
            </a:extLst>
          </p:cNvPr>
          <p:cNvSpPr/>
          <p:nvPr/>
        </p:nvSpPr>
        <p:spPr>
          <a:xfrm>
            <a:off x="9481714" y="1611339"/>
            <a:ext cx="1069635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AABF40-B912-2D07-313E-347DD70C3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8462" y="2085658"/>
            <a:ext cx="3931577" cy="2652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F341AB-68A3-BB46-EFEE-545A8F8BED27}"/>
              </a:ext>
            </a:extLst>
          </p:cNvPr>
          <p:cNvSpPr txBox="1"/>
          <p:nvPr/>
        </p:nvSpPr>
        <p:spPr>
          <a:xfrm>
            <a:off x="325987" y="5112993"/>
            <a:ext cx="10632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significant differences in protein expression after accounting for expected false discovery rate. Logical result as the </a:t>
            </a:r>
            <a:r>
              <a:rPr lang="en-US" dirty="0" err="1"/>
              <a:t>cosMX</a:t>
            </a:r>
            <a:r>
              <a:rPr lang="en-US" dirty="0"/>
              <a:t> 64 protein panel focuses on cell identification not cell-cell interaction</a:t>
            </a:r>
          </a:p>
        </p:txBody>
      </p:sp>
    </p:spTree>
    <p:extLst>
      <p:ext uri="{BB962C8B-B14F-4D97-AF65-F5344CB8AC3E}">
        <p14:creationId xmlns:p14="http://schemas.microsoft.com/office/powerpoint/2010/main" val="666862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A74E2-CA22-DCD2-91CE-52ADD6FB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9EF12B-893F-DAC3-A8FE-9A6CF694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Protein Expression Findings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A061F-6974-B9ED-7535-E03A16B1D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FCB87E-613A-9BBF-922A-6AB626337A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3006464"/>
          </a:xfrm>
        </p:spPr>
        <p:txBody>
          <a:bodyPr/>
          <a:lstStyle/>
          <a:p>
            <a:r>
              <a:rPr lang="en-US" dirty="0"/>
              <a:t>Responders versus non-responders</a:t>
            </a:r>
          </a:p>
          <a:p>
            <a:pPr lvl="1"/>
            <a:r>
              <a:rPr lang="en-US" dirty="0"/>
              <a:t>No significant gene expression differences in CD8, Treg, or Neutrophil cells once accounting for multisampling false positive probability</a:t>
            </a:r>
          </a:p>
          <a:p>
            <a:r>
              <a:rPr lang="en-US" dirty="0"/>
              <a:t>Cell interaction checks</a:t>
            </a:r>
          </a:p>
          <a:p>
            <a:pPr lvl="1"/>
            <a:r>
              <a:rPr lang="en-US" dirty="0"/>
              <a:t>PMN interacting with CD8 cells</a:t>
            </a:r>
          </a:p>
          <a:p>
            <a:pPr lvl="1"/>
            <a:r>
              <a:rPr lang="en-US" dirty="0"/>
              <a:t>CD8 interacting with PMN</a:t>
            </a:r>
          </a:p>
          <a:p>
            <a:pPr lvl="1"/>
            <a:r>
              <a:rPr lang="en-US" dirty="0"/>
              <a:t>Treg interacting with PMN</a:t>
            </a:r>
          </a:p>
          <a:p>
            <a:pPr lvl="1"/>
            <a:r>
              <a:rPr lang="en-US" dirty="0"/>
              <a:t>No significant changes once accounting for multisampling false positive probability</a:t>
            </a:r>
          </a:p>
        </p:txBody>
      </p:sp>
    </p:spTree>
    <p:extLst>
      <p:ext uri="{BB962C8B-B14F-4D97-AF65-F5344CB8AC3E}">
        <p14:creationId xmlns:p14="http://schemas.microsoft.com/office/powerpoint/2010/main" val="1147167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1E87F-FE48-7768-D260-CAE0BBCE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EB87B2-D316-7ACA-B3CD-74CB89BF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#1 Conclusions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37B62-3372-1F56-646D-7C156AD532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83B8B28-CFA1-B8FA-61AE-208667D9AF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5030095"/>
          </a:xfrm>
        </p:spPr>
        <p:txBody>
          <a:bodyPr/>
          <a:lstStyle/>
          <a:p>
            <a:r>
              <a:rPr lang="en-US" dirty="0"/>
              <a:t>Neutrophils interactions CD8 and Treg cells, relative to overall cellular frequency, is a significantly correlated with non-responder patients. At the same time non-responder patients have fewer overall CD8 and Treg cells suggesting the neutrophils cells may suppress recruitment and proliferation of T-cells.</a:t>
            </a:r>
          </a:p>
          <a:p>
            <a:r>
              <a:rPr lang="en-US" dirty="0"/>
              <a:t>Neutrophil interactions with tumor cells, relative to overall cellular frequency, has a non-significant correlation with the patient being responsive to treatment. While non-responder patients typically had a higher proportion of tumor cells neutrophils were more likely to interact with tumor cells in responders suggesting that neutrophils may have anti-tumor interactions.</a:t>
            </a:r>
          </a:p>
          <a:p>
            <a:r>
              <a:rPr lang="en-US" dirty="0"/>
              <a:t> No significant protein expression differences in protein expression between responders and non-responders. Not too surprising as markers are more for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728942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8478E-5393-6436-C7D5-83F61C54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9A458D-B2A0-27F7-9102-A5B4B54B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2 Progress and Difficulties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7CE6F-4C24-A989-B376-8BE12FF5BD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0C12A3-3BF7-68BD-BBAC-ADB1721CD8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334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Research AIM 2: </a:t>
            </a:r>
            <a:r>
              <a:rPr lang="en-US" dirty="0"/>
              <a:t>Label Neutrophils in the mRNA </a:t>
            </a:r>
            <a:r>
              <a:rPr lang="en-US" dirty="0" err="1"/>
              <a:t>CosMX</a:t>
            </a:r>
            <a:r>
              <a:rPr lang="en-US" dirty="0"/>
              <a:t> samples and identify Ligand-Receptor Pairs Associated with Neutrophil and T cell Interactions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Identification challenges</a:t>
            </a:r>
          </a:p>
          <a:p>
            <a:r>
              <a:rPr lang="en-US" dirty="0"/>
              <a:t>Neutrophils are short lived cells with high RNase activity and low transcriptional activity causing overall mRNA expression to be low. (</a:t>
            </a:r>
            <a:r>
              <a:rPr lang="en-US" dirty="0">
                <a:hlinkClick r:id="rId3"/>
              </a:rPr>
              <a:t>2</a:t>
            </a:r>
            <a:r>
              <a:rPr lang="en-US" dirty="0"/>
              <a:t>)</a:t>
            </a:r>
          </a:p>
          <a:p>
            <a:r>
              <a:rPr lang="en-US" dirty="0"/>
              <a:t>The </a:t>
            </a:r>
            <a:r>
              <a:rPr lang="en-US" dirty="0" err="1"/>
              <a:t>cosMX</a:t>
            </a:r>
            <a:r>
              <a:rPr lang="en-US" dirty="0"/>
              <a:t> protein and mRNA samples are often misaligned and come from a different z-plane making mapping protein identifiers difficult.</a:t>
            </a:r>
          </a:p>
          <a:p>
            <a:r>
              <a:rPr lang="en-US" dirty="0"/>
              <a:t>Potential mRNA markers of neutrophils do not show reliable relation to neutrophil locations  </a:t>
            </a:r>
          </a:p>
        </p:txBody>
      </p:sp>
    </p:spTree>
    <p:extLst>
      <p:ext uri="{BB962C8B-B14F-4D97-AF65-F5344CB8AC3E}">
        <p14:creationId xmlns:p14="http://schemas.microsoft.com/office/powerpoint/2010/main" val="2801142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0E30-9512-BBCD-A1EB-8CD306CD3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5694DD-BD69-3DE4-6F01-ECD94F5C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mRNA potential markers for Neutrophils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2E3E2-CC03-E090-B788-FFF88C5E23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7285EF2-23A0-FE7C-C7A1-25745771E21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331939" y="1541644"/>
            <a:ext cx="1062833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Possible mRNA markers for PMN cells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CSF3R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Granulocyte Colony-Stimulating Factor Receptor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MPO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Myeloperoxidase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ELANE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Neutrophil elastase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AZU1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Azurocidin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LCN2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Lipocalin 2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S100A8 / S100A9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Calgranulin A and B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FPR1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Formyl Peptide Receptor 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CXCR1 / CXCR2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IL-8 receptors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Cathelicidin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Antimicrobial Peptide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779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AF52-4EF4-F622-95EE-28921052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E870F4-D7B4-8DDD-83DF-57F286B5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Protein to mRNA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C8C86F-7B68-61B8-8652-56E5FAC72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06" y="1981836"/>
            <a:ext cx="8333497" cy="42119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3123DC-E754-03A1-EDCE-8944DFCEC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4506" y="2153041"/>
            <a:ext cx="5544068" cy="4211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186047-63F1-1507-302D-66D31E7964E6}"/>
              </a:ext>
            </a:extLst>
          </p:cNvPr>
          <p:cNvSpPr/>
          <p:nvPr/>
        </p:nvSpPr>
        <p:spPr>
          <a:xfrm>
            <a:off x="2324100" y="3648075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753D1C-2B78-1B4C-8760-40A7221F3602}"/>
              </a:ext>
            </a:extLst>
          </p:cNvPr>
          <p:cNvSpPr/>
          <p:nvPr/>
        </p:nvSpPr>
        <p:spPr>
          <a:xfrm>
            <a:off x="8081594" y="3805237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E8F0F1-9C25-F6DC-5E1A-243BF2C4E343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2733675" y="3805237"/>
            <a:ext cx="5347919" cy="157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A8F7A34-CAB7-293E-77D6-45377A93B7C7}"/>
              </a:ext>
            </a:extLst>
          </p:cNvPr>
          <p:cNvSpPr/>
          <p:nvPr/>
        </p:nvSpPr>
        <p:spPr>
          <a:xfrm>
            <a:off x="8876791" y="2516765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BD3076-7436-F379-F5E9-AF20C12D729C}"/>
              </a:ext>
            </a:extLst>
          </p:cNvPr>
          <p:cNvSpPr/>
          <p:nvPr/>
        </p:nvSpPr>
        <p:spPr>
          <a:xfrm>
            <a:off x="3016844" y="2431141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5D21B7-CDE6-3000-B7A3-597CE517A7D3}"/>
              </a:ext>
            </a:extLst>
          </p:cNvPr>
          <p:cNvSpPr/>
          <p:nvPr/>
        </p:nvSpPr>
        <p:spPr>
          <a:xfrm>
            <a:off x="1360087" y="5105069"/>
            <a:ext cx="303629" cy="519876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90C76E-F02C-7FE9-A758-42168A6D2467}"/>
              </a:ext>
            </a:extLst>
          </p:cNvPr>
          <p:cNvSpPr/>
          <p:nvPr/>
        </p:nvSpPr>
        <p:spPr>
          <a:xfrm>
            <a:off x="7095181" y="5105069"/>
            <a:ext cx="303629" cy="519876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2D5EAE-8211-5E3A-0DFC-9257071358F8}"/>
              </a:ext>
            </a:extLst>
          </p:cNvPr>
          <p:cNvCxnSpPr>
            <a:cxnSpLocks/>
          </p:cNvCxnSpPr>
          <p:nvPr/>
        </p:nvCxnSpPr>
        <p:spPr>
          <a:xfrm flipH="1" flipV="1">
            <a:off x="3430797" y="2607273"/>
            <a:ext cx="5445994" cy="66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3B722F-A364-8A7A-5C60-2F54267AE2DB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1696219" y="5365007"/>
            <a:ext cx="53989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0FCBBC1-526E-A04A-A2F2-C7F4D0FA58AF}"/>
              </a:ext>
            </a:extLst>
          </p:cNvPr>
          <p:cNvSpPr/>
          <p:nvPr/>
        </p:nvSpPr>
        <p:spPr>
          <a:xfrm>
            <a:off x="1418755" y="1656581"/>
            <a:ext cx="2007664" cy="287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2D682C-8E15-22ED-806F-0FC9B638E197}"/>
              </a:ext>
            </a:extLst>
          </p:cNvPr>
          <p:cNvSpPr/>
          <p:nvPr/>
        </p:nvSpPr>
        <p:spPr>
          <a:xfrm>
            <a:off x="7487337" y="1610646"/>
            <a:ext cx="2007664" cy="287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1816FA-363D-52BF-7DDE-AEE2352E538B}"/>
              </a:ext>
            </a:extLst>
          </p:cNvPr>
          <p:cNvSpPr/>
          <p:nvPr/>
        </p:nvSpPr>
        <p:spPr>
          <a:xfrm>
            <a:off x="1815220" y="3425719"/>
            <a:ext cx="1525089" cy="184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Suspected Neutrophils</a:t>
            </a:r>
          </a:p>
        </p:txBody>
      </p:sp>
    </p:spTree>
    <p:extLst>
      <p:ext uri="{BB962C8B-B14F-4D97-AF65-F5344CB8AC3E}">
        <p14:creationId xmlns:p14="http://schemas.microsoft.com/office/powerpoint/2010/main" val="179976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4276B-5037-A41D-7ECA-7AF14AD2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9C59C6-F1DE-B620-C178-301A7249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Protein mRNA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BA40F1-C45A-29C5-AC85-BCC79457F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28" y="4141775"/>
            <a:ext cx="2703201" cy="26367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C24FF6-8E66-F9FB-D0F7-00772932D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929" y="4141774"/>
            <a:ext cx="2799627" cy="26367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4432BD-BB7D-CA94-8CF7-284DB0F4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556" y="4141775"/>
            <a:ext cx="2738672" cy="26367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A2F1BC-7784-0464-3882-D26690E5A3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228" y="4087821"/>
            <a:ext cx="2826776" cy="269068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DBB7E31-870F-A7FD-4F55-BDF6CE21C7A6}"/>
              </a:ext>
            </a:extLst>
          </p:cNvPr>
          <p:cNvSpPr/>
          <p:nvPr/>
        </p:nvSpPr>
        <p:spPr>
          <a:xfrm rot="16200000">
            <a:off x="-302073" y="5404981"/>
            <a:ext cx="1058450" cy="21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0A0AD9-5743-E877-F672-D6E9779B72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492" y="1354358"/>
            <a:ext cx="5172496" cy="26143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5BD3CE7-80B0-FE7B-9C1A-A41E60E293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988" y="1392302"/>
            <a:ext cx="3441128" cy="261431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F9FA12C-B905-B4DF-B43B-6C6AB7B48E5E}"/>
              </a:ext>
            </a:extLst>
          </p:cNvPr>
          <p:cNvSpPr/>
          <p:nvPr/>
        </p:nvSpPr>
        <p:spPr>
          <a:xfrm>
            <a:off x="2628101" y="2347192"/>
            <a:ext cx="291986" cy="227780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993AC3-AB4F-01FF-5756-518ACC42C96A}"/>
              </a:ext>
            </a:extLst>
          </p:cNvPr>
          <p:cNvSpPr/>
          <p:nvPr/>
        </p:nvSpPr>
        <p:spPr>
          <a:xfrm>
            <a:off x="7761043" y="2487569"/>
            <a:ext cx="306557" cy="211890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1A230D-AE8E-5688-6380-A8C8DEB2EA11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2885534" y="2538958"/>
            <a:ext cx="4875509" cy="54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9B0E2CB-1761-BF5E-A0F1-884BB13AF552}"/>
              </a:ext>
            </a:extLst>
          </p:cNvPr>
          <p:cNvSpPr/>
          <p:nvPr/>
        </p:nvSpPr>
        <p:spPr>
          <a:xfrm>
            <a:off x="8233453" y="1673755"/>
            <a:ext cx="293315" cy="225066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6591AF-7649-8A20-A5F0-FB93A50FE288}"/>
              </a:ext>
            </a:extLst>
          </p:cNvPr>
          <p:cNvSpPr/>
          <p:nvPr/>
        </p:nvSpPr>
        <p:spPr>
          <a:xfrm>
            <a:off x="3137410" y="1646277"/>
            <a:ext cx="205023" cy="240528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F970E1-8CBE-DBAF-E8FC-794C6D62BC0E}"/>
              </a:ext>
            </a:extLst>
          </p:cNvPr>
          <p:cNvSpPr/>
          <p:nvPr/>
        </p:nvSpPr>
        <p:spPr>
          <a:xfrm>
            <a:off x="2070031" y="3334921"/>
            <a:ext cx="315457" cy="343071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D616BF-D2F0-2CB8-63CF-1BA406BC50C2}"/>
              </a:ext>
            </a:extLst>
          </p:cNvPr>
          <p:cNvSpPr/>
          <p:nvPr/>
        </p:nvSpPr>
        <p:spPr>
          <a:xfrm>
            <a:off x="7202973" y="3233652"/>
            <a:ext cx="360271" cy="452779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F4FB38-58E9-95A3-DE5A-57007CCD8121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3342433" y="1786288"/>
            <a:ext cx="4891020" cy="20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0392F45-54CA-BE9A-F2AC-FD15B9262933}"/>
              </a:ext>
            </a:extLst>
          </p:cNvPr>
          <p:cNvCxnSpPr>
            <a:cxnSpLocks/>
          </p:cNvCxnSpPr>
          <p:nvPr/>
        </p:nvCxnSpPr>
        <p:spPr>
          <a:xfrm flipH="1">
            <a:off x="2385488" y="3346020"/>
            <a:ext cx="4857039" cy="16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476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50E4F-A6A9-1CE5-C24A-397386D31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D38D68-1D34-8432-DD5E-6F9DC0F0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and Future Protects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73EEE-7168-8F84-4C63-D54582289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7033F4-F38A-F1BE-4BD3-8EFC6CC70B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41249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Lieden clustering of the protein data, for verification on methodology, followed by clustering of mRNA </a:t>
            </a:r>
            <a:r>
              <a:rPr lang="en-US" dirty="0" err="1"/>
              <a:t>cosMX</a:t>
            </a:r>
            <a:r>
              <a:rPr lang="en-US" dirty="0"/>
              <a:t> samples. May be possible to identify neutrophils using this methodology.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example, the low mRNA expression of neutrophils may be a maker.</a:t>
            </a:r>
          </a:p>
          <a:p>
            <a:pPr marL="514350" indent="-514350">
              <a:buAutoNum type="arabicPeriod" startAt="2"/>
            </a:pPr>
            <a:r>
              <a:rPr lang="en-US" dirty="0"/>
              <a:t>Comparing mRNA expression between samples groups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Responders versus non-responders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High Neutrophil-CD8 colocalization versus low colocalization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High Neutrophil-Treg colocalization versus low colocalization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85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BFE1-A012-A392-803F-987680CC8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E8A8B0-3F01-98DC-CA5B-5776F0DF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6B1F5-25D1-CD39-8611-4CD5E2AD8F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D4487DA-0CEB-F938-742E-2439F194BA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171636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Oh J, Hoelzl J, Carlson JCT, Bill R, Peterson HM, </a:t>
            </a:r>
            <a:r>
              <a:rPr lang="en-US" sz="1800" dirty="0" err="1">
                <a:latin typeface="+mj-lt"/>
              </a:rPr>
              <a:t>Faquin</a:t>
            </a:r>
            <a:r>
              <a:rPr lang="en-US" sz="1800" dirty="0">
                <a:latin typeface="+mj-lt"/>
              </a:rPr>
              <a:t> WC, Pittet MJ, Pai SI, </a:t>
            </a:r>
            <a:r>
              <a:rPr lang="en-US" sz="1800" dirty="0" err="1">
                <a:latin typeface="+mj-lt"/>
              </a:rPr>
              <a:t>Weissleder</a:t>
            </a:r>
            <a:r>
              <a:rPr lang="en-US" sz="1800" dirty="0">
                <a:latin typeface="+mj-lt"/>
              </a:rPr>
              <a:t> R. Spatial analysis identifies DC niches as predictors of pembrolizumab therapy in head and neck squamous cell cancer. </a:t>
            </a:r>
            <a:r>
              <a:rPr lang="en-US" sz="1800" i="1" dirty="0">
                <a:latin typeface="+mj-lt"/>
              </a:rPr>
              <a:t>Cell Rep Med.</a:t>
            </a:r>
            <a:r>
              <a:rPr lang="en-US" sz="1800" dirty="0">
                <a:latin typeface="+mj-lt"/>
              </a:rPr>
              <a:t> 2025;6(5):102100. doi:10.1016/j.xcrm.2025.102100 PMID:40311615 PMCID:PMC12147904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Ericson JA, Duffau P, Yasuda K, Ortiz‑Lopez A, Rothamel K, Rifkin IR, </a:t>
            </a:r>
            <a:r>
              <a:rPr lang="en-US" sz="1800" dirty="0" err="1">
                <a:latin typeface="+mj-lt"/>
              </a:rPr>
              <a:t>Monach</a:t>
            </a:r>
            <a:r>
              <a:rPr lang="en-US" sz="1800" dirty="0">
                <a:latin typeface="+mj-lt"/>
              </a:rPr>
              <a:t> PA; </a:t>
            </a:r>
            <a:r>
              <a:rPr lang="en-US" sz="1800" dirty="0" err="1">
                <a:latin typeface="+mj-lt"/>
              </a:rPr>
              <a:t>ImmGen</a:t>
            </a:r>
            <a:r>
              <a:rPr lang="en-US" sz="1800" dirty="0">
                <a:latin typeface="+mj-lt"/>
              </a:rPr>
              <a:t> Consortium. Gene expression during the generation and activation of mouse neutrophils: implication of novel functional and regulatory pathways. </a:t>
            </a:r>
            <a:r>
              <a:rPr lang="en-US" sz="1800" dirty="0" err="1">
                <a:latin typeface="+mj-lt"/>
              </a:rPr>
              <a:t>PLoS</a:t>
            </a:r>
            <a:r>
              <a:rPr lang="en-US" sz="1800" dirty="0">
                <a:latin typeface="+mj-lt"/>
              </a:rPr>
              <a:t> One. 2014 Oct 3;9(10):e108553. doi:10.1371/journal.pone.0108553</a:t>
            </a:r>
          </a:p>
        </p:txBody>
      </p:sp>
    </p:spTree>
    <p:extLst>
      <p:ext uri="{BB962C8B-B14F-4D97-AF65-F5344CB8AC3E}">
        <p14:creationId xmlns:p14="http://schemas.microsoft.com/office/powerpoint/2010/main" val="1845608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A793-25FC-CA1D-DC59-97363B79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EEC2EB-1148-D592-27B8-65A6A79D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D9091-5457-BA27-6470-165C72F295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7049D7-E47E-0620-A604-15DFC4326F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66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075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20772</TotalTime>
  <Words>1240</Words>
  <Application>Microsoft Office PowerPoint</Application>
  <PresentationFormat>Widescreen</PresentationFormat>
  <Paragraphs>236</Paragraphs>
  <Slides>26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Courier New</vt:lpstr>
      <vt:lpstr>Red Hat Display</vt:lpstr>
      <vt:lpstr>Red Hat Text</vt:lpstr>
      <vt:lpstr>Office Theme</vt:lpstr>
      <vt:lpstr>Lab Meeting 7/22/25</vt:lpstr>
      <vt:lpstr>Specific Aims </vt:lpstr>
      <vt:lpstr>Project Data Summary - Protein</vt:lpstr>
      <vt:lpstr>Project Data Summary - RNA</vt:lpstr>
      <vt:lpstr>AIM #1 Methodology</vt:lpstr>
      <vt:lpstr>Example Neutrophil Cellular Neighborhood</vt:lpstr>
      <vt:lpstr>Delta Cell Interaction Percentages</vt:lpstr>
      <vt:lpstr>Box Plot of Cellular Neighborhood</vt:lpstr>
      <vt:lpstr>Box Plot of Delta Cellular Neighborhood</vt:lpstr>
      <vt:lpstr>Select Box Plot Neighborhood Delta (Radius = 15 µm)</vt:lpstr>
      <vt:lpstr>Select Box Plot Neighborhood Delta (Radius = 15 µm)</vt:lpstr>
      <vt:lpstr>Statistical Significance (wilxoxon)</vt:lpstr>
      <vt:lpstr>NR vs R example CD8-PMN Colocalization – All Cells</vt:lpstr>
      <vt:lpstr>NR vs R example CD8-PMN Colocalization – All Cells</vt:lpstr>
      <vt:lpstr>Example of PMN-CD8 interactions between responder and non-responders</vt:lpstr>
      <vt:lpstr>Protein Gene Expression </vt:lpstr>
      <vt:lpstr>Protein Expression Findings</vt:lpstr>
      <vt:lpstr>AIM #1 Conclusions</vt:lpstr>
      <vt:lpstr>AIM 2 Progress and Difficulties </vt:lpstr>
      <vt:lpstr>mRNA potential markers for Neutrophils</vt:lpstr>
      <vt:lpstr>Mapping Protein to mRNA</vt:lpstr>
      <vt:lpstr>Mapping Protein mRNA</vt:lpstr>
      <vt:lpstr>Current and Future Protects 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Johns</cp:lastModifiedBy>
  <cp:revision>27</cp:revision>
  <dcterms:created xsi:type="dcterms:W3CDTF">2025-06-03T19:55:18Z</dcterms:created>
  <dcterms:modified xsi:type="dcterms:W3CDTF">2025-07-25T17:16:20Z</dcterms:modified>
</cp:coreProperties>
</file>