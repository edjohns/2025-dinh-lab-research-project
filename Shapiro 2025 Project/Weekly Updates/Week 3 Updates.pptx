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64" r:id="rId2"/>
    <p:sldId id="272" r:id="rId3"/>
    <p:sldId id="275" r:id="rId4"/>
    <p:sldId id="276" r:id="rId5"/>
    <p:sldId id="284" r:id="rId6"/>
    <p:sldId id="291" r:id="rId7"/>
    <p:sldId id="277" r:id="rId8"/>
    <p:sldId id="280" r:id="rId9"/>
    <p:sldId id="285" r:id="rId10"/>
    <p:sldId id="281" r:id="rId11"/>
    <p:sldId id="289" r:id="rId12"/>
    <p:sldId id="292" r:id="rId13"/>
    <p:sldId id="290" r:id="rId14"/>
    <p:sldId id="282" r:id="rId15"/>
    <p:sldId id="283" r:id="rId16"/>
    <p:sldId id="286" r:id="rId17"/>
    <p:sldId id="288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979"/>
    <p:restoredTop sz="96327"/>
  </p:normalViewPr>
  <p:slideViewPr>
    <p:cSldViewPr snapToGrid="0" snapToObjects="1">
      <p:cViewPr>
        <p:scale>
          <a:sx n="89" d="100"/>
          <a:sy n="89" d="100"/>
        </p:scale>
        <p:origin x="-537" y="-152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C6CF0-D257-DCD8-4F1B-D317606A0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C546F-426F-DCFD-F98A-A1116E034B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5F95D6-A59C-3C66-372C-3D4AADDB0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C078FE-2AD4-E7F1-6335-F7FE21210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3438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2DD15-1F08-4469-3F44-A0F5B5F37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57234-2416-E54B-89DA-52FF22C707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0CBF7-A310-59DA-451F-2C2D9E7F10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BE114-AE6A-D450-04DE-1BF2A70D2E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435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00246-AB99-F39B-038F-3A4F68AA8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07DF6-1AF3-BB1C-10C9-0733303BB4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A0F783-C13F-2859-DBA1-969A51EF0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5F369-08FA-5DF2-2389-6E20482F31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2208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3F679-57B8-E475-97D1-9F31E2C5D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6D8BE2-3A4C-3C3E-4544-1EFE02A80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33992-EE61-7D73-E757-94A6E7465D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23142-FF2C-5325-F6AF-7B16B7A882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649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ED7A1-9CA3-B92E-1D76-74E2348F4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55D7AC-22B3-E4C2-59A5-1A805A3DF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BA42EC-0B7F-3ACA-3003-D7C62E24A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C482C-72FE-24C4-0293-D37F4AE52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6824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D7B84-44D9-6B83-166A-0C6DC9080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42B0E-6500-1E54-0CAB-CF56C7828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A3019C-B62E-84D7-87C1-AE9CCB1CE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40CA73-D7C9-0FEF-1E9D-8B8D97AC75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6883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5AB08-8606-1DA9-79F0-AA081787E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4766C-EF8F-AD1E-393C-BB99AF528C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8DAC3C-C50F-580B-DD56-73359BDA5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80ED0C-268F-26C7-D525-0FAEF2167D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141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B41D4-16E7-EBFF-297A-796489307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A5CAC-DBA9-CAFB-8F56-9A377541D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F1BA-DA15-4801-0C3B-D0FB11DA39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F5327-8259-53F5-0C1D-6BD9965A6D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82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E560-AB62-12CC-3533-3E33DA02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E626-892C-AB4C-0930-554DB60FF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9AC5-ABB6-4CB6-5DFC-0EDB675F2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5DEB2-213A-EAAB-6492-627B8B3D4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56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8ABF2-10D5-43FF-6806-951228519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1CFED4-4244-C060-7BC9-FBA58345BC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A505C-FC21-8D6A-99C9-D107BB184F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C4D4E-4447-E26B-25DE-7C10862FB8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3753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14BAE-2EE5-A03E-B4DE-A12123223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7053B8-2BC7-0FA0-BDDC-998327D80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E719BA-DFC1-4588-5662-87D26EA9A7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BD889E-1A23-74F0-F1C8-9F9FAB4C8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805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DABE-343E-B8E2-9E2E-ABD8AC13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0654-981E-0BC9-A205-40FEBE63F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4D69-A4B9-B394-798C-01C25FE2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A5C2-6F6D-FAA1-9C4C-41063C985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1236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3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DC2CF-2904-4001-FF17-56D5BAB09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434ED58-A804-899C-7C0D-34441981E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150" y="460834"/>
            <a:ext cx="11220450" cy="517065"/>
          </a:xfrm>
        </p:spPr>
        <p:txBody>
          <a:bodyPr/>
          <a:lstStyle/>
          <a:p>
            <a:r>
              <a:rPr lang="en-US" dirty="0"/>
              <a:t>Mapping Protein to mRNA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B23977-0431-CB13-D97A-F077C1054E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1749261" cy="323165"/>
          </a:xfrm>
        </p:spPr>
        <p:txBody>
          <a:bodyPr/>
          <a:lstStyle/>
          <a:p>
            <a:r>
              <a:rPr lang="en-US" dirty="0"/>
              <a:t>Week 2 Updates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105F459-4528-3378-FC56-E16479977E0D}"/>
              </a:ext>
            </a:extLst>
          </p:cNvPr>
          <p:cNvSpPr/>
          <p:nvPr/>
        </p:nvSpPr>
        <p:spPr>
          <a:xfrm>
            <a:off x="7157886" y="15486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74264E-3793-4CE0-CADC-BB5CFB4A023A}"/>
              </a:ext>
            </a:extLst>
          </p:cNvPr>
          <p:cNvSpPr/>
          <p:nvPr/>
        </p:nvSpPr>
        <p:spPr>
          <a:xfrm>
            <a:off x="2045446" y="1552596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E7F128-024C-1024-8D1E-49AC8CC4A782}"/>
              </a:ext>
            </a:extLst>
          </p:cNvPr>
          <p:cNvSpPr txBox="1"/>
          <p:nvPr/>
        </p:nvSpPr>
        <p:spPr>
          <a:xfrm>
            <a:off x="376023" y="5238855"/>
            <a:ext cx="92542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ystem-ui"/>
              </a:rPr>
              <a:t>Updated to match RNA with the protein slides. Had to flip the Y coordinates so that they match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ystem-ui"/>
              </a:rPr>
              <a:t>Matches are not 1-1 as expected and some are better than others.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ystem-ui"/>
              </a:rPr>
              <a:t>Note the patient IDs in the metadata do not align </a:t>
            </a:r>
            <a:r>
              <a:rPr lang="en-US" b="0" i="0" dirty="0">
                <a:effectLst/>
                <a:latin typeface="system-ui"/>
              </a:rPr>
              <a:t> 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FEF55EB-FF51-7E09-4C4C-CA41750B4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249" y="1994092"/>
            <a:ext cx="3905543" cy="29459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361CC5-EFA7-300C-8FFA-C1F86D4507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937" y="2093222"/>
            <a:ext cx="5698312" cy="289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493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736231-D49F-0FEC-82A9-FA6B759B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5914314-FAA0-486D-5F43-8F5E8356B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Mismatching Patient IDs between mRNA and Protein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BE51C5-711E-C3F3-6B7E-0F6C5E483D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661" y="5375120"/>
            <a:ext cx="10803139" cy="81253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Mismatching patient IDs H &amp; L for the sample tissue sample. May cause issues analyzing the response status. Response status only listed in the RNA metadata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25FCAC-D80B-3E8D-5885-BB0628C8D6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4F99099-1A03-75D0-C103-211674324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912" y="1580967"/>
            <a:ext cx="4105841" cy="31045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3F78E4-478C-1A5F-F9F2-21165FDA13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619271"/>
            <a:ext cx="6122462" cy="3066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447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AE7E5-96EB-086C-7D8C-80D0661CE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80B31F1-3899-3E15-B155-0911BDF3D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matches are poor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55FE2F-6C9A-37DE-AE2D-C8FF9FD69C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BC6477-6A27-207D-2205-3A611BCEEEA3}"/>
              </a:ext>
            </a:extLst>
          </p:cNvPr>
          <p:cNvSpPr txBox="1"/>
          <p:nvPr/>
        </p:nvSpPr>
        <p:spPr>
          <a:xfrm>
            <a:off x="786150" y="4680445"/>
            <a:ext cx="75556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matches are recognizable, but some may be very difficult to map.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Recommend only trying to map a subset of the data. 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746C43-E052-3476-2331-1271D4173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982" y="1677451"/>
            <a:ext cx="5541339" cy="279600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2F0AAF-1B7F-6157-854B-7AEB0AF58D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944" y="1693926"/>
            <a:ext cx="3675546" cy="2676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640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05E17-6B6B-3FFE-6D58-1FE22214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8124A41-2DBB-BA58-E036-ADCC7B49E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Response status is consistent patient ID is not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F892C-F417-833C-56FE-94776C8E02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8B6EC33-3E3A-8DFF-A194-380C8EE8999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328559" y="2166443"/>
            <a:ext cx="2654436" cy="3714941"/>
          </a:xfr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AF70A5C-25E9-2D55-DE88-48FD814724DC}"/>
              </a:ext>
            </a:extLst>
          </p:cNvPr>
          <p:cNvSpPr/>
          <p:nvPr/>
        </p:nvSpPr>
        <p:spPr>
          <a:xfrm>
            <a:off x="3328836" y="1699883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07E7D4-E98A-7385-11EF-10047D0A1747}"/>
              </a:ext>
            </a:extLst>
          </p:cNvPr>
          <p:cNvSpPr/>
          <p:nvPr/>
        </p:nvSpPr>
        <p:spPr>
          <a:xfrm>
            <a:off x="718228" y="1699883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BB93C5-F4FE-9DD6-FAF4-5D9368D5AB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151" y="2170368"/>
            <a:ext cx="2292468" cy="36831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63AD306-7F46-E0FF-D250-8DD1026B0C9B}"/>
              </a:ext>
            </a:extLst>
          </p:cNvPr>
          <p:cNvSpPr txBox="1"/>
          <p:nvPr/>
        </p:nvSpPr>
        <p:spPr>
          <a:xfrm>
            <a:off x="5657850" y="1699883"/>
            <a:ext cx="54991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response status appears to be reliable, but the patient ID is not necessarily consistent.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239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B20AA9-B9B0-7446-3B33-5BC1B4740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8C1EA4-26BE-31D8-A4E8-A164A91DE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BEA559-4722-D4A7-BB7F-46C972DEA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137" y="419099"/>
            <a:ext cx="1207463" cy="594244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3AB83FF-5E0C-AE3B-66BB-8FA6AB1140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0600" y="419099"/>
            <a:ext cx="1154269" cy="585468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375C3F4-30AD-AF7E-5CB8-F648EA76F6D9}"/>
              </a:ext>
            </a:extLst>
          </p:cNvPr>
          <p:cNvSpPr/>
          <p:nvPr/>
        </p:nvSpPr>
        <p:spPr>
          <a:xfrm>
            <a:off x="1292708" y="42872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2844DC-D75C-FBE1-08F0-5ACF75D8057D}"/>
              </a:ext>
            </a:extLst>
          </p:cNvPr>
          <p:cNvSpPr/>
          <p:nvPr/>
        </p:nvSpPr>
        <p:spPr>
          <a:xfrm>
            <a:off x="5090203" y="42872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D8BA609-611D-622A-B8B8-81B998A96B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0516" y="345296"/>
            <a:ext cx="1341625" cy="63579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A5EB4A4-6014-3E1C-C91D-827D71F6FF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2141" y="345296"/>
            <a:ext cx="1384718" cy="635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27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4AE81-40EA-61C9-1DF6-08569DF4D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EE416BA-E7AA-29C4-700B-4D958720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Umap</a:t>
            </a:r>
            <a:r>
              <a:rPr lang="en-US" dirty="0"/>
              <a:t> Mappings for Cell Types in Python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098BEE-BC87-CEA5-9EE5-0B2BACE0F01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666267-7C41-852C-F514-4F70ABD24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42" y="1535896"/>
            <a:ext cx="10046216" cy="398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67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06C64-49F5-BD99-E3EE-814C6DC9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89DF2EC-7F36-4F60-00FC-F34400252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CSF3R Gene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88B1B7-371C-81B3-75B9-6E72E63F00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919F9FE-C3A8-FD16-C582-476DF02A66D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4953526" cy="4289379"/>
          </a:xfrm>
        </p:spPr>
        <p:txBody>
          <a:bodyPr/>
          <a:lstStyle/>
          <a:p>
            <a:r>
              <a:rPr lang="en-US" dirty="0"/>
              <a:t>Possible marker for PMN</a:t>
            </a:r>
          </a:p>
          <a:p>
            <a:r>
              <a:rPr lang="en-US" dirty="0"/>
              <a:t>Only expressed in small portion of cells. Not currently well </a:t>
            </a:r>
            <a:r>
              <a:rPr lang="en-US" dirty="0" err="1"/>
              <a:t>definined</a:t>
            </a:r>
            <a:endParaRPr lang="en-US" dirty="0"/>
          </a:p>
          <a:p>
            <a:r>
              <a:rPr lang="en-US" dirty="0"/>
              <a:t>Future direction</a:t>
            </a:r>
          </a:p>
          <a:p>
            <a:pPr lvl="1"/>
            <a:r>
              <a:rPr lang="en-US" dirty="0"/>
              <a:t>Can we isolate cells with low overall expression and higher CSF3R expression </a:t>
            </a:r>
          </a:p>
          <a:p>
            <a:pPr lvl="1"/>
            <a:endParaRPr lang="en-US" dirty="0"/>
          </a:p>
          <a:p>
            <a:r>
              <a:rPr lang="en-US" dirty="0"/>
              <a:t>Other gene markers such as S100A8 and S100A9 may also be helpful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E6A55A-A634-A029-1A7A-4B9073163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918" y="1643818"/>
            <a:ext cx="4358663" cy="433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62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F00EB-7F6D-E53F-E19F-96CF15DA3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875D09B-52C4-1165-BD2F-31D50B629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Genes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B82AB-6661-DA21-AEF9-B84E95C016D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D419D9-8331-6A61-61EF-5D02B68CF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21" y="1362140"/>
            <a:ext cx="6786187" cy="501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114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2FDF-86C7-21FB-FED1-2F49C623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166BCA-D18F-49F0-842C-0E890017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587649-FFD7-57F4-E52B-85F09492C7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2F4468A-5961-755D-A536-BA32498A72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757B83-262B-4123-F04C-C034AF539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12" y="1342848"/>
            <a:ext cx="4959085" cy="50102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87F7E37-54B7-3D03-6B6E-22F622383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0997" y="1298704"/>
            <a:ext cx="5122797" cy="509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064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B6DA8-ABB2-596A-BEE4-D61B5D6F4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PMN-PMN interaction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F7B24-D78A-A60D-19BF-0C8B8043382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90A5C-081E-219F-6EF4-482B9F61C37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F515DC-2F6D-5294-759D-A260FECEF22D}"/>
              </a:ext>
            </a:extLst>
          </p:cNvPr>
          <p:cNvSpPr/>
          <p:nvPr/>
        </p:nvSpPr>
        <p:spPr>
          <a:xfrm>
            <a:off x="6842841" y="1548671"/>
            <a:ext cx="2846726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(z=41.8)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23DCAB-96C4-E535-0D36-F27C0E0DB33E}"/>
              </a:ext>
            </a:extLst>
          </p:cNvPr>
          <p:cNvSpPr/>
          <p:nvPr/>
        </p:nvSpPr>
        <p:spPr>
          <a:xfrm>
            <a:off x="2045446" y="1552596"/>
            <a:ext cx="298866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Least Colocalization (z=1.4)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BC72C3-A0B2-569A-F456-512411FC1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21" y="1974797"/>
            <a:ext cx="4880479" cy="37815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FDE4F3-D8BE-C7B0-26C8-B3471C65F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344" y="1974797"/>
            <a:ext cx="4816635" cy="361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930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0B178F-1E6F-3E44-5ADE-A8AA052D783E}"/>
              </a:ext>
            </a:extLst>
          </p:cNvPr>
          <p:cNvSpPr/>
          <p:nvPr/>
        </p:nvSpPr>
        <p:spPr>
          <a:xfrm>
            <a:off x="6684091" y="1548671"/>
            <a:ext cx="2846726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239796" y="1548671"/>
            <a:ext cx="298866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109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478885" y="1237035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  <a:br>
              <a:rPr lang="en-US" dirty="0"/>
            </a:br>
            <a:r>
              <a:rPr lang="en-US" dirty="0"/>
              <a:t>Delaunay -(CD4 -4.3, CD8  -3.5)</a:t>
            </a:r>
          </a:p>
          <a:p>
            <a:pPr algn="ctr"/>
            <a:r>
              <a:rPr lang="en-US" dirty="0"/>
              <a:t>Radial – (CD4 -7.8 CD8 -6.5)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F9C89F-B714-C43A-922A-4239A305BF6C}"/>
              </a:ext>
            </a:extLst>
          </p:cNvPr>
          <p:cNvSpPr/>
          <p:nvPr/>
        </p:nvSpPr>
        <p:spPr>
          <a:xfrm>
            <a:off x="6096000" y="1154169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</a:t>
            </a:r>
            <a:br>
              <a:rPr lang="en-US" dirty="0"/>
            </a:br>
            <a:r>
              <a:rPr lang="en-US" dirty="0"/>
              <a:t>Delaunay -(CD4 6.4, CD8  3.7)</a:t>
            </a:r>
          </a:p>
          <a:p>
            <a:pPr algn="ctr"/>
            <a:r>
              <a:rPr lang="en-US" dirty="0"/>
              <a:t>Radial – (CD4 4.4 CD8 1.5)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460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99ABB-BB55-35C7-F516-AF9D684E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F909-3FE5-8439-ED68-FCB1C6A86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F6B496-FA0B-11A4-C1C4-72C3E49D4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4AEE66-F047-9CEF-7542-11BBA7DD71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4017" y="1524000"/>
            <a:ext cx="2939782" cy="4019562"/>
          </a:xfrm>
        </p:spPr>
        <p:txBody>
          <a:bodyPr/>
          <a:lstStyle/>
          <a:p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Responder groups showed lower interaction with CD8, CD4, and Treg cells than non responders.*</a:t>
            </a:r>
          </a:p>
          <a:p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Probably not statistically significant. </a:t>
            </a:r>
          </a:p>
          <a:p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* </a:t>
            </a:r>
            <a:r>
              <a:rPr lang="en-US" sz="1200" dirty="0">
                <a:latin typeface="helvetica" panose="020B0604020202020204" pitchFamily="34" charset="0"/>
                <a:cs typeface="helvetica" panose="020B0604020202020204" pitchFamily="34" charset="0"/>
              </a:rPr>
              <a:t>Dataset limited to punches with 25+ neutrophils present</a:t>
            </a:r>
            <a:endParaRPr lang="en-US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65C171C-92FF-8418-A2DB-F896C0307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5" y="1679584"/>
            <a:ext cx="8158138" cy="447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3719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38708-E4F9-AA79-4C6B-205E65FF6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CDB77B-4B10-A9D6-1368-ECDB5C922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and Future Projects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0A6CCA-1725-9752-8EAE-38F69F6054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92275C-2349-57D6-75E8-DFA9B882F90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532556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Current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Colocalization Clustering Analysis of the Z-score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Comparing other localization methods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Radial threshold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1800" dirty="0">
                <a:latin typeface="helvetica" panose="020B0604020202020204" pitchFamily="34" charset="0"/>
                <a:cs typeface="helvetica" panose="020B0604020202020204" pitchFamily="34" charset="0"/>
              </a:rPr>
              <a:t>Find nearest T-cell to each PMN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Clustering Analysis of the protein expression data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Cleaning up and modularizing code</a:t>
            </a: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Future: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CSF3R Gene expression in PMNs. May be useful identifier/verification of PMNs in Seurat data</a:t>
            </a:r>
          </a:p>
          <a:p>
            <a:pPr marL="514350" indent="-514350">
              <a:buAutoNum type="arabicPeriod"/>
            </a:pPr>
            <a:r>
              <a:rPr lang="en-US" sz="2000" dirty="0">
                <a:latin typeface="helvetica" panose="020B0604020202020204" pitchFamily="34" charset="0"/>
                <a:cs typeface="helvetica" panose="020B0604020202020204" pitchFamily="34" charset="0"/>
              </a:rPr>
              <a:t>Mapping protein data with good clustering to mRNA. </a:t>
            </a:r>
          </a:p>
          <a:p>
            <a:pPr marL="514350" indent="-514350">
              <a:buAutoNum type="arabicPeriod"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273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5344-DD0B-FBC8-72A2-50AE49EF7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17AE874-3B2A-8214-C05E-9D0DF50F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B9806-9DD7-33F5-2C91-35803712BD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62B279-40FB-EF67-3DDE-7DD99C1AD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370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8216</TotalTime>
  <Words>414</Words>
  <Application>Microsoft Office PowerPoint</Application>
  <PresentationFormat>Widescreen</PresentationFormat>
  <Paragraphs>79</Paragraphs>
  <Slides>18</Slides>
  <Notes>15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helvetica</vt:lpstr>
      <vt:lpstr>Red Hat Display</vt:lpstr>
      <vt:lpstr>Red Hat Text</vt:lpstr>
      <vt:lpstr>system-ui</vt:lpstr>
      <vt:lpstr>Office Theme</vt:lpstr>
      <vt:lpstr>Week 3 Updates Shapiro</vt:lpstr>
      <vt:lpstr>Mapping Protein to mRNA</vt:lpstr>
      <vt:lpstr>Mismatching Patient IDs between mRNA and Protein</vt:lpstr>
      <vt:lpstr>Some matches are poor </vt:lpstr>
      <vt:lpstr>Response status is consistent patient ID is not</vt:lpstr>
      <vt:lpstr>PowerPoint Presentation</vt:lpstr>
      <vt:lpstr>Umap Mappings for Cell Types in Python</vt:lpstr>
      <vt:lpstr>CSF3R Gene </vt:lpstr>
      <vt:lpstr>Other Genes</vt:lpstr>
      <vt:lpstr>Protein Colocalization Analysis</vt:lpstr>
      <vt:lpstr>Colocalization Verification PMN-PMN interaction</vt:lpstr>
      <vt:lpstr>Colocalization Verification PMN-Immune interaction</vt:lpstr>
      <vt:lpstr>Colocalization Verification PMN-Immune interaction</vt:lpstr>
      <vt:lpstr>Protein Colocalization Analysis</vt:lpstr>
      <vt:lpstr>Current and Future Projects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10</cp:revision>
  <dcterms:created xsi:type="dcterms:W3CDTF">2025-06-03T19:55:18Z</dcterms:created>
  <dcterms:modified xsi:type="dcterms:W3CDTF">2025-07-29T15:16:38Z</dcterms:modified>
</cp:coreProperties>
</file>