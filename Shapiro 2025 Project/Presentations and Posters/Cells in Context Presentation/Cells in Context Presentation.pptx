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64" r:id="rId2"/>
    <p:sldId id="398" r:id="rId3"/>
    <p:sldId id="400" r:id="rId4"/>
    <p:sldId id="370" r:id="rId5"/>
    <p:sldId id="372" r:id="rId6"/>
    <p:sldId id="387" r:id="rId7"/>
    <p:sldId id="308" r:id="rId8"/>
    <p:sldId id="373" r:id="rId9"/>
    <p:sldId id="388" r:id="rId10"/>
    <p:sldId id="313" r:id="rId11"/>
    <p:sldId id="393" r:id="rId12"/>
    <p:sldId id="394" r:id="rId13"/>
    <p:sldId id="392" r:id="rId14"/>
    <p:sldId id="395" r:id="rId15"/>
    <p:sldId id="401" r:id="rId16"/>
    <p:sldId id="404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 autoAdjust="0"/>
    <p:restoredTop sz="96327"/>
  </p:normalViewPr>
  <p:slideViewPr>
    <p:cSldViewPr snapToGrid="0" snapToObjects="1">
      <p:cViewPr>
        <p:scale>
          <a:sx n="51" d="100"/>
          <a:sy n="51" d="100"/>
        </p:scale>
        <p:origin x="1719" y="69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5EF7-B8C5-F57E-93FD-FEC0EA2C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01793-DBB2-7EA2-11A6-2325BDA54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029E0-A1AF-688A-AD82-7F31E722D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ABD5A-EB7D-EB21-401B-5584192B4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3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C1D0-E573-D3C3-1E90-31A6E85D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8535B-7330-C80C-74BA-91B36EC3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DF134-6BFB-B2EF-F8BF-0E1591A83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6672B-64EF-7855-01A0-E484F3034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12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1B79-3334-1C33-1365-3CFFF34C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68967-D742-642B-8B27-A2B31513E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7C18-43E6-7FF7-1F57-002DE2E7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3B6A-907F-9E92-FA5C-99F8749C6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2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8CD6-1C79-8C9D-0010-49FD19B5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26DF2-B050-F661-0AD1-F95D29C11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87879-C906-B72A-D72D-F550B0062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B3C81-B264-9401-3923-DEC9F8D05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AEB4-4E3B-FD20-7A71-02897E2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7534-FDA7-60FA-9E57-ACC0B768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6E2-7043-5F77-00A4-5A6E60D4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913-3881-212C-6E1E-AC069B10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6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C9D7-250F-0184-265E-6C0C58BB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298FA-D737-7261-D194-70FD91BE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CF649-5D01-1293-6811-5B83FAE9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43174-375B-C351-0DAE-6031A0710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83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F338-949E-04AD-DCBC-9DD1F6C5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0A15C-0B72-79B4-FCC9-D6514A33A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CDED7-833B-05E7-D54D-7F7A531CA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E9414-5200-9AD9-2897-114772543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83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19-315C-08DF-7FA2-8FCEAB0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3F32-B395-1B82-599A-9D635D03A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27B11-8D0D-E1A2-0AF6-C00547DD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9504-8821-037D-19FA-9E2D4356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24B2-7CBE-20F7-6145-6177ABC7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ED143-3DDD-ED36-CE54-2E9906ADE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0CF59-FA8B-AA3B-C937-C2E0E775D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47906-2F35-6F1B-D764-C7EAD7297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58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DC2E-DA08-2BCA-58DC-78421750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FD1FB-649C-2465-9B5B-07F79A2B2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17C78-1D2B-9A95-34C3-2F68E4223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0F9E0-3E53-CA7C-13CC-B47FFB734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42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4BD4-ECBF-A2E9-634B-7AD58154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F2E3A-497D-9F47-D8C1-89E0C2636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D130C-8A40-DA1E-FEBF-276E16F2C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5D424-CD4A-390F-8FD4-F3BB60A67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01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672E-C741-26EE-7BA6-078B0F1F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89332-F3BD-A8E0-5B9F-E8AB9B12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ACA40-BFA4-22FE-0D53-E98B7424F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2E798-BAA0-5266-D6CD-C53F883AD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74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C364-1D54-713D-2B22-6FB5A51E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0F0C1-5E1D-3610-9DA1-7758EF1A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B82-90D9-3DB4-CB04-01FE08F2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226F-BDC5-9306-DC28-C6C2268B2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75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50BC-A8A3-AF9A-CF23-E7EA251CB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5F1ED-4636-EFB0-CB1D-F30D2E5C0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16BDC-DA3D-09FD-7C74-08FC26D5F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455BC-10E6-2A37-9205-080DD44D2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89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cancers13051018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389/fimmu.2023.1224045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6" y="645144"/>
            <a:ext cx="9964689" cy="2372957"/>
          </a:xfrm>
        </p:spPr>
        <p:txBody>
          <a:bodyPr/>
          <a:lstStyle/>
          <a:p>
            <a:r>
              <a:rPr lang="en-US" dirty="0"/>
              <a:t>Spatial Omics Analysis of Neutrophil–T Cell Interactions in Head and Neck Squamous Cell Carcinoma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655618"/>
            <a:ext cx="6159500" cy="2069797"/>
          </a:xfrm>
        </p:spPr>
        <p:txBody>
          <a:bodyPr/>
          <a:lstStyle/>
          <a:p>
            <a:pPr algn="ctr"/>
            <a:r>
              <a:rPr lang="en-US" dirty="0"/>
              <a:t>Cells in Context Symposium, 9/11/2025</a:t>
            </a:r>
          </a:p>
          <a:p>
            <a:pPr algn="ctr"/>
            <a:r>
              <a:rPr lang="en-US" dirty="0"/>
              <a:t>Evan Johns, University of Wisconsin School of Medicine and Public Health, M.D. Candidate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7062-7177-938A-92A0-F1D9C1CF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7F3C68-5094-DADF-E854-17C57168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Immune Checkpoint Blockers (ICBs)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B11C4D-8AB0-B2A6-27EF-8DBCCF3A16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64947"/>
            <a:ext cx="6618941" cy="3929281"/>
          </a:xfrm>
        </p:spPr>
        <p:txBody>
          <a:bodyPr/>
          <a:lstStyle/>
          <a:p>
            <a:r>
              <a:rPr lang="en-US" sz="2400" dirty="0"/>
              <a:t>Immune checkpoint proteins protect healthy cells from T-cell attacks but limit cancer response.</a:t>
            </a:r>
          </a:p>
          <a:p>
            <a:endParaRPr lang="en-US" sz="2400" dirty="0"/>
          </a:p>
          <a:p>
            <a:r>
              <a:rPr lang="en-US" sz="2400" dirty="0"/>
              <a:t>Immune checkpoint blockade (ICB) has transformed melanoma treatment but is less effective in other cancers (1).</a:t>
            </a:r>
          </a:p>
          <a:p>
            <a:endParaRPr lang="en-US" sz="2400" dirty="0"/>
          </a:p>
          <a:p>
            <a:r>
              <a:rPr lang="en-US" sz="2400" dirty="0"/>
              <a:t>Head and neck squamous cell carcinoma (HNSCC) is common and deadly, yet only ~18% of patients currently benefit from ICB (2,3).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417FC-9EB6-4C11-B6BF-CEEFF3E5527A}"/>
              </a:ext>
            </a:extLst>
          </p:cNvPr>
          <p:cNvSpPr txBox="1"/>
          <p:nvPr/>
        </p:nvSpPr>
        <p:spPr>
          <a:xfrm>
            <a:off x="7235456" y="6049306"/>
            <a:ext cx="3813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Figure: Adapted from Clinical and Translational Medicine. March 2021. https://doi.org/10.1002/ctm2.365. CC BY 4.0.</a:t>
            </a:r>
          </a:p>
        </p:txBody>
      </p:sp>
      <p:pic>
        <p:nvPicPr>
          <p:cNvPr id="2052" name="Picture 4" descr="An illustration of the LAG-3 and PD-1 receptors being blocked by antibody drugs.">
            <a:extLst>
              <a:ext uri="{FF2B5EF4-FFF2-40B4-BE49-F238E27FC236}">
                <a16:creationId xmlns:a16="http://schemas.microsoft.com/office/drawing/2014/main" id="{250CB9A6-31D1-F0AC-2396-0DAF1FC15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456" y="1746483"/>
            <a:ext cx="3647632" cy="380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00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4EFF-7ED4-8F9A-BCA4-F26C49B0B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37EB95-D21A-67EC-C06F-8F81418B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- Neutrophils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FDC3D3-7E3D-7461-308F-8462CB59EA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6085002" cy="3748314"/>
          </a:xfrm>
        </p:spPr>
        <p:txBody>
          <a:bodyPr/>
          <a:lstStyle/>
          <a:p>
            <a:r>
              <a:rPr lang="en-US" dirty="0"/>
              <a:t>Neutrophils were once thought to have little flexibility due to short lifespans and low RNA.</a:t>
            </a:r>
          </a:p>
          <a:p>
            <a:r>
              <a:rPr lang="en-US" dirty="0"/>
              <a:t>New research show they regulate carcinoma progression with both pro- and anti-tumor roles.</a:t>
            </a:r>
          </a:p>
          <a:p>
            <a:r>
              <a:rPr lang="en-US" dirty="0"/>
              <a:t>In their pro-tumor state, neutrophils suppress T cells and promote angiogenesis (4).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8BAD8C2-3559-466F-20F2-5177CF6BA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293" y="2072341"/>
            <a:ext cx="314325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34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Aims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045" y="2127912"/>
            <a:ext cx="10830910" cy="33578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Aim:</a:t>
            </a:r>
            <a:r>
              <a:rPr lang="en-US" dirty="0"/>
              <a:t> Develop a model to measure the spatial co-localization between neutrophils and different T-cell subsets in HNSCC patients treated with immunotherapy.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Hypothesis:</a:t>
            </a:r>
            <a:r>
              <a:rPr lang="en-US" dirty="0"/>
              <a:t> Neutrophil interactions with T-cell subsets and tumor cells will serve as predictive factors for immunotherapy treatment response in HNSCC patients.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7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E598-8E1C-36E7-E8AD-C5638310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F9BE8B-1D26-9B73-A695-30099270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Source- Protein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BA6DF5-1020-31BB-4B0D-749E91412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691" y="1643817"/>
            <a:ext cx="3434353" cy="6135013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Protein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64 panel protein expression</a:t>
            </a:r>
          </a:p>
          <a:p>
            <a:r>
              <a:rPr lang="en-US" dirty="0">
                <a:solidFill>
                  <a:srgbClr val="000000"/>
                </a:solidFill>
              </a:rPr>
              <a:t>Morphology visualization: PanCK, CD45, CD3, CD298/B2M antibodies and DAPI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F65EF-2A88-2CF1-4A84-C0AB1F76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20010"/>
              </p:ext>
            </p:extLst>
          </p:nvPr>
        </p:nvGraphicFramePr>
        <p:xfrm>
          <a:off x="6296106" y="2434259"/>
          <a:ext cx="5283200" cy="28448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1827201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5228897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914951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8465992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4-1BB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CD56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035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B7-H3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CD68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88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Bcl-2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400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Beta-catenin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CTLA4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55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CCR7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EGFR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689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EpCAM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01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CD11c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FABP4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2622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CD45RA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Fibronectin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499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FOXP3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IDO1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LAMP1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Rabbit IgG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996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GITR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IgD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Mouse IgG1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034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NF-kB p65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STING/TMEM173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0405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p53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Syndecan-1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65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HER2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IL3RA/CD123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pan-RAS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TCF1/TCF7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898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HLA-DR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TIM3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112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ICAM1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Ki-67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Vimentin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774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LAG3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VISTA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011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EA3767-FAEA-9FAD-718C-AFA4FC7DEDDB}"/>
              </a:ext>
            </a:extLst>
          </p:cNvPr>
          <p:cNvSpPr txBox="1"/>
          <p:nvPr/>
        </p:nvSpPr>
        <p:spPr>
          <a:xfrm>
            <a:off x="6782172" y="1908820"/>
            <a:ext cx="438542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64-Plex </a:t>
            </a:r>
            <a:r>
              <a:rPr lang="en-US" sz="2000" b="1" dirty="0" err="1">
                <a:solidFill>
                  <a:schemeClr val="bg1"/>
                </a:solidFill>
              </a:rPr>
              <a:t>CosMx</a:t>
            </a:r>
            <a:r>
              <a:rPr lang="en-US" sz="2000" b="1" dirty="0">
                <a:solidFill>
                  <a:schemeClr val="bg1"/>
                </a:solidFill>
              </a:rPr>
              <a:t> Protein IO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8FB70-5F59-E950-3A41-42780CB17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97" y="1959039"/>
            <a:ext cx="2536956" cy="35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6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922C-8876-ECF6-70FA-0E63A17B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B412A3-1E45-D529-966E-B3031BAA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– Neighborhood </a:t>
            </a:r>
          </a:p>
        </p:txBody>
      </p:sp>
      <p:pic>
        <p:nvPicPr>
          <p:cNvPr id="1026" name="Picture 2" descr="Free Simple House Clipart Template to Edit Online">
            <a:extLst>
              <a:ext uri="{FF2B5EF4-FFF2-40B4-BE49-F238E27FC236}">
                <a16:creationId xmlns:a16="http://schemas.microsoft.com/office/drawing/2014/main" id="{F0D68BE9-6F0D-D1EB-57A5-8364DF8BAAD1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6096000" y="1808176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8E99DD-69E1-03F4-8C25-349D470218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4" t="10940" r="7338" b="12462"/>
          <a:stretch>
            <a:fillRect/>
          </a:stretch>
        </p:blipFill>
        <p:spPr>
          <a:xfrm>
            <a:off x="8639207" y="1894702"/>
            <a:ext cx="1189195" cy="1037967"/>
          </a:xfrm>
          <a:prstGeom prst="rect">
            <a:avLst/>
          </a:prstGeom>
        </p:spPr>
      </p:pic>
      <p:pic>
        <p:nvPicPr>
          <p:cNvPr id="8" name="Picture 2" descr="Free Simple House Clipart Template to Edit Online">
            <a:extLst>
              <a:ext uri="{FF2B5EF4-FFF2-40B4-BE49-F238E27FC236}">
                <a16:creationId xmlns:a16="http://schemas.microsoft.com/office/drawing/2014/main" id="{F267CB61-0306-94A2-9D50-C30D4BBEA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4662584" y="2932669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Free Simple House Clipart Template to Edit Online">
            <a:extLst>
              <a:ext uri="{FF2B5EF4-FFF2-40B4-BE49-F238E27FC236}">
                <a16:creationId xmlns:a16="http://schemas.microsoft.com/office/drawing/2014/main" id="{97A1A7A0-29E4-3454-AB71-BCF3F444C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7305122" y="1205695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ree Simple House Clipart Template to Edit Online">
            <a:extLst>
              <a:ext uri="{FF2B5EF4-FFF2-40B4-BE49-F238E27FC236}">
                <a16:creationId xmlns:a16="http://schemas.microsoft.com/office/drawing/2014/main" id="{CB341B7C-6516-88CC-DD1F-6F798ABEF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8235920" y="3197429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ree Simple House Clipart Template to Edit Online">
            <a:extLst>
              <a:ext uri="{FF2B5EF4-FFF2-40B4-BE49-F238E27FC236}">
                <a16:creationId xmlns:a16="http://schemas.microsoft.com/office/drawing/2014/main" id="{D577A957-8893-77FE-1B67-80A88C2561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1067529" y="2831591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52B6CF0-B2C9-F04C-F9A6-5A08A42C2BE2}"/>
              </a:ext>
            </a:extLst>
          </p:cNvPr>
          <p:cNvSpPr/>
          <p:nvPr/>
        </p:nvSpPr>
        <p:spPr>
          <a:xfrm>
            <a:off x="7696749" y="2375694"/>
            <a:ext cx="774357" cy="83202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75FE16-ADCC-1109-3AC2-9D3BF5CF6B85}"/>
              </a:ext>
            </a:extLst>
          </p:cNvPr>
          <p:cNvSpPr/>
          <p:nvPr/>
        </p:nvSpPr>
        <p:spPr>
          <a:xfrm rot="18589259">
            <a:off x="6462790" y="3354603"/>
            <a:ext cx="1835709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7C41F4-0718-C26B-A5AC-3FC72E4C62E2}"/>
              </a:ext>
            </a:extLst>
          </p:cNvPr>
          <p:cNvSpPr/>
          <p:nvPr/>
        </p:nvSpPr>
        <p:spPr>
          <a:xfrm rot="2689031">
            <a:off x="6414138" y="4773335"/>
            <a:ext cx="2494035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0FAE59F-E210-B5B7-AE0B-1AECA8018C9E}"/>
              </a:ext>
            </a:extLst>
          </p:cNvPr>
          <p:cNvSpPr/>
          <p:nvPr/>
        </p:nvSpPr>
        <p:spPr>
          <a:xfrm>
            <a:off x="8284245" y="5652305"/>
            <a:ext cx="774357" cy="832022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Free Simple House Clipart Template to Edit Online">
            <a:extLst>
              <a:ext uri="{FF2B5EF4-FFF2-40B4-BE49-F238E27FC236}">
                <a16:creationId xmlns:a16="http://schemas.microsoft.com/office/drawing/2014/main" id="{D7A29794-BA35-41AE-6E38-7763DD66A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8734862" y="4611454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Free Simple House Clipart Template to Edit Online">
            <a:extLst>
              <a:ext uri="{FF2B5EF4-FFF2-40B4-BE49-F238E27FC236}">
                <a16:creationId xmlns:a16="http://schemas.microsoft.com/office/drawing/2014/main" id="{B48EF289-61EE-33CE-CB4B-7EFF38485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6881702" y="5817475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Free Simple House Clipart Template to Edit Online">
            <a:extLst>
              <a:ext uri="{FF2B5EF4-FFF2-40B4-BE49-F238E27FC236}">
                <a16:creationId xmlns:a16="http://schemas.microsoft.com/office/drawing/2014/main" id="{1D4F5AB4-3137-E0EE-0FD1-E0C9E22BD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9233804" y="5817474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84402D-8316-F10A-0F3D-2FA7BDB01A0B}"/>
              </a:ext>
            </a:extLst>
          </p:cNvPr>
          <p:cNvSpPr/>
          <p:nvPr/>
        </p:nvSpPr>
        <p:spPr>
          <a:xfrm>
            <a:off x="947352" y="4017335"/>
            <a:ext cx="5983746" cy="5153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" descr="Free Simple House Clipart Template to Edit Online">
            <a:extLst>
              <a:ext uri="{FF2B5EF4-FFF2-40B4-BE49-F238E27FC236}">
                <a16:creationId xmlns:a16="http://schemas.microsoft.com/office/drawing/2014/main" id="{3B82B888-C609-DE8A-7F11-C272BCD19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4814984" y="4650768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Free Simple House Clipart Template to Edit Online">
            <a:extLst>
              <a:ext uri="{FF2B5EF4-FFF2-40B4-BE49-F238E27FC236}">
                <a16:creationId xmlns:a16="http://schemas.microsoft.com/office/drawing/2014/main" id="{74B212DE-EA33-2545-3253-2E06D0FD9C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2785516" y="2900468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Free Simple House Clipart Template to Edit Online">
            <a:extLst>
              <a:ext uri="{FF2B5EF4-FFF2-40B4-BE49-F238E27FC236}">
                <a16:creationId xmlns:a16="http://schemas.microsoft.com/office/drawing/2014/main" id="{68E84573-21E7-C981-1975-4C7683EB5C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2855113" y="4611453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Free Simple House Clipart Template to Edit Online">
            <a:extLst>
              <a:ext uri="{FF2B5EF4-FFF2-40B4-BE49-F238E27FC236}">
                <a16:creationId xmlns:a16="http://schemas.microsoft.com/office/drawing/2014/main" id="{80781DFE-23A8-50C6-53DC-672F6CEC9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7" t="17731" r="16636" b="17256"/>
          <a:stretch>
            <a:fillRect/>
          </a:stretch>
        </p:blipFill>
        <p:spPr bwMode="auto">
          <a:xfrm>
            <a:off x="993306" y="4710153"/>
            <a:ext cx="997884" cy="96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05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2CA0-7C4B-7266-68A7-AF30FFE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2B5F0-A2C9-B929-981B-53B5DF9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342786"/>
            <a:ext cx="11291455" cy="517065"/>
          </a:xfrm>
        </p:spPr>
        <p:txBody>
          <a:bodyPr/>
          <a:lstStyle/>
          <a:p>
            <a:r>
              <a:rPr lang="en-US" dirty="0"/>
              <a:t>Methodology - Colocalization</a:t>
            </a:r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09881E78-495E-EBD1-8C58-2E5A5BE87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184" y="2016368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3F70CFFB-F63B-FC16-2F42-C4D43E0A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920719" y="3652825"/>
            <a:ext cx="839042" cy="7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13CF6-2C05-53A1-FF1B-2B3B32F0AACC}"/>
              </a:ext>
            </a:extLst>
          </p:cNvPr>
          <p:cNvSpPr txBox="1"/>
          <p:nvPr/>
        </p:nvSpPr>
        <p:spPr>
          <a:xfrm>
            <a:off x="4976719" y="1434795"/>
            <a:ext cx="65327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intercellular communication requires close proximity, as methods such as direct contact, receptor–ligand binding, and soluble signals are constrained by distance (5).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Cells within 10-30 µm are considered most likely to be interacting (5).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this analysis cells with centroids within 15 µm were considered colocalized or likely interacting.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Trends were consistent between 10-30 µm.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A1A8DF8-BFDD-76E3-1BEF-6EB3B01C1491}"/>
              </a:ext>
            </a:extLst>
          </p:cNvPr>
          <p:cNvSpPr/>
          <p:nvPr/>
        </p:nvSpPr>
        <p:spPr>
          <a:xfrm>
            <a:off x="506035" y="1664860"/>
            <a:ext cx="4109543" cy="3834398"/>
          </a:xfrm>
          <a:prstGeom prst="ellipse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Neutrophil granulocyte - Servier Medical Art">
            <a:extLst>
              <a:ext uri="{FF2B5EF4-FFF2-40B4-BE49-F238E27FC236}">
                <a16:creationId xmlns:a16="http://schemas.microsoft.com/office/drawing/2014/main" id="{1C13A964-BCF0-C235-5EEB-A7D15048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93" y="3249043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4" descr="Cancer cell - Free healthcare and medical icons">
            <a:extLst>
              <a:ext uri="{FF2B5EF4-FFF2-40B4-BE49-F238E27FC236}">
                <a16:creationId xmlns:a16="http://schemas.microsoft.com/office/drawing/2014/main" id="{CFD7A920-84BC-9BA5-B671-7B6192F8E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93344" y="3966066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Neutrophil granulocyte - Servier Medical Art">
            <a:extLst>
              <a:ext uri="{FF2B5EF4-FFF2-40B4-BE49-F238E27FC236}">
                <a16:creationId xmlns:a16="http://schemas.microsoft.com/office/drawing/2014/main" id="{4A7491EC-C158-2811-6DD1-8600C9991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368" y="4638939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4D8BF37-0335-7F9F-F796-D6C540BFAA58}"/>
              </a:ext>
            </a:extLst>
          </p:cNvPr>
          <p:cNvSpPr/>
          <p:nvPr/>
        </p:nvSpPr>
        <p:spPr>
          <a:xfrm>
            <a:off x="2187193" y="2927636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43AFA7-ED2A-4D95-C370-527DF62A83AD}"/>
              </a:ext>
            </a:extLst>
          </p:cNvPr>
          <p:cNvSpPr/>
          <p:nvPr/>
        </p:nvSpPr>
        <p:spPr>
          <a:xfrm>
            <a:off x="2187193" y="5590851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8BB7AA-FD40-D81C-668E-06217D11FBD9}"/>
              </a:ext>
            </a:extLst>
          </p:cNvPr>
          <p:cNvCxnSpPr>
            <a:cxnSpLocks/>
          </p:cNvCxnSpPr>
          <p:nvPr/>
        </p:nvCxnSpPr>
        <p:spPr>
          <a:xfrm>
            <a:off x="2560807" y="3652825"/>
            <a:ext cx="20430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FA7FD2-3FC7-288D-9F93-F6B07DB97588}"/>
              </a:ext>
            </a:extLst>
          </p:cNvPr>
          <p:cNvSpPr/>
          <p:nvPr/>
        </p:nvSpPr>
        <p:spPr>
          <a:xfrm>
            <a:off x="3248184" y="3339585"/>
            <a:ext cx="1030372" cy="199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A0C8EE76-E983-4CBA-CFF8-7ADAC7A41243}"/>
              </a:ext>
            </a:extLst>
          </p:cNvPr>
          <p:cNvSpPr/>
          <p:nvPr/>
        </p:nvSpPr>
        <p:spPr>
          <a:xfrm>
            <a:off x="506035" y="1667872"/>
            <a:ext cx="4097863" cy="3831384"/>
          </a:xfrm>
          <a:prstGeom prst="flowChartConnecto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AFB7A9-1E06-9E13-4589-0D0AE6E9CF5E}"/>
              </a:ext>
            </a:extLst>
          </p:cNvPr>
          <p:cNvSpPr/>
          <p:nvPr/>
        </p:nvSpPr>
        <p:spPr>
          <a:xfrm>
            <a:off x="3427040" y="4803222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5A9801-58BB-078A-8B67-8B792A83A5EA}"/>
              </a:ext>
            </a:extLst>
          </p:cNvPr>
          <p:cNvSpPr/>
          <p:nvPr/>
        </p:nvSpPr>
        <p:spPr>
          <a:xfrm>
            <a:off x="264936" y="4648261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</p:spTree>
    <p:extLst>
      <p:ext uri="{BB962C8B-B14F-4D97-AF65-F5344CB8AC3E}">
        <p14:creationId xmlns:p14="http://schemas.microsoft.com/office/powerpoint/2010/main" val="13100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FF6E-293E-8C34-7D44-107DB21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5CB0FE-E1B6-10BA-3F08-9B2FD6D4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2171"/>
            <a:ext cx="10896600" cy="517065"/>
          </a:xfrm>
        </p:spPr>
        <p:txBody>
          <a:bodyPr/>
          <a:lstStyle/>
          <a:p>
            <a:r>
              <a:rPr lang="en-US" dirty="0"/>
              <a:t>Methodology – Cellular Neighborhood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4FF335-2987-4893-E6C9-C5E783706F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6684" y="1242433"/>
            <a:ext cx="6894864" cy="166096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cellular neighborhood, </a:t>
            </a:r>
            <a:r>
              <a:rPr lang="en-US" dirty="0"/>
              <a:t>defined as the cells in close proximity (15 µm) to neutrophils, was quantified for each sample.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AutoShape 16" descr="T Cell PNG Images - CleanPNG">
            <a:extLst>
              <a:ext uri="{FF2B5EF4-FFF2-40B4-BE49-F238E27FC236}">
                <a16:creationId xmlns:a16="http://schemas.microsoft.com/office/drawing/2014/main" id="{67254723-2EE3-6A2A-CB14-9A0DEF163C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2581944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38" descr="Generated image">
            <a:extLst>
              <a:ext uri="{FF2B5EF4-FFF2-40B4-BE49-F238E27FC236}">
                <a16:creationId xmlns:a16="http://schemas.microsoft.com/office/drawing/2014/main" id="{0A5D97BC-749A-3C9E-659A-3D3338930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556535" y="4218401"/>
            <a:ext cx="839042" cy="7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B24C659-B340-0288-4E8A-104BB61D1325}"/>
              </a:ext>
            </a:extLst>
          </p:cNvPr>
          <p:cNvSpPr/>
          <p:nvPr/>
        </p:nvSpPr>
        <p:spPr>
          <a:xfrm>
            <a:off x="141851" y="2230436"/>
            <a:ext cx="4109543" cy="3834398"/>
          </a:xfrm>
          <a:prstGeom prst="ellipse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Neutrophil granulocyte - Servier Medical Art">
            <a:extLst>
              <a:ext uri="{FF2B5EF4-FFF2-40B4-BE49-F238E27FC236}">
                <a16:creationId xmlns:a16="http://schemas.microsoft.com/office/drawing/2014/main" id="{4022821B-A814-0FBF-47E0-38B772F28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09" y="3814619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4" descr="Cancer cell - Free healthcare and medical icons">
            <a:extLst>
              <a:ext uri="{FF2B5EF4-FFF2-40B4-BE49-F238E27FC236}">
                <a16:creationId xmlns:a16="http://schemas.microsoft.com/office/drawing/2014/main" id="{DC34AD51-E10B-B08A-1198-2980072D0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29160" y="4531642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Neutrophil granulocyte - Servier Medical Art">
            <a:extLst>
              <a:ext uri="{FF2B5EF4-FFF2-40B4-BE49-F238E27FC236}">
                <a16:creationId xmlns:a16="http://schemas.microsoft.com/office/drawing/2014/main" id="{73658DCB-C353-53DC-A422-29391540C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184" y="5204515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E6F6BCC-BF45-BC84-3CFB-1E26D39E467B}"/>
              </a:ext>
            </a:extLst>
          </p:cNvPr>
          <p:cNvSpPr/>
          <p:nvPr/>
        </p:nvSpPr>
        <p:spPr>
          <a:xfrm>
            <a:off x="1823009" y="3493212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81852C-8312-BC81-F448-6ADD1136CC8A}"/>
              </a:ext>
            </a:extLst>
          </p:cNvPr>
          <p:cNvSpPr/>
          <p:nvPr/>
        </p:nvSpPr>
        <p:spPr>
          <a:xfrm>
            <a:off x="1823009" y="6156427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8674A9-8B87-49CD-EEB3-73EFEFC11E8A}"/>
              </a:ext>
            </a:extLst>
          </p:cNvPr>
          <p:cNvCxnSpPr>
            <a:cxnSpLocks/>
          </p:cNvCxnSpPr>
          <p:nvPr/>
        </p:nvCxnSpPr>
        <p:spPr>
          <a:xfrm>
            <a:off x="2196623" y="4218401"/>
            <a:ext cx="20430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0587FE-C552-45C2-8B1D-F0A0F6F1CB1F}"/>
              </a:ext>
            </a:extLst>
          </p:cNvPr>
          <p:cNvSpPr/>
          <p:nvPr/>
        </p:nvSpPr>
        <p:spPr>
          <a:xfrm>
            <a:off x="2884000" y="3905161"/>
            <a:ext cx="1030372" cy="1999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C05573A-F5DD-CA61-CE09-90B7B5A727CA}"/>
              </a:ext>
            </a:extLst>
          </p:cNvPr>
          <p:cNvSpPr/>
          <p:nvPr/>
        </p:nvSpPr>
        <p:spPr>
          <a:xfrm>
            <a:off x="141851" y="2233448"/>
            <a:ext cx="4097863" cy="3831384"/>
          </a:xfrm>
          <a:prstGeom prst="flowChartConnector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46B7B-B29B-6BA0-884F-283F526244A5}"/>
              </a:ext>
            </a:extLst>
          </p:cNvPr>
          <p:cNvSpPr/>
          <p:nvPr/>
        </p:nvSpPr>
        <p:spPr>
          <a:xfrm>
            <a:off x="2867438" y="5376274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B1FB8A-7DA3-E69A-B2B2-5FEAB831F8B2}"/>
              </a:ext>
            </a:extLst>
          </p:cNvPr>
          <p:cNvSpPr/>
          <p:nvPr/>
        </p:nvSpPr>
        <p:spPr>
          <a:xfrm>
            <a:off x="133657" y="5089159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78C5D5-6CD5-78D6-9E4F-345A542BB1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4229" r="4639"/>
          <a:stretch>
            <a:fillRect/>
          </a:stretch>
        </p:blipFill>
        <p:spPr>
          <a:xfrm>
            <a:off x="5767047" y="2579260"/>
            <a:ext cx="4097863" cy="348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BA51-1E22-8D96-4B45-8110B6C1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8411DA-2007-4674-39DF-00FA16C32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35" y="555772"/>
            <a:ext cx="10896600" cy="517065"/>
          </a:xfrm>
        </p:spPr>
        <p:txBody>
          <a:bodyPr/>
          <a:lstStyle/>
          <a:p>
            <a:r>
              <a:rPr lang="en-US" dirty="0"/>
              <a:t>Normalized Neutrophil Interaction – All Cell Types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546DB8-D511-E9BB-4CD8-DB552D358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24" y="1141505"/>
            <a:ext cx="9754688" cy="5584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700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6C07-D417-68FE-784D-A649565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AAC-4A15-7588-5A50-D1C6618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15" y="319967"/>
            <a:ext cx="10145651" cy="517065"/>
          </a:xfrm>
        </p:spPr>
        <p:txBody>
          <a:bodyPr/>
          <a:lstStyle/>
          <a:p>
            <a:r>
              <a:rPr lang="en-US" dirty="0"/>
              <a:t>Neutrophils Interact More With CD8+ and Tregs in NRs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06B1C-EE8F-2D9E-AB60-2EF6A1273806}"/>
              </a:ext>
            </a:extLst>
          </p:cNvPr>
          <p:cNvSpPr txBox="1"/>
          <p:nvPr/>
        </p:nvSpPr>
        <p:spPr>
          <a:xfrm>
            <a:off x="381668" y="5371700"/>
            <a:ext cx="10598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Takeaways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 (NR) neutrophils interact more with CD8 T-cells (p=0.036) and Tregs (p=0.006), relative to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NRs have fewer CD8 T-cells than responders (R).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NR–R difference in neutrophil interactions with CD4 T-cells or DCs.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D1EE2C-D8EF-A27A-3D86-D2AB622F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61" y="1407346"/>
            <a:ext cx="9353618" cy="39433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B4064D-F87F-F613-F044-D5BCC8FE975E}"/>
              </a:ext>
            </a:extLst>
          </p:cNvPr>
          <p:cNvSpPr txBox="1"/>
          <p:nvPr/>
        </p:nvSpPr>
        <p:spPr>
          <a:xfrm>
            <a:off x="8593229" y="2203312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AB14CD-05D1-3543-86E1-386627D24C5F}"/>
              </a:ext>
            </a:extLst>
          </p:cNvPr>
          <p:cNvSpPr txBox="1"/>
          <p:nvPr/>
        </p:nvSpPr>
        <p:spPr>
          <a:xfrm>
            <a:off x="4860345" y="2195509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8936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05C4-5E1B-752F-A9DD-20DD6886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5931C0-1294-29D8-F2B8-D1E13F7E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346" y="386090"/>
            <a:ext cx="10896600" cy="517065"/>
          </a:xfrm>
        </p:spPr>
        <p:txBody>
          <a:bodyPr/>
          <a:lstStyle/>
          <a:p>
            <a:r>
              <a:rPr lang="en-US" dirty="0"/>
              <a:t>Example: Higher Nuetrophil-CD8 Interaction in NRs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159170-89FC-0EE5-A46E-9EB406427C42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6E2A3-A191-B7AB-5657-98CC77D13CE2}"/>
              </a:ext>
            </a:extLst>
          </p:cNvPr>
          <p:cNvSpPr/>
          <p:nvPr/>
        </p:nvSpPr>
        <p:spPr>
          <a:xfrm>
            <a:off x="6670194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80C49-75A2-AEA7-5A49-E82526D3E0EC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6059E-15AA-CA92-3473-7D48CEC64935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362841-8575-2A26-C61F-C445F2FF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191" y="1902608"/>
            <a:ext cx="3145508" cy="3133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6DC9D9-72B6-AA4F-7EFE-1CD675111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556" y="1902608"/>
            <a:ext cx="3276691" cy="3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1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ECA7-C7D7-0D51-3F6B-064619EA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8A74C3-0B1E-012E-5390-FF6D4E63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56183"/>
            <a:ext cx="10896600" cy="517065"/>
          </a:xfrm>
        </p:spPr>
        <p:txBody>
          <a:bodyPr/>
          <a:lstStyle/>
          <a:p>
            <a:r>
              <a:rPr lang="en-US" dirty="0"/>
              <a:t>Example: Higher Nuetrophil-CD8 Interaction in NRs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425BE-2639-F6A0-2BD4-6052837D1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063" y="1832355"/>
            <a:ext cx="4831492" cy="3672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7DF2EC-5DF5-23E2-1919-C4BDE9DD2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20" y="1832355"/>
            <a:ext cx="4831492" cy="37509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BB6F9C-A419-D879-9E7A-87BD537A271C}"/>
              </a:ext>
            </a:extLst>
          </p:cNvPr>
          <p:cNvSpPr/>
          <p:nvPr/>
        </p:nvSpPr>
        <p:spPr>
          <a:xfrm>
            <a:off x="1260685" y="1374967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22B052-AC40-1996-D82D-C87EBD680993}"/>
              </a:ext>
            </a:extLst>
          </p:cNvPr>
          <p:cNvSpPr/>
          <p:nvPr/>
        </p:nvSpPr>
        <p:spPr>
          <a:xfrm>
            <a:off x="6505438" y="1374968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6FF952-3E7A-6EDD-F598-9C53C30C80E3}"/>
              </a:ext>
            </a:extLst>
          </p:cNvPr>
          <p:cNvSpPr/>
          <p:nvPr/>
        </p:nvSpPr>
        <p:spPr>
          <a:xfrm>
            <a:off x="428652" y="5583321"/>
            <a:ext cx="3937481" cy="4847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Nuetrophil-CD8+ Neighborhood: 2.78%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9095F0-718C-2CCE-6CF6-6B0615BF324F}"/>
              </a:ext>
            </a:extLst>
          </p:cNvPr>
          <p:cNvSpPr/>
          <p:nvPr/>
        </p:nvSpPr>
        <p:spPr>
          <a:xfrm>
            <a:off x="5666063" y="5610668"/>
            <a:ext cx="4220050" cy="4430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Nuetrophil-CD8+ Neighborhood: 7.017%</a:t>
            </a:r>
          </a:p>
        </p:txBody>
      </p:sp>
    </p:spTree>
    <p:extLst>
      <p:ext uri="{BB962C8B-B14F-4D97-AF65-F5344CB8AC3E}">
        <p14:creationId xmlns:p14="http://schemas.microsoft.com/office/powerpoint/2010/main" val="1911111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29409-9640-CECB-FBD4-3D1EDD32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96DC-36A0-2189-D952-6A85A676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41" y="508477"/>
            <a:ext cx="10515718" cy="517065"/>
          </a:xfrm>
        </p:spPr>
        <p:txBody>
          <a:bodyPr/>
          <a:lstStyle/>
          <a:p>
            <a:r>
              <a:rPr lang="en-US" dirty="0"/>
              <a:t>Neutrophils Interact with Tumor Cells More in 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7E5DC-89D9-6A72-27E7-0714C6861FB4}"/>
              </a:ext>
            </a:extLst>
          </p:cNvPr>
          <p:cNvSpPr txBox="1"/>
          <p:nvPr/>
        </p:nvSpPr>
        <p:spPr>
          <a:xfrm>
            <a:off x="381668" y="5149194"/>
            <a:ext cx="10598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Takeaways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Neutrophils cluster amongst themselves but there is no major difference between responder and non-responders.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Responders have higher neutrophil-tumor interactions (p=0.051) relative to overall frequency.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36200B-978A-94B4-C754-E7A1FB6D1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52" y="1113533"/>
            <a:ext cx="9544120" cy="395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C2138-6EA8-21B2-D1CB-037EBD32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771DEE-2C36-7593-719E-5572B715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Directions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7B871E-C7ED-B721-BA1F-83EC7DD085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2869503"/>
          </a:xfrm>
        </p:spPr>
        <p:txBody>
          <a:bodyPr/>
          <a:lstStyle/>
          <a:p>
            <a:r>
              <a:rPr lang="en-US" dirty="0"/>
              <a:t>Neutrophil interactions with CD8 and Treg cells were more frequent in non-responders, suggesting neutrophils may limit T-cell recruitment and proliferation. </a:t>
            </a:r>
          </a:p>
          <a:p>
            <a:r>
              <a:rPr lang="en-US" dirty="0"/>
              <a:t>Neutrophil–tumor colocalization was more common in responders, indicating a potential antitumor role despite higher tumor burden in non-responders.</a:t>
            </a:r>
          </a:p>
          <a:p>
            <a:r>
              <a:rPr lang="en-US" dirty="0"/>
              <a:t>Determining the ligand–receptor pairs associated with neutrophil interactions with CD8+, Treg, and tumor cells could generate potential ICB therapy targets</a:t>
            </a:r>
          </a:p>
        </p:txBody>
      </p:sp>
    </p:spTree>
    <p:extLst>
      <p:ext uri="{BB962C8B-B14F-4D97-AF65-F5344CB8AC3E}">
        <p14:creationId xmlns:p14="http://schemas.microsoft.com/office/powerpoint/2010/main" val="286075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A793-25FC-CA1D-DC59-97363B7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EEC2EB-1148-D592-27B8-65A6A79D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7049D7-E47E-0620-A604-15DFC4326F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996240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Sharma P, Goswami S, Raychaudhuri D, Siddiqui BA, Singh P, Nagarajan A, Liu J, Subudhi SK, Poon C, Gant KL, </a:t>
            </a:r>
            <a:r>
              <a:rPr lang="en-US" sz="1400" dirty="0" err="1"/>
              <a:t>Herbrich</a:t>
            </a:r>
            <a:r>
              <a:rPr lang="en-US" sz="1400" dirty="0"/>
              <a:t> SM, Anandhan S, Islam S, Amit M, </a:t>
            </a:r>
            <a:r>
              <a:rPr lang="en-US" sz="1400" dirty="0" err="1"/>
              <a:t>Anandappa</a:t>
            </a:r>
            <a:r>
              <a:rPr lang="en-US" sz="1400" dirty="0"/>
              <a:t> G, Allison JP. Immune checkpoint therapy-current perspectives and future directions. Cell. 2023 Apr 13;186(8):1652-1669. </a:t>
            </a:r>
            <a:r>
              <a:rPr lang="en-US" sz="1400" dirty="0" err="1"/>
              <a:t>doi</a:t>
            </a:r>
            <a:r>
              <a:rPr lang="en-US" sz="1400" dirty="0"/>
              <a:t>: 10.1016/j.cell.2023.03.006. PMID: 37059068.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Hoesseini</a:t>
            </a:r>
            <a:r>
              <a:rPr lang="en-US" sz="1400" dirty="0"/>
              <a:t> A, </a:t>
            </a:r>
            <a:r>
              <a:rPr lang="en-US" sz="1400" dirty="0" err="1"/>
              <a:t>Sewnaik</a:t>
            </a:r>
            <a:r>
              <a:rPr lang="en-US" sz="1400" dirty="0"/>
              <a:t> A, van den </a:t>
            </a:r>
            <a:r>
              <a:rPr lang="en-US" sz="1400" dirty="0" err="1"/>
              <a:t>Besselaar</a:t>
            </a:r>
            <a:r>
              <a:rPr lang="en-US" sz="1400" dirty="0"/>
              <a:t> BN, Zhang J, van Leeuwen N, </a:t>
            </a:r>
            <a:r>
              <a:rPr lang="en-US" sz="1400" dirty="0" err="1"/>
              <a:t>Hardillo</a:t>
            </a:r>
            <a:r>
              <a:rPr lang="en-US" sz="1400" dirty="0"/>
              <a:t> JA, </a:t>
            </a:r>
            <a:r>
              <a:rPr lang="en-US" sz="1400" dirty="0" err="1"/>
              <a:t>Baatenburg</a:t>
            </a:r>
            <a:r>
              <a:rPr lang="en-US" sz="1400" dirty="0"/>
              <a:t> de Jong RJ, Offerman MPJ. Prognostic model for overall survival of head and neck cancer patients in the palliative phase. BMC </a:t>
            </a:r>
            <a:r>
              <a:rPr lang="en-US" sz="1400" dirty="0" err="1"/>
              <a:t>Palliat</a:t>
            </a:r>
            <a:r>
              <a:rPr lang="en-US" sz="1400" dirty="0"/>
              <a:t> Care. 2024 Feb 24;23(1):54. </a:t>
            </a:r>
            <a:r>
              <a:rPr lang="en-US" sz="1400" dirty="0" err="1"/>
              <a:t>doi</a:t>
            </a:r>
            <a:r>
              <a:rPr lang="en-US" sz="1400" dirty="0"/>
              <a:t>: 10.1186/s12904-023-01325-y. PMID: 38395897; PMCID: PMC10893612.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400" dirty="0" err="1"/>
              <a:t>Veigas</a:t>
            </a:r>
            <a:r>
              <a:rPr lang="en-US" sz="1400" dirty="0"/>
              <a:t>, F.; Mahmoud, Y.D.; Merlo, J.; </a:t>
            </a:r>
            <a:r>
              <a:rPr lang="en-US" sz="1400" dirty="0" err="1"/>
              <a:t>Rinflerch</a:t>
            </a:r>
            <a:r>
              <a:rPr lang="en-US" sz="1400" dirty="0"/>
              <a:t>, A.; Rabinovich, G.A.; Girotti, M.R. Immune Checkpoints Pathways in Head and Neck Squamous Cell </a:t>
            </a:r>
            <a:r>
              <a:rPr lang="en-US" sz="1400" dirty="0" err="1"/>
              <a:t>Carcinoma.Cancers</a:t>
            </a:r>
            <a:r>
              <a:rPr lang="en-US" sz="1400" dirty="0"/>
              <a:t> 2021, 13, 1018. </a:t>
            </a:r>
            <a:r>
              <a:rPr lang="en-US" sz="1400" u="sng" dirty="0">
                <a:hlinkClick r:id="rId3"/>
              </a:rPr>
              <a:t>https://doi.org/10.3390/cancers13051018</a:t>
            </a:r>
            <a:endParaRPr lang="en-US" sz="1400" u="sng" dirty="0"/>
          </a:p>
          <a:p>
            <a:pPr marL="514350" lvl="0" indent="-514350">
              <a:buFont typeface="+mj-lt"/>
              <a:buAutoNum type="arabicPeriod"/>
            </a:pPr>
            <a:r>
              <a:rPr lang="en-US" sz="1400" dirty="0"/>
              <a:t>Meyer MA, Dinh HQ, </a:t>
            </a:r>
            <a:r>
              <a:rPr lang="en-US" sz="1400" dirty="0" err="1"/>
              <a:t>Alimadadi</a:t>
            </a:r>
            <a:r>
              <a:rPr lang="en-US" sz="1400" dirty="0"/>
              <a:t> A, Araujo DJ, Chatterjee N, Gutierrez NA, Zhu YP, Hunter EL, Liang S, </a:t>
            </a:r>
            <a:r>
              <a:rPr lang="en-US" sz="1400" dirty="0" err="1"/>
              <a:t>Seumois</a:t>
            </a:r>
            <a:r>
              <a:rPr lang="en-US" sz="1400" dirty="0"/>
              <a:t> G, </a:t>
            </a:r>
            <a:r>
              <a:rPr lang="en-US" sz="1400" dirty="0" err="1"/>
              <a:t>Kiosses</a:t>
            </a:r>
            <a:r>
              <a:rPr lang="en-US" sz="1400" dirty="0"/>
              <a:t> WB, Catz SD, Vijayanand P, </a:t>
            </a:r>
            <a:r>
              <a:rPr lang="en-US" sz="1400" dirty="0" err="1"/>
              <a:t>Ottensmeier</a:t>
            </a:r>
            <a:r>
              <a:rPr lang="en-US" sz="1400" dirty="0"/>
              <a:t> C, Hedrick CC. Human CD79b+ neutrophils in the blood are associated with early-stage melanoma. </a:t>
            </a:r>
            <a:r>
              <a:rPr lang="en-US" sz="1400" i="1" dirty="0"/>
              <a:t>Front Immunol</a:t>
            </a:r>
            <a:r>
              <a:rPr lang="en-US" sz="1400" dirty="0"/>
              <a:t>. 2023;14:1224045. Doi: 10.3389/fimmu.2023.1224045. </a:t>
            </a:r>
            <a:r>
              <a:rPr lang="en-US" sz="1400" u="sng" dirty="0">
                <a:hlinkClick r:id="rId4"/>
              </a:rPr>
              <a:t>https://doi.org/10.3389/fimmu.2023.1224045</a:t>
            </a:r>
            <a:endParaRPr lang="en-US" sz="1400" u="sng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Oh J, Hoelzl J, Carlson JCT, Bill R, Peterson HM, </a:t>
            </a:r>
            <a:r>
              <a:rPr lang="en-US" sz="1400" dirty="0" err="1"/>
              <a:t>Faquin</a:t>
            </a:r>
            <a:r>
              <a:rPr lang="en-US" sz="1400" dirty="0"/>
              <a:t> WC, Pittet MJ, Pai SI, </a:t>
            </a:r>
            <a:r>
              <a:rPr lang="en-US" sz="1400" dirty="0" err="1"/>
              <a:t>Weissleder</a:t>
            </a:r>
            <a:r>
              <a:rPr lang="en-US" sz="1400" dirty="0"/>
              <a:t> R. Spatial analysis identifies DC niches as predictors of pembrolizumab therapy in head and neck squamous cell cancer. </a:t>
            </a:r>
            <a:r>
              <a:rPr lang="en-US" sz="1400" i="1" dirty="0"/>
              <a:t>Cell Rep Med.</a:t>
            </a:r>
            <a:r>
              <a:rPr lang="en-US" sz="1400" dirty="0"/>
              <a:t> 2025;6(5):102100. doi:10.1016/j.xcrm.2025.102100 PMID:40311615 PMCID:PMC12147904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Golfinos</a:t>
            </a:r>
            <a:r>
              <a:rPr lang="en-US" sz="1400" dirty="0"/>
              <a:t>-Owens AE, Lozar T, Khatri P, Hu R, Harari PM, Lambert PF, Fitzpatrick MB, Dinh HQ. Integrated single-cell and spatial analysis identifies context-dependent myeloid-T cell interactions in head and neck cancer immune checkpoint blockade response. Posted March 30, 2025. Preprint. </a:t>
            </a:r>
            <a:r>
              <a:rPr lang="en-US" sz="1400" dirty="0" err="1"/>
              <a:t>bioRxiv</a:t>
            </a:r>
            <a:r>
              <a:rPr lang="en-US" sz="1400" dirty="0"/>
              <a:t>. doi:10.1101/2025.03.24.644582</a:t>
            </a:r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lvl="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7717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68D8-8AD1-9784-3495-131F3532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9E8BAA-DDC6-A558-2B72-05FFD31C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9911F-5A6F-3FF4-C3B0-0ED6ACC4B8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3D8317-DAC7-6B4E-10A5-69C09A9D76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1088" y="1379868"/>
            <a:ext cx="10830910" cy="2894126"/>
          </a:xfrm>
        </p:spPr>
        <p:txBody>
          <a:bodyPr/>
          <a:lstStyle/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Prof Huy Dinh, PhD</a:t>
            </a:r>
          </a:p>
          <a:p>
            <a:r>
              <a:rPr lang="en-US" dirty="0"/>
              <a:t>Dr. Athena </a:t>
            </a:r>
            <a:r>
              <a:rPr lang="en-US" dirty="0" err="1"/>
              <a:t>Golfinos</a:t>
            </a:r>
            <a:r>
              <a:rPr lang="en-US" dirty="0"/>
              <a:t>-Owens, PhD</a:t>
            </a:r>
          </a:p>
          <a:p>
            <a:r>
              <a:rPr lang="en-US" dirty="0"/>
              <a:t>Parth Khatri </a:t>
            </a:r>
          </a:p>
          <a:p>
            <a:r>
              <a:rPr lang="en-US" dirty="0"/>
              <a:t>Anqi Gao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605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28018</TotalTime>
  <Words>1139</Words>
  <Application>Microsoft Office PowerPoint</Application>
  <PresentationFormat>Widescreen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Red Hat Display</vt:lpstr>
      <vt:lpstr>Red Hat Text</vt:lpstr>
      <vt:lpstr>Office Theme</vt:lpstr>
      <vt:lpstr>Spatial Omics Analysis of Neutrophil–T Cell Interactions in Head and Neck Squamous Cell Carcinoma</vt:lpstr>
      <vt:lpstr>Background - Immune Checkpoint Blockers (ICBs)</vt:lpstr>
      <vt:lpstr>Background - Neutrophils </vt:lpstr>
      <vt:lpstr>Specific Aims </vt:lpstr>
      <vt:lpstr>Project Data Source- Protein</vt:lpstr>
      <vt:lpstr>Methodology – Neighborhood </vt:lpstr>
      <vt:lpstr>Methodology - Colocalization</vt:lpstr>
      <vt:lpstr>Methodology – Cellular Neighborhood </vt:lpstr>
      <vt:lpstr>Normalized Neutrophil Interaction – All Cell Types</vt:lpstr>
      <vt:lpstr>Neutrophils Interact More With CD8+ and Tregs in NRs</vt:lpstr>
      <vt:lpstr>Example: Higher Nuetrophil-CD8 Interaction in NRs</vt:lpstr>
      <vt:lpstr>Example: Higher Nuetrophil-CD8 Interaction in NRs</vt:lpstr>
      <vt:lpstr>Neutrophils Interact with Tumor Cells More in Rs</vt:lpstr>
      <vt:lpstr>Conclusion &amp; Future Directions </vt:lpstr>
      <vt:lpstr>References </vt:lpstr>
      <vt:lpstr>Acknowledgements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30</cp:revision>
  <dcterms:created xsi:type="dcterms:W3CDTF">2025-06-03T19:55:18Z</dcterms:created>
  <dcterms:modified xsi:type="dcterms:W3CDTF">2025-09-10T15:28:01Z</dcterms:modified>
</cp:coreProperties>
</file>