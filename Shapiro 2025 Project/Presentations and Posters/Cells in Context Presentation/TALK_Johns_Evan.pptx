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64" r:id="rId2"/>
    <p:sldId id="398" r:id="rId3"/>
    <p:sldId id="400" r:id="rId4"/>
    <p:sldId id="370" r:id="rId5"/>
    <p:sldId id="372" r:id="rId6"/>
    <p:sldId id="387" r:id="rId7"/>
    <p:sldId id="308" r:id="rId8"/>
    <p:sldId id="373" r:id="rId9"/>
    <p:sldId id="388" r:id="rId10"/>
    <p:sldId id="313" r:id="rId11"/>
    <p:sldId id="393" r:id="rId12"/>
    <p:sldId id="394" r:id="rId13"/>
    <p:sldId id="392" r:id="rId14"/>
    <p:sldId id="395" r:id="rId15"/>
    <p:sldId id="401" r:id="rId16"/>
    <p:sldId id="404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0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82" autoAdjust="0"/>
    <p:restoredTop sz="96327"/>
  </p:normalViewPr>
  <p:slideViewPr>
    <p:cSldViewPr snapToGrid="0" snapToObjects="1">
      <p:cViewPr>
        <p:scale>
          <a:sx n="51" d="100"/>
          <a:sy n="51" d="100"/>
        </p:scale>
        <p:origin x="1797" y="69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03F8B-A50D-DE44-9304-39C43FB3C5B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51AFC-CD2E-5241-A5F6-3092FE774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2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48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C5EF7-B8C5-F57E-93FD-FEC0EA2CD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01793-DBB2-7EA2-11A6-2325BDA54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029E0-A1AF-688A-AD82-7F31E722D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ABD5A-EB7D-EB21-401B-5584192B4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36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CC1D0-E573-D3C3-1E90-31A6E85D0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98535B-7330-C80C-74BA-91B36EC3E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DF134-6BFB-B2EF-F8BF-0E1591A83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6672B-64EF-7855-01A0-E484F3034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12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A0EDF-DC4F-F320-E162-C3CC7D99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483CE-81B6-A9D2-AD8F-73D3E171E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CB627-7CAA-3463-3C33-D8F1BDCE4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50869-E797-1B6E-B5AD-E89A90B67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68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1B79-3334-1C33-1365-3CFFF34C5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68967-D742-642B-8B27-A2B31513E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17C18-43E6-7FF7-1F57-002DE2E7F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33B6A-907F-9E92-FA5C-99F8749C6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22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88CD6-1C79-8C9D-0010-49FD19B5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26DF2-B050-F661-0AD1-F95D29C11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87879-C906-B72A-D72D-F550B0062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B3C81-B264-9401-3923-DEC9F8D05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9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AEB4-4E3B-FD20-7A71-02897E23B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17534-FDA7-60FA-9E57-ACC0B7682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436E2-7043-5F77-00A4-5A6E60D4A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A2913-3881-212C-6E1E-AC069B108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265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CC9D7-250F-0184-265E-6C0C58BBB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298FA-D737-7261-D194-70FD91BE7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CF649-5D01-1293-6811-5B83FAE95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43174-375B-C351-0DAE-6031A0710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83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FF338-949E-04AD-DCBC-9DD1F6C5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0A15C-0B72-79B4-FCC9-D6514A33A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CDED7-833B-05E7-D54D-7F7A531CA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E9414-5200-9AD9-2897-114772543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83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38A19-315C-08DF-7FA2-8FCEAB01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B3F32-B395-1B82-599A-9D635D03A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27B11-8D0D-E1A2-0AF6-C00547DD5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09504-8821-037D-19FA-9E2D43568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99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824B2-7CBE-20F7-6145-6177ABC7C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ED143-3DDD-ED36-CE54-2E9906ADE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80CF59-FA8B-AA3B-C937-C2E0E775D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47906-2F35-6F1B-D764-C7EAD7297D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58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DDC2E-DA08-2BCA-58DC-78421750E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FD1FB-649C-2465-9B5B-07F79A2B2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17C78-1D2B-9A95-34C3-2F68E4223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0F9E0-3E53-CA7C-13CC-B47FFB734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42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A4BD4-ECBF-A2E9-634B-7AD58154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F2E3A-497D-9F47-D8C1-89E0C2636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ED130C-8A40-DA1E-FEBF-276E16F2C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5D424-CD4A-390F-8FD4-F3BB60A67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012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2672E-C741-26EE-7BA6-078B0F1F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89332-F3BD-A8E0-5B9F-E8AB9B12E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ACA40-BFA4-22FE-0D53-E98B7424F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2E798-BAA0-5266-D6CD-C53F883AD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748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C364-1D54-713D-2B22-6FB5A51E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0F0C1-5E1D-3610-9DA1-7758EF1AA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53B82-90D9-3DB4-CB04-01FE08F25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3226F-BDC5-9306-DC28-C6C2268B2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752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250BC-A8A3-AF9A-CF23-E7EA251CB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D5F1ED-4636-EFB0-CB1D-F30D2E5C0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16BDC-DA3D-09FD-7C74-08FC26D5F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455BC-10E6-2A37-9205-080DD44D2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8897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1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344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3F103DCA-791F-6E43-9621-0FFA8B54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464798" cy="6858000"/>
          </a:xfrm>
          <a:custGeom>
            <a:avLst/>
            <a:gdLst>
              <a:gd name="connsiteX0" fmla="*/ 0 w 10464798"/>
              <a:gd name="connsiteY0" fmla="*/ 0 h 6858000"/>
              <a:gd name="connsiteX1" fmla="*/ 406398 w 10464798"/>
              <a:gd name="connsiteY1" fmla="*/ 0 h 6858000"/>
              <a:gd name="connsiteX2" fmla="*/ 5498904 w 10464798"/>
              <a:gd name="connsiteY2" fmla="*/ 0 h 6858000"/>
              <a:gd name="connsiteX3" fmla="*/ 5850595 w 10464798"/>
              <a:gd name="connsiteY3" fmla="*/ 0 h 6858000"/>
              <a:gd name="connsiteX4" fmla="*/ 10464798 w 10464798"/>
              <a:gd name="connsiteY4" fmla="*/ 0 h 6858000"/>
              <a:gd name="connsiteX5" fmla="*/ 8809500 w 10464798"/>
              <a:gd name="connsiteY5" fmla="*/ 6858000 h 6858000"/>
              <a:gd name="connsiteX6" fmla="*/ 5850595 w 10464798"/>
              <a:gd name="connsiteY6" fmla="*/ 6858000 h 6858000"/>
              <a:gd name="connsiteX7" fmla="*/ 3843605 w 10464798"/>
              <a:gd name="connsiteY7" fmla="*/ 6858000 h 6858000"/>
              <a:gd name="connsiteX8" fmla="*/ 406398 w 10464798"/>
              <a:gd name="connsiteY8" fmla="*/ 6858000 h 6858000"/>
              <a:gd name="connsiteX9" fmla="*/ 0 w 1046479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64798" h="6858000">
                <a:moveTo>
                  <a:pt x="0" y="0"/>
                </a:moveTo>
                <a:lnTo>
                  <a:pt x="406398" y="0"/>
                </a:lnTo>
                <a:lnTo>
                  <a:pt x="5498904" y="0"/>
                </a:lnTo>
                <a:lnTo>
                  <a:pt x="5850595" y="0"/>
                </a:lnTo>
                <a:lnTo>
                  <a:pt x="10464798" y="0"/>
                </a:lnTo>
                <a:lnTo>
                  <a:pt x="8809500" y="6858000"/>
                </a:lnTo>
                <a:lnTo>
                  <a:pt x="5850595" y="6858000"/>
                </a:lnTo>
                <a:lnTo>
                  <a:pt x="3843605" y="6858000"/>
                </a:lnTo>
                <a:lnTo>
                  <a:pt x="40639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F70F15D-372D-5B45-92B4-1B626E0FC1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429374"/>
            <a:ext cx="6159500" cy="410882"/>
          </a:xfrm>
        </p:spPr>
        <p:txBody>
          <a:bodyPr/>
          <a:lstStyle>
            <a:lvl1pPr marL="0" indent="0">
              <a:buNone/>
              <a:defRPr sz="230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78D8B-ED2A-3D41-92FB-40BA9FA8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3182248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995C957-CDB9-C342-8243-6F7D03851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31067"/>
            <a:ext cx="7530353" cy="295466"/>
          </a:xfrm>
        </p:spPr>
        <p:txBody>
          <a:bodyPr bIns="0" anchor="b" anchorCtr="0"/>
          <a:lstStyle>
            <a:lvl1pPr marL="0" indent="0">
              <a:buNone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77E77-56F4-4C9C-AB6A-89C89D91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814627"/>
            <a:ext cx="7530353" cy="1213153"/>
          </a:xfrm>
        </p:spPr>
        <p:txBody>
          <a:bodyPr rIns="182880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 in title or sentence case</a:t>
            </a:r>
          </a:p>
        </p:txBody>
      </p:sp>
    </p:spTree>
    <p:extLst>
      <p:ext uri="{BB962C8B-B14F-4D97-AF65-F5344CB8AC3E}">
        <p14:creationId xmlns:p14="http://schemas.microsoft.com/office/powerpoint/2010/main" val="412645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886E-E0D4-5815-83F1-889895E62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98298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362628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CA86-D8D8-70D0-C62A-9DE796C67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47244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2D8BB4A-46A4-1343-BA88-41D2E1C0EA5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38900" y="1524000"/>
            <a:ext cx="49149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578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8866-4F69-FCBB-5935-007FD86EB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7" name="Chart Placeholder 11">
            <a:extLst>
              <a:ext uri="{FF2B5EF4-FFF2-40B4-BE49-F238E27FC236}">
                <a16:creationId xmlns:a16="http://schemas.microsoft.com/office/drawing/2014/main" id="{8C3425D9-7762-3940-B7DA-B13EC3E058B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524000" y="1523999"/>
            <a:ext cx="9829800" cy="463186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190273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17D7-4166-2ED9-1881-347107691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C8FC7EDF-D625-4640-AF06-22ADBDC8C8C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" y="1530523"/>
            <a:ext cx="542925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Chart Placeholder 11">
            <a:extLst>
              <a:ext uri="{FF2B5EF4-FFF2-40B4-BE49-F238E27FC236}">
                <a16:creationId xmlns:a16="http://schemas.microsoft.com/office/drawing/2014/main" id="{8C45FAA6-1118-A24C-9C61-949F410E7C81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438900" y="1530523"/>
            <a:ext cx="491490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437A76B-A3F1-E24A-9B72-37AC8087E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68639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00CC43E-DAB5-6045-A3FC-1B1B9D6DFFE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1524000" y="1524000"/>
            <a:ext cx="9829800" cy="34163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table	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123EED-038F-7B4A-92A4-A606571FF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2BC0-0141-2D65-4384-82B2C1196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211924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868577-B206-C94D-AA90-90C71CB8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79"/>
          <a:stretch/>
        </p:blipFill>
        <p:spPr>
          <a:xfrm>
            <a:off x="0" y="0"/>
            <a:ext cx="116459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926B1D-2681-6D40-953A-D41E624A2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900" y="1104900"/>
            <a:ext cx="10210800" cy="464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C3DB9-D22E-37C1-8603-44F3A55AA5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200" y="3125519"/>
            <a:ext cx="9080500" cy="603563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89242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19960-C592-024C-8B94-896ABF102E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42036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1CCA-1EB8-EE46-B4BA-5F3D97575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1FB28-7881-67A2-3E03-9832EF556D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392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</p:spTree>
    <p:extLst>
      <p:ext uri="{BB962C8B-B14F-4D97-AF65-F5344CB8AC3E}">
        <p14:creationId xmlns:p14="http://schemas.microsoft.com/office/powerpoint/2010/main" val="64950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43DB41-0E0D-3DA2-7A76-C0187BC8F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7978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7DB89E-70AA-E4A2-9190-47A86DFC3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05261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0455"/>
            <a:ext cx="10896600" cy="517065"/>
          </a:xfrm>
          <a:prstGeom prst="rect">
            <a:avLst/>
          </a:prstGeom>
        </p:spPr>
        <p:txBody>
          <a:bodyPr vert="horz" wrap="square" lIns="0" tIns="45720" rIns="9144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0896600" cy="1775358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43580"/>
            <a:ext cx="1116106" cy="31442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274320" tIns="45720" rIns="274320" bIns="45720" rtlCol="0" anchor="ctr">
            <a:spAutoFit/>
          </a:bodyPr>
          <a:lstStyle>
            <a:lvl1pPr algn="l">
              <a:defRPr sz="14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EB5E6-54D5-9945-8BFD-BD46E2794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47553" y="0"/>
            <a:ext cx="5706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crest logo in red">
            <a:extLst>
              <a:ext uri="{FF2B5EF4-FFF2-40B4-BE49-F238E27FC236}">
                <a16:creationId xmlns:a16="http://schemas.microsoft.com/office/drawing/2014/main" id="{52794618-AA7B-F040-BD0B-B97556AA7F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704812" y="222225"/>
            <a:ext cx="456122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6" r:id="rId4"/>
    <p:sldLayoutId id="2147483672" r:id="rId5"/>
    <p:sldLayoutId id="2147483673" r:id="rId6"/>
    <p:sldLayoutId id="2147483663" r:id="rId7"/>
    <p:sldLayoutId id="2147483666" r:id="rId8"/>
    <p:sldLayoutId id="2147483667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tx1">
              <a:lumMod val="90000"/>
              <a:lumOff val="10000"/>
            </a:schemeClr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72" userDrawn="1">
          <p15:clr>
            <a:srgbClr val="F26B43"/>
          </p15:clr>
        </p15:guide>
        <p15:guide id="3" pos="7608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pos="288" userDrawn="1">
          <p15:clr>
            <a:srgbClr val="F26B43"/>
          </p15:clr>
        </p15:guide>
        <p15:guide id="6" orient="horz" pos="768" userDrawn="1">
          <p15:clr>
            <a:srgbClr val="F26B43"/>
          </p15:clr>
        </p15:guide>
        <p15:guide id="7" orient="horz" pos="960" userDrawn="1">
          <p15:clr>
            <a:srgbClr val="F26B43"/>
          </p15:clr>
        </p15:guide>
        <p15:guide id="8" orient="horz" pos="1152" userDrawn="1">
          <p15:clr>
            <a:srgbClr val="F26B43"/>
          </p15:clr>
        </p15:guide>
        <p15:guide id="9" orient="horz" pos="3888" userDrawn="1">
          <p15:clr>
            <a:srgbClr val="F26B43"/>
          </p15:clr>
        </p15:guide>
        <p15:guide id="10" pos="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cancers13051018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3389/fimmu.2023.1224045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ACD601-E669-A4D5-E968-7C550AE9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6" y="645144"/>
            <a:ext cx="9964689" cy="2372957"/>
          </a:xfrm>
        </p:spPr>
        <p:txBody>
          <a:bodyPr/>
          <a:lstStyle/>
          <a:p>
            <a:r>
              <a:rPr lang="en-US" dirty="0"/>
              <a:t>Spatial Omics Analysis of Neutrophil–T Cell Interactions in Head and Neck Squamous Cell Carcinoma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F5AA5-6B7D-494F-9865-F7AB9EBC7A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655618"/>
            <a:ext cx="6159500" cy="2069797"/>
          </a:xfrm>
        </p:spPr>
        <p:txBody>
          <a:bodyPr/>
          <a:lstStyle/>
          <a:p>
            <a:pPr algn="ctr"/>
            <a:r>
              <a:rPr lang="en-US" dirty="0"/>
              <a:t>Cells in Context Symposium, 9/11/2025</a:t>
            </a:r>
          </a:p>
          <a:p>
            <a:pPr algn="ctr"/>
            <a:r>
              <a:rPr lang="en-US" dirty="0"/>
              <a:t>Evan Johns, University of Wisconsin School of Medicine and Public Health, M.D. Candidate 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38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47062-7177-938A-92A0-F1D9C1CF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07F3C68-5094-DADF-E854-17C57168B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- Immune Checkpoint Blockers (ICBs)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1B11C4D-8AB0-B2A6-27EF-8DBCCF3A160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864947"/>
            <a:ext cx="6618941" cy="3929281"/>
          </a:xfrm>
        </p:spPr>
        <p:txBody>
          <a:bodyPr/>
          <a:lstStyle/>
          <a:p>
            <a:r>
              <a:rPr lang="en-US" sz="2400" dirty="0"/>
              <a:t>Immune checkpoint proteins protect healthy cells from T-cell attacks but limit cancer response.</a:t>
            </a:r>
          </a:p>
          <a:p>
            <a:endParaRPr lang="en-US" sz="2400" dirty="0"/>
          </a:p>
          <a:p>
            <a:r>
              <a:rPr lang="en-US" sz="2400" dirty="0"/>
              <a:t>Immune checkpoint blockade (ICB) has transformed melanoma treatment but is less effective in other cancers (1).</a:t>
            </a:r>
          </a:p>
          <a:p>
            <a:endParaRPr lang="en-US" sz="2400" dirty="0"/>
          </a:p>
          <a:p>
            <a:r>
              <a:rPr lang="en-US" sz="2400" dirty="0"/>
              <a:t>Head and neck squamous cell carcinoma (HNSCC) is common and deadly, yet only ~18% of patients currently benefit from ICB (2,3).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417FC-9EB6-4C11-B6BF-CEEFF3E5527A}"/>
              </a:ext>
            </a:extLst>
          </p:cNvPr>
          <p:cNvSpPr txBox="1"/>
          <p:nvPr/>
        </p:nvSpPr>
        <p:spPr>
          <a:xfrm>
            <a:off x="7235456" y="6049306"/>
            <a:ext cx="3813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Figure: Adapted from Clinical and Translational Medicine. March 2021. https://doi.org/10.1002/ctm2.365. CC BY 4.0.</a:t>
            </a:r>
          </a:p>
        </p:txBody>
      </p:sp>
      <p:pic>
        <p:nvPicPr>
          <p:cNvPr id="2052" name="Picture 4" descr="An illustration of the LAG-3 and PD-1 receptors being blocked by antibody drugs.">
            <a:extLst>
              <a:ext uri="{FF2B5EF4-FFF2-40B4-BE49-F238E27FC236}">
                <a16:creationId xmlns:a16="http://schemas.microsoft.com/office/drawing/2014/main" id="{250CB9A6-31D1-F0AC-2396-0DAF1FC15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456" y="1746483"/>
            <a:ext cx="3647632" cy="3808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4004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4EFF-7ED4-8F9A-BCA4-F26C49B0B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37EB95-D21A-67EC-C06F-8F81418BE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- Neutrophils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EFDC3D3-7E3D-7461-308F-8462CB59EA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6085002" cy="3748314"/>
          </a:xfrm>
        </p:spPr>
        <p:txBody>
          <a:bodyPr/>
          <a:lstStyle/>
          <a:p>
            <a:r>
              <a:rPr lang="en-US" dirty="0"/>
              <a:t>Neutrophils were once thought to have little flexibility due to short lifespans and low RNA.</a:t>
            </a:r>
          </a:p>
          <a:p>
            <a:r>
              <a:rPr lang="en-US" dirty="0"/>
              <a:t>New research show they regulate carcinoma progression with both pro- and anti-tumor roles.</a:t>
            </a:r>
          </a:p>
          <a:p>
            <a:r>
              <a:rPr lang="en-US" dirty="0"/>
              <a:t>In their pro-tumor state, neutrophils suppress T cells and promote angiogenesis (4).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8BAD8C2-3559-466F-20F2-5177CF6BA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293" y="2072341"/>
            <a:ext cx="314325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7345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B14A6-71CA-2707-E9CD-FA4E5114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BFAB37-A5C5-F0BB-D6D5-F4EF77CBF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Aims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4D1F08B-F2CC-863A-8FB2-6DAD9A125E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045" y="2127912"/>
            <a:ext cx="10830910" cy="335784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Research Aim:</a:t>
            </a:r>
            <a:r>
              <a:rPr lang="en-US" dirty="0"/>
              <a:t> Develop a model to measure the spatial co-localization between neutrophils and different T-cell subsets in HNSCC patients treated with immunotherapy.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Hypothesis:</a:t>
            </a:r>
            <a:r>
              <a:rPr lang="en-US" dirty="0"/>
              <a:t> Neutrophil interactions with T-cell subsets and tumor cells will serve as predictive factors for immunotherapy treatment response in HNSCC patients.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879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8E598-8E1C-36E7-E8AD-C5638310B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8F9BE8B-1D26-9B73-A695-300992704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Data Source- Protein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BA6DF5-1020-31BB-4B0D-749E914122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4691" y="1643817"/>
            <a:ext cx="3434353" cy="6135013"/>
          </a:xfrm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</a:rPr>
              <a:t>CosMx</a:t>
            </a:r>
            <a:r>
              <a:rPr lang="en-US" dirty="0">
                <a:solidFill>
                  <a:srgbClr val="000000"/>
                </a:solidFill>
              </a:rPr>
              <a:t> Protein Assay</a:t>
            </a:r>
          </a:p>
          <a:p>
            <a:r>
              <a:rPr lang="en-US" dirty="0">
                <a:solidFill>
                  <a:srgbClr val="000000"/>
                </a:solidFill>
              </a:rPr>
              <a:t>68 samples from 26 patients of HNSCC</a:t>
            </a:r>
          </a:p>
          <a:p>
            <a:r>
              <a:rPr lang="en-US" dirty="0">
                <a:solidFill>
                  <a:srgbClr val="000000"/>
                </a:solidFill>
              </a:rPr>
              <a:t>64 panel protein expression</a:t>
            </a:r>
          </a:p>
          <a:p>
            <a:r>
              <a:rPr lang="en-US" dirty="0">
                <a:solidFill>
                  <a:srgbClr val="000000"/>
                </a:solidFill>
              </a:rPr>
              <a:t>Morphology visualization: PanCK, CD45, CD3, CD298/B2M antibodies and DAPI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EF65EF-2A88-2CF1-4A84-C0AB1F765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820010"/>
              </p:ext>
            </p:extLst>
          </p:nvPr>
        </p:nvGraphicFramePr>
        <p:xfrm>
          <a:off x="6296106" y="2434259"/>
          <a:ext cx="5283200" cy="284480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18272019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152288976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419149517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18465992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4-1BB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CD56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10351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B7-H3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CD68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7882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Bcl-2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CD16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7400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Beta-catenin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CD163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CD39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CTLA4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555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CCR7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CD19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EGFR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36895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CD11b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CD20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EpCAM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90105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CD11c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CD27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FABP4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26225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CD127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CD45RA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Fibronectin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8499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FOXP3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IDO1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LAMP1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</a:rPr>
                        <a:t>Rabbit IgG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2996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GITR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IgD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</a:rPr>
                        <a:t>Mouse IgG1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SMA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00346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GZMA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IL-18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NF-kB p65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STING/TMEM173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0405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GZMB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IL-1b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p53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Syndecan-1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36523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HER2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IL3RA/CD123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pan-RAS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TCF1/TCF7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18988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HLA-DR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iNOS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PD-1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TIM3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11120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ICAM1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Ki-67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PD-L1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Vimentin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07741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ICOS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LAG3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PD-L2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VISTA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8011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9EA3767-FAEA-9FAD-718C-AFA4FC7DEDDB}"/>
              </a:ext>
            </a:extLst>
          </p:cNvPr>
          <p:cNvSpPr txBox="1"/>
          <p:nvPr/>
        </p:nvSpPr>
        <p:spPr>
          <a:xfrm>
            <a:off x="6782172" y="1908820"/>
            <a:ext cx="4385420" cy="40011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64-Plex </a:t>
            </a:r>
            <a:r>
              <a:rPr lang="en-US" sz="2000" b="1" dirty="0" err="1">
                <a:solidFill>
                  <a:schemeClr val="bg1"/>
                </a:solidFill>
              </a:rPr>
              <a:t>CosMx</a:t>
            </a:r>
            <a:r>
              <a:rPr lang="en-US" sz="2000" b="1" dirty="0">
                <a:solidFill>
                  <a:schemeClr val="bg1"/>
                </a:solidFill>
              </a:rPr>
              <a:t> Protein IO Panel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C8FB70-5F59-E950-3A41-42780CB17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097" y="1959039"/>
            <a:ext cx="2536956" cy="35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69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E922C-8876-ECF6-70FA-0E63A17B6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4B412A3-1E45-D529-966E-B3031BAA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– Neighborhood </a:t>
            </a:r>
          </a:p>
        </p:txBody>
      </p:sp>
      <p:pic>
        <p:nvPicPr>
          <p:cNvPr id="1026" name="Picture 2" descr="Free Simple House Clipart Template to Edit Online">
            <a:extLst>
              <a:ext uri="{FF2B5EF4-FFF2-40B4-BE49-F238E27FC236}">
                <a16:creationId xmlns:a16="http://schemas.microsoft.com/office/drawing/2014/main" id="{F0D68BE9-6F0D-D1EB-57A5-8364DF8BAAD1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6096000" y="1808176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8E99DD-69E1-03F4-8C25-349D470218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04" t="10940" r="7338" b="12462"/>
          <a:stretch>
            <a:fillRect/>
          </a:stretch>
        </p:blipFill>
        <p:spPr>
          <a:xfrm>
            <a:off x="8639207" y="1894702"/>
            <a:ext cx="1189195" cy="1037967"/>
          </a:xfrm>
          <a:prstGeom prst="rect">
            <a:avLst/>
          </a:prstGeom>
        </p:spPr>
      </p:pic>
      <p:pic>
        <p:nvPicPr>
          <p:cNvPr id="8" name="Picture 2" descr="Free Simple House Clipart Template to Edit Online">
            <a:extLst>
              <a:ext uri="{FF2B5EF4-FFF2-40B4-BE49-F238E27FC236}">
                <a16:creationId xmlns:a16="http://schemas.microsoft.com/office/drawing/2014/main" id="{F267CB61-0306-94A2-9D50-C30D4BBEAA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4662584" y="2932669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Free Simple House Clipart Template to Edit Online">
            <a:extLst>
              <a:ext uri="{FF2B5EF4-FFF2-40B4-BE49-F238E27FC236}">
                <a16:creationId xmlns:a16="http://schemas.microsoft.com/office/drawing/2014/main" id="{97A1A7A0-29E4-3454-AB71-BCF3F444CE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7305122" y="1205695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Free Simple House Clipart Template to Edit Online">
            <a:extLst>
              <a:ext uri="{FF2B5EF4-FFF2-40B4-BE49-F238E27FC236}">
                <a16:creationId xmlns:a16="http://schemas.microsoft.com/office/drawing/2014/main" id="{CB341B7C-6516-88CC-DD1F-6F798ABEF6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8235920" y="3197429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Free Simple House Clipart Template to Edit Online">
            <a:extLst>
              <a:ext uri="{FF2B5EF4-FFF2-40B4-BE49-F238E27FC236}">
                <a16:creationId xmlns:a16="http://schemas.microsoft.com/office/drawing/2014/main" id="{D577A957-8893-77FE-1B67-80A88C2561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1067529" y="2831591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052B6CF0-B2C9-F04C-F9A6-5A08A42C2BE2}"/>
              </a:ext>
            </a:extLst>
          </p:cNvPr>
          <p:cNvSpPr/>
          <p:nvPr/>
        </p:nvSpPr>
        <p:spPr>
          <a:xfrm>
            <a:off x="7696749" y="2375694"/>
            <a:ext cx="774357" cy="832022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75FE16-ADCC-1109-3AC2-9D3BF5CF6B85}"/>
              </a:ext>
            </a:extLst>
          </p:cNvPr>
          <p:cNvSpPr/>
          <p:nvPr/>
        </p:nvSpPr>
        <p:spPr>
          <a:xfrm rot="18589259">
            <a:off x="6462790" y="3354603"/>
            <a:ext cx="1835709" cy="5153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7C41F4-0718-C26B-A5AC-3FC72E4C62E2}"/>
              </a:ext>
            </a:extLst>
          </p:cNvPr>
          <p:cNvSpPr/>
          <p:nvPr/>
        </p:nvSpPr>
        <p:spPr>
          <a:xfrm rot="2689031">
            <a:off x="6414138" y="4773335"/>
            <a:ext cx="2494035" cy="5153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F0FAE59F-E210-B5B7-AE0B-1AECA8018C9E}"/>
              </a:ext>
            </a:extLst>
          </p:cNvPr>
          <p:cNvSpPr/>
          <p:nvPr/>
        </p:nvSpPr>
        <p:spPr>
          <a:xfrm>
            <a:off x="8284245" y="5652305"/>
            <a:ext cx="774357" cy="832022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Free Simple House Clipart Template to Edit Online">
            <a:extLst>
              <a:ext uri="{FF2B5EF4-FFF2-40B4-BE49-F238E27FC236}">
                <a16:creationId xmlns:a16="http://schemas.microsoft.com/office/drawing/2014/main" id="{D7A29794-BA35-41AE-6E38-7763DD66A0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8734862" y="4611454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Free Simple House Clipart Template to Edit Online">
            <a:extLst>
              <a:ext uri="{FF2B5EF4-FFF2-40B4-BE49-F238E27FC236}">
                <a16:creationId xmlns:a16="http://schemas.microsoft.com/office/drawing/2014/main" id="{B48EF289-61EE-33CE-CB4B-7EFF384857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6881702" y="5817475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Free Simple House Clipart Template to Edit Online">
            <a:extLst>
              <a:ext uri="{FF2B5EF4-FFF2-40B4-BE49-F238E27FC236}">
                <a16:creationId xmlns:a16="http://schemas.microsoft.com/office/drawing/2014/main" id="{1D4F5AB4-3137-E0EE-0FD1-E0C9E22BD3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9233804" y="5817474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784402D-8316-F10A-0F3D-2FA7BDB01A0B}"/>
              </a:ext>
            </a:extLst>
          </p:cNvPr>
          <p:cNvSpPr/>
          <p:nvPr/>
        </p:nvSpPr>
        <p:spPr>
          <a:xfrm>
            <a:off x="947352" y="4017335"/>
            <a:ext cx="5983746" cy="5153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" descr="Free Simple House Clipart Template to Edit Online">
            <a:extLst>
              <a:ext uri="{FF2B5EF4-FFF2-40B4-BE49-F238E27FC236}">
                <a16:creationId xmlns:a16="http://schemas.microsoft.com/office/drawing/2014/main" id="{3B82B888-C609-DE8A-7F11-C272BCD192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4814984" y="4650768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Free Simple House Clipart Template to Edit Online">
            <a:extLst>
              <a:ext uri="{FF2B5EF4-FFF2-40B4-BE49-F238E27FC236}">
                <a16:creationId xmlns:a16="http://schemas.microsoft.com/office/drawing/2014/main" id="{74B212DE-EA33-2545-3253-2E06D0FD9C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2785516" y="2900468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Free Simple House Clipart Template to Edit Online">
            <a:extLst>
              <a:ext uri="{FF2B5EF4-FFF2-40B4-BE49-F238E27FC236}">
                <a16:creationId xmlns:a16="http://schemas.microsoft.com/office/drawing/2014/main" id="{68E84573-21E7-C981-1975-4C7683EB5C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2855113" y="4611453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Free Simple House Clipart Template to Edit Online">
            <a:extLst>
              <a:ext uri="{FF2B5EF4-FFF2-40B4-BE49-F238E27FC236}">
                <a16:creationId xmlns:a16="http://schemas.microsoft.com/office/drawing/2014/main" id="{80781DFE-23A8-50C6-53DC-672F6CEC9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993306" y="4710153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056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F2CA0-7C4B-7266-68A7-AF30FFEA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662B5F0-A2C9-B929-981B-53B5DF9B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342786"/>
            <a:ext cx="11291455" cy="517065"/>
          </a:xfrm>
        </p:spPr>
        <p:txBody>
          <a:bodyPr/>
          <a:lstStyle/>
          <a:p>
            <a:r>
              <a:rPr lang="en-US" dirty="0"/>
              <a:t>Methodology - Colocalization</a:t>
            </a:r>
          </a:p>
        </p:txBody>
      </p:sp>
      <p:sp>
        <p:nvSpPr>
          <p:cNvPr id="17" name="AutoShape 16" descr="T Cell PNG Images - CleanPNG">
            <a:extLst>
              <a:ext uri="{FF2B5EF4-FFF2-40B4-BE49-F238E27FC236}">
                <a16:creationId xmlns:a16="http://schemas.microsoft.com/office/drawing/2014/main" id="{09881E78-495E-EBD1-8C58-2E5A5BE870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184" y="2016368"/>
            <a:ext cx="2738996" cy="273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38" descr="Generated image">
            <a:extLst>
              <a:ext uri="{FF2B5EF4-FFF2-40B4-BE49-F238E27FC236}">
                <a16:creationId xmlns:a16="http://schemas.microsoft.com/office/drawing/2014/main" id="{3F70CFFB-F63B-FC16-2F42-C4D43E0A96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920719" y="3652825"/>
            <a:ext cx="839042" cy="76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0D13CF6-2C05-53A1-FF1B-2B3B32F0AACC}"/>
              </a:ext>
            </a:extLst>
          </p:cNvPr>
          <p:cNvSpPr txBox="1"/>
          <p:nvPr/>
        </p:nvSpPr>
        <p:spPr>
          <a:xfrm>
            <a:off x="4976719" y="1434795"/>
            <a:ext cx="653272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Most intercellular communication requires close proximity, as methods such as direct contact, receptor–ligand binding, and soluble signals are constrained by distance (5).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Cells within 10-30 µm are considered most likely to be interacting (5).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this analysis cells with centroids within 15 µm were considered colocalized or likely interacting.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Trends were consistent between 10-30 µm.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A1A8DF8-BFDD-76E3-1BEF-6EB3B01C1491}"/>
              </a:ext>
            </a:extLst>
          </p:cNvPr>
          <p:cNvSpPr/>
          <p:nvPr/>
        </p:nvSpPr>
        <p:spPr>
          <a:xfrm>
            <a:off x="506035" y="1664860"/>
            <a:ext cx="4109543" cy="3834398"/>
          </a:xfrm>
          <a:prstGeom prst="ellipse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Neutrophil granulocyte - Servier Medical Art">
            <a:extLst>
              <a:ext uri="{FF2B5EF4-FFF2-40B4-BE49-F238E27FC236}">
                <a16:creationId xmlns:a16="http://schemas.microsoft.com/office/drawing/2014/main" id="{1C13A964-BCF0-C235-5EEB-A7D150488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193" y="3249043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34" descr="Cancer cell - Free healthcare and medical icons">
            <a:extLst>
              <a:ext uri="{FF2B5EF4-FFF2-40B4-BE49-F238E27FC236}">
                <a16:creationId xmlns:a16="http://schemas.microsoft.com/office/drawing/2014/main" id="{CFD7A920-84BC-9BA5-B671-7B6192F8E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93344" y="3966066"/>
            <a:ext cx="792042" cy="79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Neutrophil granulocyte - Servier Medical Art">
            <a:extLst>
              <a:ext uri="{FF2B5EF4-FFF2-40B4-BE49-F238E27FC236}">
                <a16:creationId xmlns:a16="http://schemas.microsoft.com/office/drawing/2014/main" id="{4A7491EC-C158-2811-6DD1-8600C9991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368" y="4638939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4D8BF37-0335-7F9F-F796-D6C540BFAA58}"/>
              </a:ext>
            </a:extLst>
          </p:cNvPr>
          <p:cNvSpPr/>
          <p:nvPr/>
        </p:nvSpPr>
        <p:spPr>
          <a:xfrm>
            <a:off x="2187193" y="2927636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43AFA7-ED2A-4D95-C370-527DF62A83AD}"/>
              </a:ext>
            </a:extLst>
          </p:cNvPr>
          <p:cNvSpPr/>
          <p:nvPr/>
        </p:nvSpPr>
        <p:spPr>
          <a:xfrm>
            <a:off x="2187193" y="5590851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B8BB7AA-FD40-D81C-668E-06217D11FBD9}"/>
              </a:ext>
            </a:extLst>
          </p:cNvPr>
          <p:cNvCxnSpPr>
            <a:cxnSpLocks/>
          </p:cNvCxnSpPr>
          <p:nvPr/>
        </p:nvCxnSpPr>
        <p:spPr>
          <a:xfrm>
            <a:off x="2560807" y="3652825"/>
            <a:ext cx="2043091" cy="0"/>
          </a:xfrm>
          <a:prstGeom prst="straightConnector1">
            <a:avLst/>
          </a:prstGeom>
          <a:ln w="28575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FFA7FD2-3FC7-288D-9F93-F6B07DB97588}"/>
              </a:ext>
            </a:extLst>
          </p:cNvPr>
          <p:cNvSpPr/>
          <p:nvPr/>
        </p:nvSpPr>
        <p:spPr>
          <a:xfrm>
            <a:off x="3248184" y="3339585"/>
            <a:ext cx="1030372" cy="1999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 µm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A0C8EE76-E983-4CBA-CFF8-7ADAC7A41243}"/>
              </a:ext>
            </a:extLst>
          </p:cNvPr>
          <p:cNvSpPr/>
          <p:nvPr/>
        </p:nvSpPr>
        <p:spPr>
          <a:xfrm>
            <a:off x="506035" y="1667872"/>
            <a:ext cx="4097863" cy="3831384"/>
          </a:xfrm>
          <a:prstGeom prst="flowChartConnector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AFB7A9-1E06-9E13-4589-0D0AE6E9CF5E}"/>
              </a:ext>
            </a:extLst>
          </p:cNvPr>
          <p:cNvSpPr/>
          <p:nvPr/>
        </p:nvSpPr>
        <p:spPr>
          <a:xfrm>
            <a:off x="3427040" y="4803222"/>
            <a:ext cx="1318709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Tumor Cell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5A9801-58BB-078A-8B67-8B792A83A5EA}"/>
              </a:ext>
            </a:extLst>
          </p:cNvPr>
          <p:cNvSpPr/>
          <p:nvPr/>
        </p:nvSpPr>
        <p:spPr>
          <a:xfrm>
            <a:off x="264936" y="4648261"/>
            <a:ext cx="1261920" cy="253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CD8+ T-Cell</a:t>
            </a:r>
          </a:p>
        </p:txBody>
      </p:sp>
    </p:spTree>
    <p:extLst>
      <p:ext uri="{BB962C8B-B14F-4D97-AF65-F5344CB8AC3E}">
        <p14:creationId xmlns:p14="http://schemas.microsoft.com/office/powerpoint/2010/main" val="131004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3FF6E-293E-8C34-7D44-107DB2186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5CB0FE-E1B6-10BA-3F08-9B2FD6D46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82171"/>
            <a:ext cx="10896600" cy="517065"/>
          </a:xfrm>
        </p:spPr>
        <p:txBody>
          <a:bodyPr/>
          <a:lstStyle/>
          <a:p>
            <a:r>
              <a:rPr lang="en-US" dirty="0"/>
              <a:t>Methodology – Cellular Neighborhood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F4FF335-2987-4893-E6C9-C5E783706F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6684" y="1242433"/>
            <a:ext cx="6894864" cy="1660968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cellular neighborhood, </a:t>
            </a:r>
            <a:r>
              <a:rPr lang="en-US" dirty="0"/>
              <a:t>defined as the cells in close proximity (15 µm) to neutrophils, was quantified for each sample.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AutoShape 16" descr="T Cell PNG Images - CleanPNG">
            <a:extLst>
              <a:ext uri="{FF2B5EF4-FFF2-40B4-BE49-F238E27FC236}">
                <a16:creationId xmlns:a16="http://schemas.microsoft.com/office/drawing/2014/main" id="{67254723-2EE3-6A2A-CB14-9A0DEF163C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2581944"/>
            <a:ext cx="2738996" cy="273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38" descr="Generated image">
            <a:extLst>
              <a:ext uri="{FF2B5EF4-FFF2-40B4-BE49-F238E27FC236}">
                <a16:creationId xmlns:a16="http://schemas.microsoft.com/office/drawing/2014/main" id="{0A5D97BC-749A-3C9E-659A-3D33389300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556535" y="4218401"/>
            <a:ext cx="839042" cy="76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EB24C659-B340-0288-4E8A-104BB61D1325}"/>
              </a:ext>
            </a:extLst>
          </p:cNvPr>
          <p:cNvSpPr/>
          <p:nvPr/>
        </p:nvSpPr>
        <p:spPr>
          <a:xfrm>
            <a:off x="141851" y="2230436"/>
            <a:ext cx="4109543" cy="3834398"/>
          </a:xfrm>
          <a:prstGeom prst="ellipse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Neutrophil granulocyte - Servier Medical Art">
            <a:extLst>
              <a:ext uri="{FF2B5EF4-FFF2-40B4-BE49-F238E27FC236}">
                <a16:creationId xmlns:a16="http://schemas.microsoft.com/office/drawing/2014/main" id="{4022821B-A814-0FBF-47E0-38B772F28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009" y="3814619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4" descr="Cancer cell - Free healthcare and medical icons">
            <a:extLst>
              <a:ext uri="{FF2B5EF4-FFF2-40B4-BE49-F238E27FC236}">
                <a16:creationId xmlns:a16="http://schemas.microsoft.com/office/drawing/2014/main" id="{DC34AD51-E10B-B08A-1198-2980072D0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829160" y="4531642"/>
            <a:ext cx="792042" cy="79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Neutrophil granulocyte - Servier Medical Art">
            <a:extLst>
              <a:ext uri="{FF2B5EF4-FFF2-40B4-BE49-F238E27FC236}">
                <a16:creationId xmlns:a16="http://schemas.microsoft.com/office/drawing/2014/main" id="{73658DCB-C353-53DC-A422-29391540C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184" y="5204515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E6F6BCC-BF45-BC84-3CFB-1E26D39E467B}"/>
              </a:ext>
            </a:extLst>
          </p:cNvPr>
          <p:cNvSpPr/>
          <p:nvPr/>
        </p:nvSpPr>
        <p:spPr>
          <a:xfrm>
            <a:off x="1823009" y="3493212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81852C-8312-BC81-F448-6ADD1136CC8A}"/>
              </a:ext>
            </a:extLst>
          </p:cNvPr>
          <p:cNvSpPr/>
          <p:nvPr/>
        </p:nvSpPr>
        <p:spPr>
          <a:xfrm>
            <a:off x="1823009" y="6156427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8674A9-8B87-49CD-EEB3-73EFEFC11E8A}"/>
              </a:ext>
            </a:extLst>
          </p:cNvPr>
          <p:cNvCxnSpPr>
            <a:cxnSpLocks/>
          </p:cNvCxnSpPr>
          <p:nvPr/>
        </p:nvCxnSpPr>
        <p:spPr>
          <a:xfrm>
            <a:off x="2196623" y="4218401"/>
            <a:ext cx="2043091" cy="0"/>
          </a:xfrm>
          <a:prstGeom prst="straightConnector1">
            <a:avLst/>
          </a:prstGeom>
          <a:ln w="28575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20587FE-C552-45C2-8B1D-F0A0F6F1CB1F}"/>
              </a:ext>
            </a:extLst>
          </p:cNvPr>
          <p:cNvSpPr/>
          <p:nvPr/>
        </p:nvSpPr>
        <p:spPr>
          <a:xfrm>
            <a:off x="2884000" y="3905161"/>
            <a:ext cx="1030372" cy="1999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 µm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3C05573A-F5DD-CA61-CE09-90B7B5A727CA}"/>
              </a:ext>
            </a:extLst>
          </p:cNvPr>
          <p:cNvSpPr/>
          <p:nvPr/>
        </p:nvSpPr>
        <p:spPr>
          <a:xfrm>
            <a:off x="141851" y="2233448"/>
            <a:ext cx="4097863" cy="3831384"/>
          </a:xfrm>
          <a:prstGeom prst="flowChartConnector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E46B7B-B29B-6BA0-884F-283F526244A5}"/>
              </a:ext>
            </a:extLst>
          </p:cNvPr>
          <p:cNvSpPr/>
          <p:nvPr/>
        </p:nvSpPr>
        <p:spPr>
          <a:xfrm>
            <a:off x="2867438" y="5376274"/>
            <a:ext cx="1318709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Tumor Cell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B1FB8A-7DA3-E69A-B2B2-5FEAB831F8B2}"/>
              </a:ext>
            </a:extLst>
          </p:cNvPr>
          <p:cNvSpPr/>
          <p:nvPr/>
        </p:nvSpPr>
        <p:spPr>
          <a:xfrm>
            <a:off x="133657" y="5089159"/>
            <a:ext cx="1261920" cy="253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CD8+ T-Cell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F78C5D5-6CD5-78D6-9E4F-345A542BB1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4229" r="4639"/>
          <a:stretch>
            <a:fillRect/>
          </a:stretch>
        </p:blipFill>
        <p:spPr>
          <a:xfrm>
            <a:off x="5767047" y="2579260"/>
            <a:ext cx="4097863" cy="348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79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8BA51-1E22-8D96-4B45-8110B6C1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8411DA-2007-4674-39DF-00FA16C32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35" y="555772"/>
            <a:ext cx="10896600" cy="517065"/>
          </a:xfrm>
        </p:spPr>
        <p:txBody>
          <a:bodyPr/>
          <a:lstStyle/>
          <a:p>
            <a:r>
              <a:rPr lang="en-US" dirty="0"/>
              <a:t>Normalized Neutrophil Interaction – All Cell Types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D546DB8-D511-E9BB-4CD8-DB552D358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24" y="1141505"/>
            <a:ext cx="9754688" cy="5584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700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96C07-D417-68FE-784D-A649565F3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20AAC-4A15-7588-5A50-D1C66185C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115" y="319967"/>
            <a:ext cx="10145651" cy="517065"/>
          </a:xfrm>
        </p:spPr>
        <p:txBody>
          <a:bodyPr/>
          <a:lstStyle/>
          <a:p>
            <a:r>
              <a:rPr lang="en-US" dirty="0"/>
              <a:t>Neutrophils Interact More With CD8+ and Tregs in NRs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706B1C-EE8F-2D9E-AB60-2EF6A1273806}"/>
              </a:ext>
            </a:extLst>
          </p:cNvPr>
          <p:cNvSpPr txBox="1"/>
          <p:nvPr/>
        </p:nvSpPr>
        <p:spPr>
          <a:xfrm>
            <a:off x="381668" y="5371700"/>
            <a:ext cx="105985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Takeaways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Non-responder (NR) neutrophils interact more with CD8 T-cells (p=0.036) and Tregs (p=0.006), relative to frequency.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NRs have fewer CD8 T-cells than responders (R).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NR–R difference in neutrophil interactions with CD4 T-cells or DCs.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0D1EE2C-D8EF-A27A-3D86-D2AB622FF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61" y="1407346"/>
            <a:ext cx="9353618" cy="394337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8B4064D-F87F-F613-F044-D5BCC8FE975E}"/>
              </a:ext>
            </a:extLst>
          </p:cNvPr>
          <p:cNvSpPr txBox="1"/>
          <p:nvPr/>
        </p:nvSpPr>
        <p:spPr>
          <a:xfrm>
            <a:off x="8593229" y="2203312"/>
            <a:ext cx="36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AB14CD-05D1-3543-86E1-386627D24C5F}"/>
              </a:ext>
            </a:extLst>
          </p:cNvPr>
          <p:cNvSpPr txBox="1"/>
          <p:nvPr/>
        </p:nvSpPr>
        <p:spPr>
          <a:xfrm>
            <a:off x="4860345" y="2195509"/>
            <a:ext cx="36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189368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005C4-5E1B-752F-A9DD-20DD6886F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15931C0-1294-29D8-F2B8-D1E13F7E9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46" y="386090"/>
            <a:ext cx="10896600" cy="517065"/>
          </a:xfrm>
        </p:spPr>
        <p:txBody>
          <a:bodyPr/>
          <a:lstStyle/>
          <a:p>
            <a:r>
              <a:rPr lang="en-US" dirty="0"/>
              <a:t>Example: Higher Nuetrophil-CD8 Interaction in NRs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159170-89FC-0EE5-A46E-9EB406427C42}"/>
              </a:ext>
            </a:extLst>
          </p:cNvPr>
          <p:cNvSpPr/>
          <p:nvPr/>
        </p:nvSpPr>
        <p:spPr>
          <a:xfrm>
            <a:off x="1473973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06E2A3-A191-B7AB-5657-98CC77D13CE2}"/>
              </a:ext>
            </a:extLst>
          </p:cNvPr>
          <p:cNvSpPr/>
          <p:nvPr/>
        </p:nvSpPr>
        <p:spPr>
          <a:xfrm>
            <a:off x="6670194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Non-Responder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880C49-75A2-AEA7-5A49-E82526D3E0EC}"/>
              </a:ext>
            </a:extLst>
          </p:cNvPr>
          <p:cNvSpPr/>
          <p:nvPr/>
        </p:nvSpPr>
        <p:spPr>
          <a:xfrm>
            <a:off x="586736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 Composition:</a:t>
            </a:r>
          </a:p>
          <a:p>
            <a:pPr algn="ctr"/>
            <a:r>
              <a:rPr lang="en-US" dirty="0"/>
              <a:t>CD8: 5.63%, PMN: 4.004%, Tumor: 22.1%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B6059E-15AA-CA92-3473-7D48CEC64935}"/>
              </a:ext>
            </a:extLst>
          </p:cNvPr>
          <p:cNvSpPr/>
          <p:nvPr/>
        </p:nvSpPr>
        <p:spPr>
          <a:xfrm>
            <a:off x="5691149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 Composition:</a:t>
            </a:r>
          </a:p>
          <a:p>
            <a:pPr algn="ctr"/>
            <a:r>
              <a:rPr lang="en-US" dirty="0"/>
              <a:t>CD8: 6.14%, PMN: 3.19%, Tumor: 18.8%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362841-8575-2A26-C61F-C445F2FF7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191" y="1902608"/>
            <a:ext cx="3145508" cy="3133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6DC9D9-72B6-AA4F-7EFE-1CD675111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556" y="1902608"/>
            <a:ext cx="3276691" cy="328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911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2ECA7-C7D7-0D51-3F6B-064619EA3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48A74C3-0B1E-012E-5390-FF6D4E632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56183"/>
            <a:ext cx="10896600" cy="517065"/>
          </a:xfrm>
        </p:spPr>
        <p:txBody>
          <a:bodyPr/>
          <a:lstStyle/>
          <a:p>
            <a:r>
              <a:rPr lang="en-US" dirty="0"/>
              <a:t>Example: Higher Nuetrophil-CD8 Interaction in NRs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425BE-2639-F6A0-2BD4-6052837D1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063" y="1832355"/>
            <a:ext cx="4831492" cy="3672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7DF2EC-5DF5-23E2-1919-C4BDE9DD2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320" y="1832355"/>
            <a:ext cx="4831492" cy="37509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FBB6F9C-A419-D879-9E7A-87BD537A271C}"/>
              </a:ext>
            </a:extLst>
          </p:cNvPr>
          <p:cNvSpPr/>
          <p:nvPr/>
        </p:nvSpPr>
        <p:spPr>
          <a:xfrm>
            <a:off x="1260685" y="1374967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22B052-AC40-1996-D82D-C87EBD680993}"/>
              </a:ext>
            </a:extLst>
          </p:cNvPr>
          <p:cNvSpPr/>
          <p:nvPr/>
        </p:nvSpPr>
        <p:spPr>
          <a:xfrm>
            <a:off x="6505438" y="1374968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Non-Responder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6FF952-3E7A-6EDD-F598-9C53C30C80E3}"/>
              </a:ext>
            </a:extLst>
          </p:cNvPr>
          <p:cNvSpPr/>
          <p:nvPr/>
        </p:nvSpPr>
        <p:spPr>
          <a:xfrm>
            <a:off x="428652" y="5583321"/>
            <a:ext cx="3937481" cy="4847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Nuetrophil-CD8+ Neighborhood: 2.78%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9095F0-718C-2CCE-6CF6-6B0615BF324F}"/>
              </a:ext>
            </a:extLst>
          </p:cNvPr>
          <p:cNvSpPr/>
          <p:nvPr/>
        </p:nvSpPr>
        <p:spPr>
          <a:xfrm>
            <a:off x="5666063" y="5610668"/>
            <a:ext cx="4220050" cy="4430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Nuetrophil-CD8+ Neighborhood: 7.017%</a:t>
            </a:r>
          </a:p>
        </p:txBody>
      </p:sp>
    </p:spTree>
    <p:extLst>
      <p:ext uri="{BB962C8B-B14F-4D97-AF65-F5344CB8AC3E}">
        <p14:creationId xmlns:p14="http://schemas.microsoft.com/office/powerpoint/2010/main" val="1911111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29409-9640-CECB-FBD4-3D1EDD32D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896DC-36A0-2189-D952-6A85A676C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41" y="508477"/>
            <a:ext cx="10515718" cy="517065"/>
          </a:xfrm>
        </p:spPr>
        <p:txBody>
          <a:bodyPr/>
          <a:lstStyle/>
          <a:p>
            <a:r>
              <a:rPr lang="en-US" dirty="0"/>
              <a:t>Neutrophils Interact with Tumor Cells More in 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C7E5DC-89D9-6A72-27E7-0714C6861FB4}"/>
              </a:ext>
            </a:extLst>
          </p:cNvPr>
          <p:cNvSpPr txBox="1"/>
          <p:nvPr/>
        </p:nvSpPr>
        <p:spPr>
          <a:xfrm>
            <a:off x="381668" y="5149194"/>
            <a:ext cx="105985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Takeaways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Neutrophils cluster amongst themselves but there is no major difference between responder and non-responders.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Responders have higher neutrophil-tumor interactions (p=0.051) relative to overall frequency.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36200B-978A-94B4-C754-E7A1FB6D1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552" y="1113533"/>
            <a:ext cx="9544120" cy="395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40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C2138-6EA8-21B2-D1CB-037EBD328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A771DEE-2C36-7593-719E-5572B715F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Directions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7B871E-C7ED-B721-BA1F-83EC7DD085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2869503"/>
          </a:xfrm>
        </p:spPr>
        <p:txBody>
          <a:bodyPr/>
          <a:lstStyle/>
          <a:p>
            <a:r>
              <a:rPr lang="en-US" dirty="0"/>
              <a:t>Neutrophil interactions with CD8 and Treg cells were more frequent in non-responders, suggesting neutrophils may limit T-cell recruitment and proliferation. </a:t>
            </a:r>
          </a:p>
          <a:p>
            <a:r>
              <a:rPr lang="en-US" dirty="0"/>
              <a:t>Neutrophil–tumor colocalization was more common in responders, indicating a potential antitumor role despite higher tumor burden in non-responders.</a:t>
            </a:r>
          </a:p>
          <a:p>
            <a:r>
              <a:rPr lang="en-US" dirty="0"/>
              <a:t>Determining the ligand–receptor pairs associated with neutrophil interactions with CD8+, Treg, and tumor cells could generate potential ICB therapy targets</a:t>
            </a:r>
          </a:p>
        </p:txBody>
      </p:sp>
    </p:spTree>
    <p:extLst>
      <p:ext uri="{BB962C8B-B14F-4D97-AF65-F5344CB8AC3E}">
        <p14:creationId xmlns:p14="http://schemas.microsoft.com/office/powerpoint/2010/main" val="2860759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BA793-25FC-CA1D-DC59-97363B79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DEEC2EB-1148-D592-27B8-65A6A79D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7049D7-E47E-0620-A604-15DFC4326F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996240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sz="1400" dirty="0"/>
              <a:t>Sharma P, Goswami S, Raychaudhuri D, Siddiqui BA, Singh P, Nagarajan A, Liu J, Subudhi SK, Poon C, Gant KL, </a:t>
            </a:r>
            <a:r>
              <a:rPr lang="en-US" sz="1400" dirty="0" err="1"/>
              <a:t>Herbrich</a:t>
            </a:r>
            <a:r>
              <a:rPr lang="en-US" sz="1400" dirty="0"/>
              <a:t> SM, Anandhan S, Islam S, Amit M, </a:t>
            </a:r>
            <a:r>
              <a:rPr lang="en-US" sz="1400" dirty="0" err="1"/>
              <a:t>Anandappa</a:t>
            </a:r>
            <a:r>
              <a:rPr lang="en-US" sz="1400" dirty="0"/>
              <a:t> G, Allison JP. Immune checkpoint therapy-current perspectives and future directions. Cell. 2023 Apr 13;186(8):1652-1669. </a:t>
            </a:r>
            <a:r>
              <a:rPr lang="en-US" sz="1400" dirty="0" err="1"/>
              <a:t>doi</a:t>
            </a:r>
            <a:r>
              <a:rPr lang="en-US" sz="1400" dirty="0"/>
              <a:t>: 10.1016/j.cell.2023.03.006. PMID: 37059068.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Hoesseini</a:t>
            </a:r>
            <a:r>
              <a:rPr lang="en-US" sz="1400" dirty="0"/>
              <a:t> A, </a:t>
            </a:r>
            <a:r>
              <a:rPr lang="en-US" sz="1400" dirty="0" err="1"/>
              <a:t>Sewnaik</a:t>
            </a:r>
            <a:r>
              <a:rPr lang="en-US" sz="1400" dirty="0"/>
              <a:t> A, van den </a:t>
            </a:r>
            <a:r>
              <a:rPr lang="en-US" sz="1400" dirty="0" err="1"/>
              <a:t>Besselaar</a:t>
            </a:r>
            <a:r>
              <a:rPr lang="en-US" sz="1400" dirty="0"/>
              <a:t> BN, Zhang J, van Leeuwen N, </a:t>
            </a:r>
            <a:r>
              <a:rPr lang="en-US" sz="1400" dirty="0" err="1"/>
              <a:t>Hardillo</a:t>
            </a:r>
            <a:r>
              <a:rPr lang="en-US" sz="1400" dirty="0"/>
              <a:t> JA, </a:t>
            </a:r>
            <a:r>
              <a:rPr lang="en-US" sz="1400" dirty="0" err="1"/>
              <a:t>Baatenburg</a:t>
            </a:r>
            <a:r>
              <a:rPr lang="en-US" sz="1400" dirty="0"/>
              <a:t> de Jong RJ, Offerman MPJ. Prognostic model for overall survival of head and neck cancer patients in the palliative phase. BMC </a:t>
            </a:r>
            <a:r>
              <a:rPr lang="en-US" sz="1400" dirty="0" err="1"/>
              <a:t>Palliat</a:t>
            </a:r>
            <a:r>
              <a:rPr lang="en-US" sz="1400" dirty="0"/>
              <a:t> Care. 2024 Feb 24;23(1):54. </a:t>
            </a:r>
            <a:r>
              <a:rPr lang="en-US" sz="1400" dirty="0" err="1"/>
              <a:t>doi</a:t>
            </a:r>
            <a:r>
              <a:rPr lang="en-US" sz="1400" dirty="0"/>
              <a:t>: 10.1186/s12904-023-01325-y. PMID: 38395897; PMCID: PMC10893612.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1400" dirty="0" err="1"/>
              <a:t>Veigas</a:t>
            </a:r>
            <a:r>
              <a:rPr lang="en-US" sz="1400" dirty="0"/>
              <a:t>, F.; Mahmoud, Y.D.; Merlo, J.; </a:t>
            </a:r>
            <a:r>
              <a:rPr lang="en-US" sz="1400" dirty="0" err="1"/>
              <a:t>Rinflerch</a:t>
            </a:r>
            <a:r>
              <a:rPr lang="en-US" sz="1400" dirty="0"/>
              <a:t>, A.; Rabinovich, G.A.; Girotti, M.R. Immune Checkpoints Pathways in Head and Neck Squamous Cell </a:t>
            </a:r>
            <a:r>
              <a:rPr lang="en-US" sz="1400" dirty="0" err="1"/>
              <a:t>Carcinoma.Cancers</a:t>
            </a:r>
            <a:r>
              <a:rPr lang="en-US" sz="1400" dirty="0"/>
              <a:t> 2021, 13, 1018. </a:t>
            </a:r>
            <a:r>
              <a:rPr lang="en-US" sz="1400" u="sng" dirty="0">
                <a:hlinkClick r:id="rId3"/>
              </a:rPr>
              <a:t>https://doi.org/10.3390/cancers13051018</a:t>
            </a:r>
            <a:endParaRPr lang="en-US" sz="1400" u="sng" dirty="0"/>
          </a:p>
          <a:p>
            <a:pPr marL="514350" lvl="0" indent="-514350">
              <a:buFont typeface="+mj-lt"/>
              <a:buAutoNum type="arabicPeriod"/>
            </a:pPr>
            <a:r>
              <a:rPr lang="en-US" sz="1400" dirty="0"/>
              <a:t>Meyer MA, Dinh HQ, </a:t>
            </a:r>
            <a:r>
              <a:rPr lang="en-US" sz="1400" dirty="0" err="1"/>
              <a:t>Alimadadi</a:t>
            </a:r>
            <a:r>
              <a:rPr lang="en-US" sz="1400" dirty="0"/>
              <a:t> A, Araujo DJ, Chatterjee N, Gutierrez NA, Zhu YP, Hunter EL, Liang S, </a:t>
            </a:r>
            <a:r>
              <a:rPr lang="en-US" sz="1400" dirty="0" err="1"/>
              <a:t>Seumois</a:t>
            </a:r>
            <a:r>
              <a:rPr lang="en-US" sz="1400" dirty="0"/>
              <a:t> G, </a:t>
            </a:r>
            <a:r>
              <a:rPr lang="en-US" sz="1400" dirty="0" err="1"/>
              <a:t>Kiosses</a:t>
            </a:r>
            <a:r>
              <a:rPr lang="en-US" sz="1400" dirty="0"/>
              <a:t> WB, Catz SD, Vijayanand P, </a:t>
            </a:r>
            <a:r>
              <a:rPr lang="en-US" sz="1400" dirty="0" err="1"/>
              <a:t>Ottensmeier</a:t>
            </a:r>
            <a:r>
              <a:rPr lang="en-US" sz="1400" dirty="0"/>
              <a:t> C, Hedrick CC. Human CD79b+ neutrophils in the blood are associated with early-stage melanoma. </a:t>
            </a:r>
            <a:r>
              <a:rPr lang="en-US" sz="1400" i="1" dirty="0"/>
              <a:t>Front Immunol</a:t>
            </a:r>
            <a:r>
              <a:rPr lang="en-US" sz="1400" dirty="0"/>
              <a:t>. 2023;14:1224045. Doi: 10.3389/fimmu.2023.1224045. </a:t>
            </a:r>
            <a:r>
              <a:rPr lang="en-US" sz="1400" u="sng" dirty="0">
                <a:hlinkClick r:id="rId4"/>
              </a:rPr>
              <a:t>https://doi.org/10.3389/fimmu.2023.1224045</a:t>
            </a:r>
            <a:endParaRPr lang="en-US" sz="1400" u="sng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Oh J, Hoelzl J, Carlson JCT, Bill R, Peterson HM, </a:t>
            </a:r>
            <a:r>
              <a:rPr lang="en-US" sz="1400" dirty="0" err="1"/>
              <a:t>Faquin</a:t>
            </a:r>
            <a:r>
              <a:rPr lang="en-US" sz="1400" dirty="0"/>
              <a:t> WC, Pittet MJ, Pai SI, </a:t>
            </a:r>
            <a:r>
              <a:rPr lang="en-US" sz="1400" dirty="0" err="1"/>
              <a:t>Weissleder</a:t>
            </a:r>
            <a:r>
              <a:rPr lang="en-US" sz="1400" dirty="0"/>
              <a:t> R. Spatial analysis identifies DC niches as predictors of pembrolizumab therapy in head and neck squamous cell cancer. </a:t>
            </a:r>
            <a:r>
              <a:rPr lang="en-US" sz="1400" i="1" dirty="0"/>
              <a:t>Cell Rep Med.</a:t>
            </a:r>
            <a:r>
              <a:rPr lang="en-US" sz="1400" dirty="0"/>
              <a:t> 2025;6(5):102100. doi:10.1016/j.xcrm.2025.102100 PMID:40311615 PMCID:PMC12147904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Golfinos</a:t>
            </a:r>
            <a:r>
              <a:rPr lang="en-US" sz="1400" dirty="0"/>
              <a:t>-Owens AE, Lozar T, Khatri P, Hu R, Harari PM, Lambert PF, Fitzpatrick MB, Dinh HQ. Integrated single-cell and spatial analysis identifies context-dependent myeloid-T cell interactions in head and neck cancer immune checkpoint blockade response. Posted March 30, 2025. Preprint. </a:t>
            </a:r>
            <a:r>
              <a:rPr lang="en-US" sz="1400" dirty="0" err="1"/>
              <a:t>bioRxiv</a:t>
            </a:r>
            <a:r>
              <a:rPr lang="en-US" sz="1400" dirty="0"/>
              <a:t>. doi:10.1101/2025.03.24.644582</a:t>
            </a:r>
          </a:p>
          <a:p>
            <a:pPr marL="514350" indent="-514350">
              <a:buFont typeface="+mj-lt"/>
              <a:buAutoNum type="arabicPeriod"/>
            </a:pPr>
            <a:endParaRPr lang="en-US" sz="1400" dirty="0"/>
          </a:p>
          <a:p>
            <a:pPr marL="514350" lvl="0" indent="-514350">
              <a:buFont typeface="+mj-lt"/>
              <a:buAutoNum type="arabicPeriod"/>
            </a:pPr>
            <a:endParaRPr lang="en-US" sz="1400" dirty="0"/>
          </a:p>
          <a:p>
            <a:pPr marL="514350" indent="-514350">
              <a:buFont typeface="+mj-lt"/>
              <a:buAutoNum type="arabicPeriod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87717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68D8-8AD1-9784-3495-131F3532D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9E8BAA-DDC6-A558-2B72-05FFD31CD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9911F-5A6F-3FF4-C3B0-0ED6ACC4B8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3D8317-DAC7-6B4E-10A5-69C09A9D76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1088" y="1379868"/>
            <a:ext cx="10830910" cy="2894126"/>
          </a:xfrm>
        </p:spPr>
        <p:txBody>
          <a:bodyPr/>
          <a:lstStyle/>
          <a:p>
            <a:pPr marL="0" indent="0">
              <a:buNone/>
            </a:pPr>
            <a:endParaRPr lang="en-US" b="1" u="sng" dirty="0"/>
          </a:p>
          <a:p>
            <a:r>
              <a:rPr lang="en-US" dirty="0"/>
              <a:t>Prof Huy Dinh, PhD</a:t>
            </a:r>
          </a:p>
          <a:p>
            <a:r>
              <a:rPr lang="en-US" dirty="0"/>
              <a:t>Dr. Athena </a:t>
            </a:r>
            <a:r>
              <a:rPr lang="en-US" dirty="0" err="1"/>
              <a:t>Golfinos</a:t>
            </a:r>
            <a:r>
              <a:rPr lang="en-US" dirty="0"/>
              <a:t>-Owens, PhD</a:t>
            </a:r>
          </a:p>
          <a:p>
            <a:r>
              <a:rPr lang="en-US" dirty="0"/>
              <a:t>Parth Khatri </a:t>
            </a:r>
          </a:p>
          <a:p>
            <a:r>
              <a:rPr lang="en-US" dirty="0"/>
              <a:t>Anqi Gao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605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31C99-7466-5707-AAF8-25B3E4A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7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-Madison 2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8DD3CE"/>
      </a:accent2>
      <a:accent3>
        <a:srgbClr val="FCCB51"/>
      </a:accent3>
      <a:accent4>
        <a:srgbClr val="ADADAD"/>
      </a:accent4>
      <a:accent5>
        <a:srgbClr val="006992"/>
      </a:accent5>
      <a:accent6>
        <a:srgbClr val="432E4F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W-Madison-data-RedHat-16_9" id="{39149448-8F7A-FF49-B9B1-924C8F85E517}" vid="{49B34611-19B4-3D48-B648-24C73EA20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UW-Madison-data-RedHat-16_9</Template>
  <TotalTime>28037</TotalTime>
  <Words>1139</Words>
  <Application>Microsoft Office PowerPoint</Application>
  <PresentationFormat>Widescreen</PresentationFormat>
  <Paragraphs>165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Red Hat Display</vt:lpstr>
      <vt:lpstr>Red Hat Text</vt:lpstr>
      <vt:lpstr>Office Theme</vt:lpstr>
      <vt:lpstr>Spatial Omics Analysis of Neutrophil–T Cell Interactions in Head and Neck Squamous Cell Carcinoma</vt:lpstr>
      <vt:lpstr>Background - Immune Checkpoint Blockers (ICBs)</vt:lpstr>
      <vt:lpstr>Background - Neutrophils </vt:lpstr>
      <vt:lpstr>Specific Aims </vt:lpstr>
      <vt:lpstr>Project Data Source- Protein</vt:lpstr>
      <vt:lpstr>Methodology – Neighborhood </vt:lpstr>
      <vt:lpstr>Methodology - Colocalization</vt:lpstr>
      <vt:lpstr>Methodology – Cellular Neighborhood </vt:lpstr>
      <vt:lpstr>Normalized Neutrophil Interaction – All Cell Types</vt:lpstr>
      <vt:lpstr>Neutrophils Interact More With CD8+ and Tregs in NRs</vt:lpstr>
      <vt:lpstr>Example: Higher Nuetrophil-CD8 Interaction in NRs</vt:lpstr>
      <vt:lpstr>Example: Higher Nuetrophil-CD8 Interaction in NRs</vt:lpstr>
      <vt:lpstr>Neutrophils Interact with Tumor Cells More in Rs</vt:lpstr>
      <vt:lpstr>Conclusion &amp; Future Directions </vt:lpstr>
      <vt:lpstr>References </vt:lpstr>
      <vt:lpstr>Acknowledgements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Johns</dc:creator>
  <cp:lastModifiedBy>Evan Johns</cp:lastModifiedBy>
  <cp:revision>30</cp:revision>
  <dcterms:created xsi:type="dcterms:W3CDTF">2025-06-03T19:55:18Z</dcterms:created>
  <dcterms:modified xsi:type="dcterms:W3CDTF">2025-09-10T15:47:25Z</dcterms:modified>
</cp:coreProperties>
</file>